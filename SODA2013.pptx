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pdf" ContentType="application/pd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31" r:id="rId19"/>
    <p:sldId id="332" r:id="rId20"/>
    <p:sldId id="320" r:id="rId21"/>
    <p:sldId id="318" r:id="rId22"/>
    <p:sldId id="321" r:id="rId23"/>
    <p:sldId id="323" r:id="rId24"/>
    <p:sldId id="265" r:id="rId25"/>
    <p:sldId id="325" r:id="rId26"/>
    <p:sldId id="326" r:id="rId27"/>
    <p:sldId id="328" r:id="rId28"/>
    <p:sldId id="334" r:id="rId29"/>
    <p:sldId id="335" r:id="rId30"/>
    <p:sldId id="336" r:id="rId31"/>
    <p:sldId id="337" r:id="rId32"/>
    <p:sldId id="338" r:id="rId33"/>
    <p:sldId id="339" r:id="rId34"/>
    <p:sldId id="285" r:id="rId35"/>
    <p:sldId id="286" r:id="rId36"/>
    <p:sldId id="287" r:id="rId37"/>
    <p:sldId id="288" r:id="rId38"/>
    <p:sldId id="290" r:id="rId39"/>
    <p:sldId id="291" r:id="rId40"/>
    <p:sldId id="292" r:id="rId41"/>
    <p:sldId id="293" r:id="rId42"/>
    <p:sldId id="294" r:id="rId43"/>
    <p:sldId id="296" r:id="rId44"/>
    <p:sldId id="268" r:id="rId45"/>
    <p:sldId id="298" r:id="rId46"/>
    <p:sldId id="269" r:id="rId47"/>
    <p:sldId id="299" r:id="rId48"/>
    <p:sldId id="267" r:id="rId49"/>
    <p:sldId id="300" r:id="rId50"/>
    <p:sldId id="330" r:id="rId51"/>
    <p:sldId id="333" r:id="rId52"/>
    <p:sldId id="329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73" autoAdjust="0"/>
  </p:normalViewPr>
  <p:slideViewPr>
    <p:cSldViewPr>
      <p:cViewPr varScale="1">
        <p:scale>
          <a:sx n="68" d="100"/>
          <a:sy n="68" d="100"/>
        </p:scale>
        <p:origin x="-143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78D6F-7442-4730-95D9-1048373C75DF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CF3D2-E79A-4D67-A21D-0B7D2E1A76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89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52FD75-9C76-41B7-8B7C-8931BDC4F002}" type="slidenum">
              <a:rPr lang="en-US"/>
              <a:pPr/>
              <a:t>1</a:t>
            </a:fld>
            <a:endParaRPr lang="en-US"/>
          </a:p>
        </p:txBody>
      </p:sp>
      <p:sp>
        <p:nvSpPr>
          <p:cNvPr id="135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F6E882-3F0B-4CE2-8686-3E70E4038AFB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A84F72-DE0E-472F-BD4B-0F7D0C401960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E24D83-A6E2-43C4-BDDD-B7A53DEEA3A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11CBD5-538A-4492-94E8-20817AC80469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AEC476-2768-4F04-BA68-4EE407FEFE5B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937B34-39E0-4706-9227-92D9CFA299B2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7B9FF9-6D55-4CCA-85C9-BF503B6309E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B293E7-BFB7-41C1-B7E6-40679B04F69C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BF3CA3-6039-413D-BF14-3785C9CF420B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B1BF4B-C7F8-4F0F-B21B-839AF507B10A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5BB3A7-B970-40ED-9901-C0552C3D92D7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2CDDB8-17B8-4AE8-AFA2-F813FDF206F2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D8956C-D238-49F1-898E-75A5D1C2B547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88A1CE-188F-4C51-9222-7FA2C2518BCF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256D86-26AD-41B5-9440-5B325407626B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FDDF81-DB7E-434A-B716-F5EF71DA9F09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FDDF81-DB7E-434A-B716-F5EF71DA9F09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-More than just</a:t>
            </a:r>
            <a:r>
              <a:rPr lang="en-US" baseline="0" dirty="0" smtClean="0"/>
              <a:t> a (really cool) computer</a:t>
            </a:r>
          </a:p>
          <a:p>
            <a:r>
              <a:rPr lang="en-US" baseline="0" dirty="0" smtClean="0"/>
              <a:t>-Algorithmic manipulation of matter at the </a:t>
            </a:r>
            <a:r>
              <a:rPr lang="en-US" baseline="0" dirty="0" err="1" smtClean="0"/>
              <a:t>nanoscale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099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Construct a sophisticated</a:t>
            </a:r>
            <a:r>
              <a:rPr lang="en-US" baseline="0" dirty="0" smtClean="0"/>
              <a:t> circuit layout programmed with rule 110?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78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eaLnBrk="1" hangingPunct="1"/>
            <a:fld id="{A0C6895C-DDDC-45A8-BC68-AA083A84DF46}" type="slidenum">
              <a:rPr lang="en-US" smtClean="0">
                <a:solidFill>
                  <a:schemeClr val="tx1"/>
                </a:solidFill>
                <a:latin typeface="Arial" charset="0"/>
              </a:rPr>
              <a:pPr eaLnBrk="1" hangingPunct="1"/>
              <a:t>21</a:t>
            </a:fld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pPr eaLnBrk="1" hangingPunct="1"/>
            <a:fld id="{A0C6895C-DDDC-45A8-BC68-AA083A84DF46}" type="slidenum">
              <a:rPr lang="en-US" smtClean="0">
                <a:solidFill>
                  <a:schemeClr val="tx1"/>
                </a:solidFill>
                <a:latin typeface="Arial" charset="0"/>
              </a:rPr>
              <a:pPr eaLnBrk="1" hangingPunct="1"/>
              <a:t>22</a:t>
            </a:fld>
            <a:endParaRPr lang="en-US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with negative glues, need a good simple example system…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might</a:t>
            </a:r>
            <a:r>
              <a:rPr lang="en-US" baseline="0" dirty="0" smtClean="0"/>
              <a:t> seem that negative glues just make things not grow as big and could be replicated with weaker positive glues….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with negative glues, need a good simple example system…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 with negative glues, need a good simple example system…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CF3D2-E79A-4D67-A21D-0B7D2E1A76A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df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6.pdf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7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9.bin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8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8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3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20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oleObject" Target="../embeddings/oleObject29.bin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2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4.bin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31.bin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3.bin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3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oleObject" Target="../embeddings/oleObject40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3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39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42.bin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7.bin"/><Relationship Id="rId14" Type="http://schemas.openxmlformats.org/officeDocument/2006/relationships/oleObject" Target="../embeddings/oleObject4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oleObject" Target="../embeddings/oleObject51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5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48.bin"/><Relationship Id="rId14" Type="http://schemas.openxmlformats.org/officeDocument/2006/relationships/oleObject" Target="../embeddings/oleObject5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oleObject" Target="../embeddings/oleObject62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65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7.bin"/><Relationship Id="rId11" Type="http://schemas.openxmlformats.org/officeDocument/2006/relationships/oleObject" Target="../embeddings/oleObject61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64.bin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6.bin"/><Relationship Id="rId9" Type="http://schemas.openxmlformats.org/officeDocument/2006/relationships/oleObject" Target="../embeddings/oleObject59.bin"/><Relationship Id="rId14" Type="http://schemas.openxmlformats.org/officeDocument/2006/relationships/oleObject" Target="../embeddings/oleObject6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oleObject" Target="../embeddings/oleObject73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6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8.bin"/><Relationship Id="rId11" Type="http://schemas.openxmlformats.org/officeDocument/2006/relationships/oleObject" Target="../embeddings/oleObject72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75.bin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7.bin"/><Relationship Id="rId9" Type="http://schemas.openxmlformats.org/officeDocument/2006/relationships/oleObject" Target="../embeddings/oleObject70.bin"/><Relationship Id="rId14" Type="http://schemas.openxmlformats.org/officeDocument/2006/relationships/oleObject" Target="../embeddings/oleObject7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oleObject" Target="../embeddings/oleObject84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8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87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9.bin"/><Relationship Id="rId11" Type="http://schemas.openxmlformats.org/officeDocument/2006/relationships/oleObject" Target="../embeddings/oleObject83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86.bin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8.bin"/><Relationship Id="rId9" Type="http://schemas.openxmlformats.org/officeDocument/2006/relationships/oleObject" Target="../embeddings/oleObject81.bin"/><Relationship Id="rId14" Type="http://schemas.openxmlformats.org/officeDocument/2006/relationships/oleObject" Target="../embeddings/oleObject8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oleObject" Target="../embeddings/oleObject95.bin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5.wmf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98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0.bin"/><Relationship Id="rId11" Type="http://schemas.openxmlformats.org/officeDocument/2006/relationships/oleObject" Target="../embeddings/oleObject94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97.bin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89.bin"/><Relationship Id="rId9" Type="http://schemas.openxmlformats.org/officeDocument/2006/relationships/oleObject" Target="../embeddings/oleObject92.bin"/><Relationship Id="rId14" Type="http://schemas.openxmlformats.org/officeDocument/2006/relationships/oleObject" Target="../embeddings/oleObject96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102.bin"/><Relationship Id="rId12" Type="http://schemas.openxmlformats.org/officeDocument/2006/relationships/oleObject" Target="../embeddings/oleObject106.bin"/><Relationship Id="rId17" Type="http://schemas.openxmlformats.org/officeDocument/2006/relationships/oleObject" Target="../embeddings/oleObject110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0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5" Type="http://schemas.openxmlformats.org/officeDocument/2006/relationships/oleObject" Target="../embeddings/oleObject108.bin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0.bin"/><Relationship Id="rId9" Type="http://schemas.openxmlformats.org/officeDocument/2006/relationships/oleObject" Target="../embeddings/oleObject104.bin"/><Relationship Id="rId14" Type="http://schemas.openxmlformats.org/officeDocument/2006/relationships/oleObject" Target="../embeddings/oleObject107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30.bin"/><Relationship Id="rId3" Type="http://schemas.openxmlformats.org/officeDocument/2006/relationships/notesSlide" Target="../notesSlides/notesSlide37.xml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3.bin"/><Relationship Id="rId12" Type="http://schemas.openxmlformats.org/officeDocument/2006/relationships/oleObject" Target="../embeddings/oleObject117.bin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9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4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28.bin"/><Relationship Id="rId5" Type="http://schemas.openxmlformats.org/officeDocument/2006/relationships/image" Target="../media/image6.wmf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7.bin"/><Relationship Id="rId28" Type="http://schemas.openxmlformats.org/officeDocument/2006/relationships/oleObject" Target="../embeddings/oleObject132.bin"/><Relationship Id="rId10" Type="http://schemas.openxmlformats.org/officeDocument/2006/relationships/oleObject" Target="../embeddings/oleObject116.bin"/><Relationship Id="rId19" Type="http://schemas.openxmlformats.org/officeDocument/2006/relationships/oleObject" Target="../embeddings/oleObject123.bin"/><Relationship Id="rId4" Type="http://schemas.openxmlformats.org/officeDocument/2006/relationships/oleObject" Target="../embeddings/oleObject111.bin"/><Relationship Id="rId9" Type="http://schemas.openxmlformats.org/officeDocument/2006/relationships/oleObject" Target="../embeddings/oleObject115.bin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6.bin"/><Relationship Id="rId27" Type="http://schemas.openxmlformats.org/officeDocument/2006/relationships/oleObject" Target="../embeddings/oleObject131.bin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144.bin"/><Relationship Id="rId26" Type="http://schemas.openxmlformats.org/officeDocument/2006/relationships/oleObject" Target="../embeddings/oleObject152.bin"/><Relationship Id="rId39" Type="http://schemas.openxmlformats.org/officeDocument/2006/relationships/oleObject" Target="../embeddings/oleObject165.bin"/><Relationship Id="rId3" Type="http://schemas.openxmlformats.org/officeDocument/2006/relationships/notesSlide" Target="../notesSlides/notesSlide38.xml"/><Relationship Id="rId21" Type="http://schemas.openxmlformats.org/officeDocument/2006/relationships/oleObject" Target="../embeddings/oleObject147.bin"/><Relationship Id="rId34" Type="http://schemas.openxmlformats.org/officeDocument/2006/relationships/oleObject" Target="../embeddings/oleObject160.bin"/><Relationship Id="rId42" Type="http://schemas.openxmlformats.org/officeDocument/2006/relationships/oleObject" Target="../embeddings/oleObject168.bin"/><Relationship Id="rId47" Type="http://schemas.openxmlformats.org/officeDocument/2006/relationships/oleObject" Target="../embeddings/oleObject173.bin"/><Relationship Id="rId50" Type="http://schemas.openxmlformats.org/officeDocument/2006/relationships/oleObject" Target="../embeddings/oleObject176.bin"/><Relationship Id="rId7" Type="http://schemas.openxmlformats.org/officeDocument/2006/relationships/oleObject" Target="../embeddings/oleObject135.bin"/><Relationship Id="rId12" Type="http://schemas.openxmlformats.org/officeDocument/2006/relationships/oleObject" Target="../embeddings/oleObject139.bin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51.bin"/><Relationship Id="rId33" Type="http://schemas.openxmlformats.org/officeDocument/2006/relationships/oleObject" Target="../embeddings/oleObject159.bin"/><Relationship Id="rId38" Type="http://schemas.openxmlformats.org/officeDocument/2006/relationships/oleObject" Target="../embeddings/oleObject164.bin"/><Relationship Id="rId46" Type="http://schemas.openxmlformats.org/officeDocument/2006/relationships/oleObject" Target="../embeddings/oleObject172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42.bin"/><Relationship Id="rId20" Type="http://schemas.openxmlformats.org/officeDocument/2006/relationships/oleObject" Target="../embeddings/oleObject146.bin"/><Relationship Id="rId29" Type="http://schemas.openxmlformats.org/officeDocument/2006/relationships/oleObject" Target="../embeddings/oleObject155.bin"/><Relationship Id="rId41" Type="http://schemas.openxmlformats.org/officeDocument/2006/relationships/oleObject" Target="../embeddings/oleObject167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50.bin"/><Relationship Id="rId32" Type="http://schemas.openxmlformats.org/officeDocument/2006/relationships/oleObject" Target="../embeddings/oleObject158.bin"/><Relationship Id="rId37" Type="http://schemas.openxmlformats.org/officeDocument/2006/relationships/oleObject" Target="../embeddings/oleObject163.bin"/><Relationship Id="rId40" Type="http://schemas.openxmlformats.org/officeDocument/2006/relationships/oleObject" Target="../embeddings/oleObject166.bin"/><Relationship Id="rId45" Type="http://schemas.openxmlformats.org/officeDocument/2006/relationships/oleObject" Target="../embeddings/oleObject171.bin"/><Relationship Id="rId5" Type="http://schemas.openxmlformats.org/officeDocument/2006/relationships/image" Target="../media/image6.wmf"/><Relationship Id="rId15" Type="http://schemas.openxmlformats.org/officeDocument/2006/relationships/oleObject" Target="../embeddings/oleObject141.bin"/><Relationship Id="rId23" Type="http://schemas.openxmlformats.org/officeDocument/2006/relationships/oleObject" Target="../embeddings/oleObject149.bin"/><Relationship Id="rId28" Type="http://schemas.openxmlformats.org/officeDocument/2006/relationships/oleObject" Target="../embeddings/oleObject154.bin"/><Relationship Id="rId36" Type="http://schemas.openxmlformats.org/officeDocument/2006/relationships/oleObject" Target="../embeddings/oleObject162.bin"/><Relationship Id="rId49" Type="http://schemas.openxmlformats.org/officeDocument/2006/relationships/oleObject" Target="../embeddings/oleObject175.bin"/><Relationship Id="rId10" Type="http://schemas.openxmlformats.org/officeDocument/2006/relationships/oleObject" Target="../embeddings/oleObject138.bin"/><Relationship Id="rId19" Type="http://schemas.openxmlformats.org/officeDocument/2006/relationships/oleObject" Target="../embeddings/oleObject145.bin"/><Relationship Id="rId31" Type="http://schemas.openxmlformats.org/officeDocument/2006/relationships/oleObject" Target="../embeddings/oleObject157.bin"/><Relationship Id="rId44" Type="http://schemas.openxmlformats.org/officeDocument/2006/relationships/oleObject" Target="../embeddings/oleObject170.bin"/><Relationship Id="rId4" Type="http://schemas.openxmlformats.org/officeDocument/2006/relationships/oleObject" Target="../embeddings/oleObject133.bin"/><Relationship Id="rId9" Type="http://schemas.openxmlformats.org/officeDocument/2006/relationships/oleObject" Target="../embeddings/oleObject137.bin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8.bin"/><Relationship Id="rId27" Type="http://schemas.openxmlformats.org/officeDocument/2006/relationships/oleObject" Target="../embeddings/oleObject153.bin"/><Relationship Id="rId30" Type="http://schemas.openxmlformats.org/officeDocument/2006/relationships/oleObject" Target="../embeddings/oleObject156.bin"/><Relationship Id="rId35" Type="http://schemas.openxmlformats.org/officeDocument/2006/relationships/oleObject" Target="../embeddings/oleObject161.bin"/><Relationship Id="rId43" Type="http://schemas.openxmlformats.org/officeDocument/2006/relationships/oleObject" Target="../embeddings/oleObject169.bin"/><Relationship Id="rId48" Type="http://schemas.openxmlformats.org/officeDocument/2006/relationships/oleObject" Target="../embeddings/oleObject174.bin"/><Relationship Id="rId8" Type="http://schemas.openxmlformats.org/officeDocument/2006/relationships/oleObject" Target="../embeddings/oleObject136.bin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188.bin"/><Relationship Id="rId26" Type="http://schemas.openxmlformats.org/officeDocument/2006/relationships/oleObject" Target="../embeddings/oleObject196.bin"/><Relationship Id="rId39" Type="http://schemas.openxmlformats.org/officeDocument/2006/relationships/oleObject" Target="../embeddings/oleObject209.bin"/><Relationship Id="rId3" Type="http://schemas.openxmlformats.org/officeDocument/2006/relationships/notesSlide" Target="../notesSlides/notesSlide39.xml"/><Relationship Id="rId21" Type="http://schemas.openxmlformats.org/officeDocument/2006/relationships/oleObject" Target="../embeddings/oleObject191.bin"/><Relationship Id="rId34" Type="http://schemas.openxmlformats.org/officeDocument/2006/relationships/oleObject" Target="../embeddings/oleObject204.bin"/><Relationship Id="rId42" Type="http://schemas.openxmlformats.org/officeDocument/2006/relationships/oleObject" Target="../embeddings/oleObject212.bin"/><Relationship Id="rId47" Type="http://schemas.openxmlformats.org/officeDocument/2006/relationships/oleObject" Target="../embeddings/oleObject217.bin"/><Relationship Id="rId50" Type="http://schemas.openxmlformats.org/officeDocument/2006/relationships/oleObject" Target="../embeddings/oleObject220.bin"/><Relationship Id="rId7" Type="http://schemas.openxmlformats.org/officeDocument/2006/relationships/oleObject" Target="../embeddings/oleObject179.bin"/><Relationship Id="rId12" Type="http://schemas.openxmlformats.org/officeDocument/2006/relationships/oleObject" Target="../embeddings/oleObject183.bin"/><Relationship Id="rId17" Type="http://schemas.openxmlformats.org/officeDocument/2006/relationships/oleObject" Target="../embeddings/oleObject187.bin"/><Relationship Id="rId25" Type="http://schemas.openxmlformats.org/officeDocument/2006/relationships/oleObject" Target="../embeddings/oleObject195.bin"/><Relationship Id="rId33" Type="http://schemas.openxmlformats.org/officeDocument/2006/relationships/oleObject" Target="../embeddings/oleObject203.bin"/><Relationship Id="rId38" Type="http://schemas.openxmlformats.org/officeDocument/2006/relationships/oleObject" Target="../embeddings/oleObject208.bin"/><Relationship Id="rId46" Type="http://schemas.openxmlformats.org/officeDocument/2006/relationships/oleObject" Target="../embeddings/oleObject216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90.bin"/><Relationship Id="rId29" Type="http://schemas.openxmlformats.org/officeDocument/2006/relationships/oleObject" Target="../embeddings/oleObject199.bin"/><Relationship Id="rId41" Type="http://schemas.openxmlformats.org/officeDocument/2006/relationships/oleObject" Target="../embeddings/oleObject211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94.bin"/><Relationship Id="rId32" Type="http://schemas.openxmlformats.org/officeDocument/2006/relationships/oleObject" Target="../embeddings/oleObject202.bin"/><Relationship Id="rId37" Type="http://schemas.openxmlformats.org/officeDocument/2006/relationships/oleObject" Target="../embeddings/oleObject207.bin"/><Relationship Id="rId40" Type="http://schemas.openxmlformats.org/officeDocument/2006/relationships/oleObject" Target="../embeddings/oleObject210.bin"/><Relationship Id="rId45" Type="http://schemas.openxmlformats.org/officeDocument/2006/relationships/oleObject" Target="../embeddings/oleObject215.bin"/><Relationship Id="rId5" Type="http://schemas.openxmlformats.org/officeDocument/2006/relationships/image" Target="../media/image6.wmf"/><Relationship Id="rId15" Type="http://schemas.openxmlformats.org/officeDocument/2006/relationships/oleObject" Target="../embeddings/oleObject185.bin"/><Relationship Id="rId23" Type="http://schemas.openxmlformats.org/officeDocument/2006/relationships/oleObject" Target="../embeddings/oleObject193.bin"/><Relationship Id="rId28" Type="http://schemas.openxmlformats.org/officeDocument/2006/relationships/oleObject" Target="../embeddings/oleObject198.bin"/><Relationship Id="rId36" Type="http://schemas.openxmlformats.org/officeDocument/2006/relationships/oleObject" Target="../embeddings/oleObject206.bin"/><Relationship Id="rId49" Type="http://schemas.openxmlformats.org/officeDocument/2006/relationships/oleObject" Target="../embeddings/oleObject219.bin"/><Relationship Id="rId10" Type="http://schemas.openxmlformats.org/officeDocument/2006/relationships/oleObject" Target="../embeddings/oleObject182.bin"/><Relationship Id="rId19" Type="http://schemas.openxmlformats.org/officeDocument/2006/relationships/oleObject" Target="../embeddings/oleObject189.bin"/><Relationship Id="rId31" Type="http://schemas.openxmlformats.org/officeDocument/2006/relationships/oleObject" Target="../embeddings/oleObject201.bin"/><Relationship Id="rId44" Type="http://schemas.openxmlformats.org/officeDocument/2006/relationships/oleObject" Target="../embeddings/oleObject214.bin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81.bin"/><Relationship Id="rId14" Type="http://schemas.openxmlformats.org/officeDocument/2006/relationships/oleObject" Target="../embeddings/oleObject184.bin"/><Relationship Id="rId22" Type="http://schemas.openxmlformats.org/officeDocument/2006/relationships/oleObject" Target="../embeddings/oleObject192.bin"/><Relationship Id="rId27" Type="http://schemas.openxmlformats.org/officeDocument/2006/relationships/oleObject" Target="../embeddings/oleObject197.bin"/><Relationship Id="rId30" Type="http://schemas.openxmlformats.org/officeDocument/2006/relationships/oleObject" Target="../embeddings/oleObject200.bin"/><Relationship Id="rId35" Type="http://schemas.openxmlformats.org/officeDocument/2006/relationships/oleObject" Target="../embeddings/oleObject205.bin"/><Relationship Id="rId43" Type="http://schemas.openxmlformats.org/officeDocument/2006/relationships/oleObject" Target="../embeddings/oleObject213.bin"/><Relationship Id="rId48" Type="http://schemas.openxmlformats.org/officeDocument/2006/relationships/oleObject" Target="../embeddings/oleObject218.bin"/><Relationship Id="rId8" Type="http://schemas.openxmlformats.org/officeDocument/2006/relationships/oleObject" Target="../embeddings/oleObject18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oleObject" Target="../embeddings/oleObject229.bin"/><Relationship Id="rId3" Type="http://schemas.openxmlformats.org/officeDocument/2006/relationships/notesSlide" Target="../notesSlides/notesSlide40.xml"/><Relationship Id="rId7" Type="http://schemas.openxmlformats.org/officeDocument/2006/relationships/oleObject" Target="../embeddings/oleObject223.bin"/><Relationship Id="rId12" Type="http://schemas.openxmlformats.org/officeDocument/2006/relationships/oleObject" Target="../embeddings/oleObject22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22.bin"/><Relationship Id="rId11" Type="http://schemas.openxmlformats.org/officeDocument/2006/relationships/oleObject" Target="../embeddings/oleObject227.bin"/><Relationship Id="rId5" Type="http://schemas.openxmlformats.org/officeDocument/2006/relationships/image" Target="../media/image6.wmf"/><Relationship Id="rId10" Type="http://schemas.openxmlformats.org/officeDocument/2006/relationships/oleObject" Target="../embeddings/oleObject226.bin"/><Relationship Id="rId4" Type="http://schemas.openxmlformats.org/officeDocument/2006/relationships/oleObject" Target="../embeddings/oleObject221.bin"/><Relationship Id="rId9" Type="http://schemas.openxmlformats.org/officeDocument/2006/relationships/oleObject" Target="../embeddings/oleObject225.bin"/><Relationship Id="rId14" Type="http://schemas.openxmlformats.org/officeDocument/2006/relationships/oleObject" Target="../embeddings/oleObject230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6E7D6-2451-4D0D-9E34-F02CEA2134B3}" type="slidenum">
              <a:rPr lang="en-US"/>
              <a:pPr/>
              <a:t>1</a:t>
            </a:fld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781300" y="1905000"/>
            <a:ext cx="3695700" cy="2406650"/>
            <a:chOff x="3168" y="1392"/>
            <a:chExt cx="2328" cy="1516"/>
          </a:xfrm>
        </p:grpSpPr>
        <p:sp>
          <p:nvSpPr>
            <p:cNvPr id="1356804" name="Rectangle 4"/>
            <p:cNvSpPr>
              <a:spLocks noChangeArrowheads="1"/>
            </p:cNvSpPr>
            <p:nvPr/>
          </p:nvSpPr>
          <p:spPr bwMode="auto">
            <a:xfrm>
              <a:off x="4656" y="2592"/>
              <a:ext cx="263" cy="2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05" name="Rectangle 5"/>
            <p:cNvSpPr>
              <a:spLocks noChangeArrowheads="1"/>
            </p:cNvSpPr>
            <p:nvPr/>
          </p:nvSpPr>
          <p:spPr bwMode="auto">
            <a:xfrm>
              <a:off x="4883" y="2629"/>
              <a:ext cx="36" cy="19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06" name="Rectangle 6"/>
            <p:cNvSpPr>
              <a:spLocks noChangeArrowheads="1"/>
            </p:cNvSpPr>
            <p:nvPr/>
          </p:nvSpPr>
          <p:spPr bwMode="auto">
            <a:xfrm>
              <a:off x="4656" y="2629"/>
              <a:ext cx="36" cy="1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07" name="Rectangle 7"/>
            <p:cNvSpPr>
              <a:spLocks noChangeArrowheads="1"/>
            </p:cNvSpPr>
            <p:nvPr/>
          </p:nvSpPr>
          <p:spPr bwMode="auto">
            <a:xfrm rot="-5400000">
              <a:off x="4769" y="2515"/>
              <a:ext cx="37" cy="191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08" name="Rectangle 8"/>
            <p:cNvSpPr>
              <a:spLocks noChangeArrowheads="1"/>
            </p:cNvSpPr>
            <p:nvPr/>
          </p:nvSpPr>
          <p:spPr bwMode="auto">
            <a:xfrm rot="-5400000">
              <a:off x="4769" y="2748"/>
              <a:ext cx="37" cy="191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09" name="Rectangle 9"/>
            <p:cNvSpPr>
              <a:spLocks noChangeArrowheads="1"/>
            </p:cNvSpPr>
            <p:nvPr/>
          </p:nvSpPr>
          <p:spPr bwMode="auto">
            <a:xfrm>
              <a:off x="4872" y="1392"/>
              <a:ext cx="264" cy="2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10" name="Rectangle 10"/>
            <p:cNvSpPr>
              <a:spLocks noChangeArrowheads="1"/>
            </p:cNvSpPr>
            <p:nvPr/>
          </p:nvSpPr>
          <p:spPr bwMode="auto">
            <a:xfrm>
              <a:off x="5101" y="1429"/>
              <a:ext cx="35" cy="19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1" name="Rectangle 11"/>
            <p:cNvSpPr>
              <a:spLocks noChangeArrowheads="1"/>
            </p:cNvSpPr>
            <p:nvPr/>
          </p:nvSpPr>
          <p:spPr bwMode="auto">
            <a:xfrm>
              <a:off x="4872" y="1429"/>
              <a:ext cx="35" cy="19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2" name="Rectangle 12"/>
            <p:cNvSpPr>
              <a:spLocks noChangeArrowheads="1"/>
            </p:cNvSpPr>
            <p:nvPr/>
          </p:nvSpPr>
          <p:spPr bwMode="auto">
            <a:xfrm rot="-5400000">
              <a:off x="4985" y="1314"/>
              <a:ext cx="37" cy="1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3" name="Rectangle 13"/>
            <p:cNvSpPr>
              <a:spLocks noChangeArrowheads="1"/>
            </p:cNvSpPr>
            <p:nvPr/>
          </p:nvSpPr>
          <p:spPr bwMode="auto">
            <a:xfrm rot="-5400000">
              <a:off x="4985" y="1547"/>
              <a:ext cx="37" cy="194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4" name="Rectangle 14"/>
            <p:cNvSpPr>
              <a:spLocks noChangeArrowheads="1"/>
            </p:cNvSpPr>
            <p:nvPr/>
          </p:nvSpPr>
          <p:spPr bwMode="auto">
            <a:xfrm>
              <a:off x="4156" y="1802"/>
              <a:ext cx="264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15" name="Rectangle 15"/>
            <p:cNvSpPr>
              <a:spLocks noChangeArrowheads="1"/>
            </p:cNvSpPr>
            <p:nvPr/>
          </p:nvSpPr>
          <p:spPr bwMode="auto">
            <a:xfrm>
              <a:off x="4383" y="1838"/>
              <a:ext cx="37" cy="195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6" name="Rectangle 16"/>
            <p:cNvSpPr>
              <a:spLocks noChangeArrowheads="1"/>
            </p:cNvSpPr>
            <p:nvPr/>
          </p:nvSpPr>
          <p:spPr bwMode="auto">
            <a:xfrm>
              <a:off x="4156" y="1838"/>
              <a:ext cx="35" cy="195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7" name="Rectangle 17"/>
            <p:cNvSpPr>
              <a:spLocks noChangeArrowheads="1"/>
            </p:cNvSpPr>
            <p:nvPr/>
          </p:nvSpPr>
          <p:spPr bwMode="auto">
            <a:xfrm rot="-5400000">
              <a:off x="4269" y="1724"/>
              <a:ext cx="36" cy="192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8" name="Rectangle 18"/>
            <p:cNvSpPr>
              <a:spLocks noChangeArrowheads="1"/>
            </p:cNvSpPr>
            <p:nvPr/>
          </p:nvSpPr>
          <p:spPr bwMode="auto">
            <a:xfrm rot="-5400000">
              <a:off x="4268" y="1956"/>
              <a:ext cx="37" cy="192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19" name="Rectangle 19"/>
            <p:cNvSpPr>
              <a:spLocks noChangeArrowheads="1"/>
            </p:cNvSpPr>
            <p:nvPr/>
          </p:nvSpPr>
          <p:spPr bwMode="auto">
            <a:xfrm>
              <a:off x="4150" y="2400"/>
              <a:ext cx="264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20" name="Rectangle 20"/>
            <p:cNvSpPr>
              <a:spLocks noChangeArrowheads="1"/>
            </p:cNvSpPr>
            <p:nvPr/>
          </p:nvSpPr>
          <p:spPr bwMode="auto">
            <a:xfrm>
              <a:off x="4379" y="2437"/>
              <a:ext cx="35" cy="194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1" name="Rectangle 21"/>
            <p:cNvSpPr>
              <a:spLocks noChangeArrowheads="1"/>
            </p:cNvSpPr>
            <p:nvPr/>
          </p:nvSpPr>
          <p:spPr bwMode="auto">
            <a:xfrm>
              <a:off x="4150" y="2437"/>
              <a:ext cx="36" cy="19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2" name="Rectangle 22"/>
            <p:cNvSpPr>
              <a:spLocks noChangeArrowheads="1"/>
            </p:cNvSpPr>
            <p:nvPr/>
          </p:nvSpPr>
          <p:spPr bwMode="auto">
            <a:xfrm rot="-5400000">
              <a:off x="4264" y="2322"/>
              <a:ext cx="37" cy="19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3" name="Rectangle 23"/>
            <p:cNvSpPr>
              <a:spLocks noChangeArrowheads="1"/>
            </p:cNvSpPr>
            <p:nvPr/>
          </p:nvSpPr>
          <p:spPr bwMode="auto">
            <a:xfrm rot="-5400000">
              <a:off x="4264" y="2553"/>
              <a:ext cx="37" cy="193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4" name="Rectangle 24"/>
            <p:cNvSpPr>
              <a:spLocks noChangeArrowheads="1"/>
            </p:cNvSpPr>
            <p:nvPr/>
          </p:nvSpPr>
          <p:spPr bwMode="auto">
            <a:xfrm>
              <a:off x="4427" y="2090"/>
              <a:ext cx="264" cy="2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25" name="Rectangle 25"/>
            <p:cNvSpPr>
              <a:spLocks noChangeArrowheads="1"/>
            </p:cNvSpPr>
            <p:nvPr/>
          </p:nvSpPr>
          <p:spPr bwMode="auto">
            <a:xfrm>
              <a:off x="4656" y="2127"/>
              <a:ext cx="35" cy="19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6" name="Rectangle 26"/>
            <p:cNvSpPr>
              <a:spLocks noChangeArrowheads="1"/>
            </p:cNvSpPr>
            <p:nvPr/>
          </p:nvSpPr>
          <p:spPr bwMode="auto">
            <a:xfrm>
              <a:off x="4427" y="2127"/>
              <a:ext cx="36" cy="1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7" name="Rectangle 27"/>
            <p:cNvSpPr>
              <a:spLocks noChangeArrowheads="1"/>
            </p:cNvSpPr>
            <p:nvPr/>
          </p:nvSpPr>
          <p:spPr bwMode="auto">
            <a:xfrm rot="-5400000">
              <a:off x="4541" y="2012"/>
              <a:ext cx="37" cy="193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8" name="Rectangle 28"/>
            <p:cNvSpPr>
              <a:spLocks noChangeArrowheads="1"/>
            </p:cNvSpPr>
            <p:nvPr/>
          </p:nvSpPr>
          <p:spPr bwMode="auto">
            <a:xfrm rot="-5400000">
              <a:off x="4541" y="2245"/>
              <a:ext cx="37" cy="193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29" name="Rectangle 29"/>
            <p:cNvSpPr>
              <a:spLocks noChangeArrowheads="1"/>
            </p:cNvSpPr>
            <p:nvPr/>
          </p:nvSpPr>
          <p:spPr bwMode="auto">
            <a:xfrm>
              <a:off x="3875" y="2086"/>
              <a:ext cx="264" cy="26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30" name="Rectangle 30"/>
            <p:cNvSpPr>
              <a:spLocks noChangeArrowheads="1"/>
            </p:cNvSpPr>
            <p:nvPr/>
          </p:nvSpPr>
          <p:spPr bwMode="auto">
            <a:xfrm>
              <a:off x="4104" y="2121"/>
              <a:ext cx="35" cy="199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1" name="Rectangle 31"/>
            <p:cNvSpPr>
              <a:spLocks noChangeArrowheads="1"/>
            </p:cNvSpPr>
            <p:nvPr/>
          </p:nvSpPr>
          <p:spPr bwMode="auto">
            <a:xfrm>
              <a:off x="3875" y="2121"/>
              <a:ext cx="35" cy="199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2" name="Rectangle 32"/>
            <p:cNvSpPr>
              <a:spLocks noChangeArrowheads="1"/>
            </p:cNvSpPr>
            <p:nvPr/>
          </p:nvSpPr>
          <p:spPr bwMode="auto">
            <a:xfrm rot="-5400000">
              <a:off x="3989" y="2007"/>
              <a:ext cx="35" cy="1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3" name="Rectangle 33"/>
            <p:cNvSpPr>
              <a:spLocks noChangeArrowheads="1"/>
            </p:cNvSpPr>
            <p:nvPr/>
          </p:nvSpPr>
          <p:spPr bwMode="auto">
            <a:xfrm rot="-5400000">
              <a:off x="3989" y="2241"/>
              <a:ext cx="35" cy="194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4" name="Rectangle 34"/>
            <p:cNvSpPr>
              <a:spLocks noChangeArrowheads="1"/>
            </p:cNvSpPr>
            <p:nvPr/>
          </p:nvSpPr>
          <p:spPr bwMode="auto">
            <a:xfrm>
              <a:off x="4152" y="2094"/>
              <a:ext cx="264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35" name="Rectangle 35"/>
            <p:cNvSpPr>
              <a:spLocks noChangeArrowheads="1"/>
            </p:cNvSpPr>
            <p:nvPr/>
          </p:nvSpPr>
          <p:spPr bwMode="auto">
            <a:xfrm>
              <a:off x="4381" y="2131"/>
              <a:ext cx="35" cy="194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6" name="Rectangle 36"/>
            <p:cNvSpPr>
              <a:spLocks noChangeArrowheads="1"/>
            </p:cNvSpPr>
            <p:nvPr/>
          </p:nvSpPr>
          <p:spPr bwMode="auto">
            <a:xfrm>
              <a:off x="4152" y="2131"/>
              <a:ext cx="35" cy="19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7" name="Rectangle 37"/>
            <p:cNvSpPr>
              <a:spLocks noChangeArrowheads="1"/>
            </p:cNvSpPr>
            <p:nvPr/>
          </p:nvSpPr>
          <p:spPr bwMode="auto">
            <a:xfrm rot="-5400000">
              <a:off x="4265" y="2016"/>
              <a:ext cx="37" cy="194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8" name="Rectangle 38"/>
            <p:cNvSpPr>
              <a:spLocks noChangeArrowheads="1"/>
            </p:cNvSpPr>
            <p:nvPr/>
          </p:nvSpPr>
          <p:spPr bwMode="auto">
            <a:xfrm rot="-5400000">
              <a:off x="4265" y="2247"/>
              <a:ext cx="37" cy="19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39" name="Rectangle 39"/>
            <p:cNvSpPr>
              <a:spLocks noChangeArrowheads="1"/>
            </p:cNvSpPr>
            <p:nvPr/>
          </p:nvSpPr>
          <p:spPr bwMode="auto">
            <a:xfrm>
              <a:off x="3552" y="2640"/>
              <a:ext cx="264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40" name="Rectangle 40"/>
            <p:cNvSpPr>
              <a:spLocks noChangeArrowheads="1"/>
            </p:cNvSpPr>
            <p:nvPr/>
          </p:nvSpPr>
          <p:spPr bwMode="auto">
            <a:xfrm>
              <a:off x="3779" y="2677"/>
              <a:ext cx="37" cy="19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1" name="Rectangle 41"/>
            <p:cNvSpPr>
              <a:spLocks noChangeArrowheads="1"/>
            </p:cNvSpPr>
            <p:nvPr/>
          </p:nvSpPr>
          <p:spPr bwMode="auto">
            <a:xfrm>
              <a:off x="3552" y="2677"/>
              <a:ext cx="35" cy="1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2" name="Rectangle 42"/>
            <p:cNvSpPr>
              <a:spLocks noChangeArrowheads="1"/>
            </p:cNvSpPr>
            <p:nvPr/>
          </p:nvSpPr>
          <p:spPr bwMode="auto">
            <a:xfrm rot="-5400000">
              <a:off x="3664" y="2563"/>
              <a:ext cx="37" cy="192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3" name="Rectangle 43"/>
            <p:cNvSpPr>
              <a:spLocks noChangeArrowheads="1"/>
            </p:cNvSpPr>
            <p:nvPr/>
          </p:nvSpPr>
          <p:spPr bwMode="auto">
            <a:xfrm rot="-5400000">
              <a:off x="3664" y="2794"/>
              <a:ext cx="37" cy="19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4" name="Rectangle 44"/>
            <p:cNvSpPr>
              <a:spLocks noChangeArrowheads="1"/>
            </p:cNvSpPr>
            <p:nvPr/>
          </p:nvSpPr>
          <p:spPr bwMode="auto">
            <a:xfrm>
              <a:off x="3879" y="1800"/>
              <a:ext cx="262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45" name="Rectangle 45"/>
            <p:cNvSpPr>
              <a:spLocks noChangeArrowheads="1"/>
            </p:cNvSpPr>
            <p:nvPr/>
          </p:nvSpPr>
          <p:spPr bwMode="auto">
            <a:xfrm>
              <a:off x="4106" y="1837"/>
              <a:ext cx="35" cy="19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6" name="Rectangle 46"/>
            <p:cNvSpPr>
              <a:spLocks noChangeArrowheads="1"/>
            </p:cNvSpPr>
            <p:nvPr/>
          </p:nvSpPr>
          <p:spPr bwMode="auto">
            <a:xfrm>
              <a:off x="3879" y="1837"/>
              <a:ext cx="35" cy="19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7" name="Rectangle 47"/>
            <p:cNvSpPr>
              <a:spLocks noChangeArrowheads="1"/>
            </p:cNvSpPr>
            <p:nvPr/>
          </p:nvSpPr>
          <p:spPr bwMode="auto">
            <a:xfrm rot="-5400000">
              <a:off x="3991" y="1723"/>
              <a:ext cx="37" cy="19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8" name="Rectangle 48"/>
            <p:cNvSpPr>
              <a:spLocks noChangeArrowheads="1"/>
            </p:cNvSpPr>
            <p:nvPr/>
          </p:nvSpPr>
          <p:spPr bwMode="auto">
            <a:xfrm rot="-5400000">
              <a:off x="3991" y="1954"/>
              <a:ext cx="37" cy="19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49" name="Line 49"/>
            <p:cNvSpPr>
              <a:spLocks noChangeShapeType="1"/>
            </p:cNvSpPr>
            <p:nvPr/>
          </p:nvSpPr>
          <p:spPr bwMode="auto">
            <a:xfrm flipH="1">
              <a:off x="4509" y="1750"/>
              <a:ext cx="274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6850" name="Line 50"/>
            <p:cNvSpPr>
              <a:spLocks noChangeShapeType="1"/>
            </p:cNvSpPr>
            <p:nvPr/>
          </p:nvSpPr>
          <p:spPr bwMode="auto">
            <a:xfrm flipV="1">
              <a:off x="3840" y="2448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6851" name="Line 51"/>
            <p:cNvSpPr>
              <a:spLocks noChangeShapeType="1"/>
            </p:cNvSpPr>
            <p:nvPr/>
          </p:nvSpPr>
          <p:spPr bwMode="auto">
            <a:xfrm flipH="1" flipV="1">
              <a:off x="4512" y="244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6852" name="Rectangle 52"/>
            <p:cNvSpPr>
              <a:spLocks noChangeArrowheads="1"/>
            </p:cNvSpPr>
            <p:nvPr/>
          </p:nvSpPr>
          <p:spPr bwMode="auto">
            <a:xfrm>
              <a:off x="3168" y="1824"/>
              <a:ext cx="264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53" name="Rectangle 53"/>
            <p:cNvSpPr>
              <a:spLocks noChangeArrowheads="1"/>
            </p:cNvSpPr>
            <p:nvPr/>
          </p:nvSpPr>
          <p:spPr bwMode="auto">
            <a:xfrm>
              <a:off x="3395" y="1861"/>
              <a:ext cx="37" cy="19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54" name="Rectangle 54"/>
            <p:cNvSpPr>
              <a:spLocks noChangeArrowheads="1"/>
            </p:cNvSpPr>
            <p:nvPr/>
          </p:nvSpPr>
          <p:spPr bwMode="auto">
            <a:xfrm>
              <a:off x="3168" y="1861"/>
              <a:ext cx="35" cy="194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55" name="Rectangle 55"/>
            <p:cNvSpPr>
              <a:spLocks noChangeArrowheads="1"/>
            </p:cNvSpPr>
            <p:nvPr/>
          </p:nvSpPr>
          <p:spPr bwMode="auto">
            <a:xfrm rot="-5400000">
              <a:off x="3280" y="1747"/>
              <a:ext cx="37" cy="192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56" name="Rectangle 56"/>
            <p:cNvSpPr>
              <a:spLocks noChangeArrowheads="1"/>
            </p:cNvSpPr>
            <p:nvPr/>
          </p:nvSpPr>
          <p:spPr bwMode="auto">
            <a:xfrm rot="-5400000">
              <a:off x="3280" y="1978"/>
              <a:ext cx="37" cy="19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57" name="Rectangle 57"/>
            <p:cNvSpPr>
              <a:spLocks noChangeArrowheads="1"/>
            </p:cNvSpPr>
            <p:nvPr/>
          </p:nvSpPr>
          <p:spPr bwMode="auto">
            <a:xfrm>
              <a:off x="5232" y="1968"/>
              <a:ext cx="264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600" dirty="0"/>
            </a:p>
          </p:txBody>
        </p:sp>
        <p:sp>
          <p:nvSpPr>
            <p:cNvPr id="1356858" name="Rectangle 58"/>
            <p:cNvSpPr>
              <a:spLocks noChangeArrowheads="1"/>
            </p:cNvSpPr>
            <p:nvPr/>
          </p:nvSpPr>
          <p:spPr bwMode="auto">
            <a:xfrm>
              <a:off x="5459" y="2005"/>
              <a:ext cx="37" cy="194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59" name="Rectangle 59"/>
            <p:cNvSpPr>
              <a:spLocks noChangeArrowheads="1"/>
            </p:cNvSpPr>
            <p:nvPr/>
          </p:nvSpPr>
          <p:spPr bwMode="auto">
            <a:xfrm>
              <a:off x="5232" y="2005"/>
              <a:ext cx="35" cy="19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60" name="Rectangle 60"/>
            <p:cNvSpPr>
              <a:spLocks noChangeArrowheads="1"/>
            </p:cNvSpPr>
            <p:nvPr/>
          </p:nvSpPr>
          <p:spPr bwMode="auto">
            <a:xfrm rot="-5400000">
              <a:off x="5344" y="1891"/>
              <a:ext cx="37" cy="192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56861" name="Rectangle 61"/>
            <p:cNvSpPr>
              <a:spLocks noChangeArrowheads="1"/>
            </p:cNvSpPr>
            <p:nvPr/>
          </p:nvSpPr>
          <p:spPr bwMode="auto">
            <a:xfrm rot="-5400000">
              <a:off x="5344" y="2122"/>
              <a:ext cx="37" cy="19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356862" name="Text Box 62"/>
          <p:cNvSpPr txBox="1">
            <a:spLocks noChangeArrowheads="1"/>
          </p:cNvSpPr>
          <p:nvPr/>
        </p:nvSpPr>
        <p:spPr bwMode="auto">
          <a:xfrm>
            <a:off x="0" y="838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0" dirty="0" smtClean="0">
                <a:solidFill>
                  <a:schemeClr val="tx2"/>
                </a:solidFill>
              </a:rPr>
              <a:t>Proceedings of the 24</a:t>
            </a:r>
            <a:r>
              <a:rPr lang="en-US" b="0" baseline="30000" dirty="0" smtClean="0">
                <a:solidFill>
                  <a:schemeClr val="tx2"/>
                </a:solidFill>
              </a:rPr>
              <a:t>th</a:t>
            </a:r>
            <a:r>
              <a:rPr lang="en-US" b="0" dirty="0" smtClean="0">
                <a:solidFill>
                  <a:schemeClr val="tx2"/>
                </a:solidFill>
              </a:rPr>
              <a:t> Annual ACM-SIAM Symposium on Discrete Algorithms</a:t>
            </a:r>
            <a:endParaRPr lang="en-US" b="0" dirty="0">
              <a:solidFill>
                <a:schemeClr val="tx2"/>
              </a:solidFill>
            </a:endParaRPr>
          </a:p>
          <a:p>
            <a:pPr algn="ctr"/>
            <a:r>
              <a:rPr lang="en-US" sz="2400" b="0" dirty="0" smtClean="0">
                <a:solidFill>
                  <a:schemeClr val="tx2"/>
                </a:solidFill>
              </a:rPr>
              <a:t>January, 2013</a:t>
            </a:r>
            <a:endParaRPr lang="en-US" sz="2400" b="0" dirty="0">
              <a:solidFill>
                <a:schemeClr val="tx2"/>
              </a:solidFill>
            </a:endParaRPr>
          </a:p>
        </p:txBody>
      </p:sp>
      <p:sp>
        <p:nvSpPr>
          <p:cNvPr id="1356863" name="Rectangle 63"/>
          <p:cNvSpPr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>
                <a:solidFill>
                  <a:schemeClr val="tx2"/>
                </a:solidFill>
              </a:rPr>
              <a:t/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Fuel Efficient Computation in Passive Self-Assembly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56867" name="Rectangle 67"/>
          <p:cNvSpPr>
            <a:spLocks noChangeArrowheads="1"/>
          </p:cNvSpPr>
          <p:nvPr/>
        </p:nvSpPr>
        <p:spPr bwMode="auto">
          <a:xfrm>
            <a:off x="533400" y="5334000"/>
            <a:ext cx="7620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990033"/>
                </a:solidFill>
              </a:rPr>
              <a:t>Robert </a:t>
            </a:r>
            <a:r>
              <a:rPr lang="en-US" sz="2400" b="1" dirty="0" err="1">
                <a:solidFill>
                  <a:srgbClr val="990033"/>
                </a:solidFill>
              </a:rPr>
              <a:t>Schweller</a:t>
            </a:r>
            <a:r>
              <a:rPr lang="en-US" sz="2400" dirty="0">
                <a:solidFill>
                  <a:schemeClr val="accent2"/>
                </a:solidFill>
              </a:rPr>
              <a:t>	</a:t>
            </a:r>
            <a:r>
              <a:rPr lang="en-US" sz="2400" dirty="0"/>
              <a:t>University of Texas </a:t>
            </a:r>
            <a:r>
              <a:rPr lang="en-US" sz="2400" dirty="0" smtClean="0"/>
              <a:t>Pan-American</a:t>
            </a:r>
            <a:endParaRPr lang="en-US" sz="2400" dirty="0"/>
          </a:p>
          <a:p>
            <a:r>
              <a:rPr lang="en-US" sz="2400" b="1" dirty="0" smtClean="0">
                <a:solidFill>
                  <a:srgbClr val="990033"/>
                </a:solidFill>
              </a:rPr>
              <a:t>Michael Sherman</a:t>
            </a:r>
            <a:r>
              <a:rPr lang="en-US" sz="2400" dirty="0">
                <a:solidFill>
                  <a:schemeClr val="accent2"/>
                </a:solidFill>
              </a:rPr>
              <a:t>	</a:t>
            </a:r>
            <a:r>
              <a:rPr lang="en-US" sz="2400" dirty="0" smtClean="0"/>
              <a:t>University of Texas Pan-American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F5B34-12E5-48F8-97E3-49D238A74B28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  <p:sp>
        <p:nvSpPr>
          <p:cNvPr id="5126" name="Text Box 7"/>
          <p:cNvSpPr txBox="1">
            <a:spLocks noChangeArrowheads="1"/>
          </p:cNvSpPr>
          <p:nvPr/>
        </p:nvSpPr>
        <p:spPr bwMode="auto">
          <a:xfrm>
            <a:off x="914400" y="3352800"/>
            <a:ext cx="1368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0000"/>
                </a:solidFill>
              </a:rPr>
              <a:t>Tile Set:</a:t>
            </a:r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5029200" y="1371600"/>
            <a:ext cx="15700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CC0000"/>
                </a:solidFill>
              </a:rPr>
              <a:t>Glue </a:t>
            </a:r>
          </a:p>
          <a:p>
            <a:r>
              <a:rPr lang="en-US" sz="2400">
                <a:solidFill>
                  <a:srgbClr val="CC0000"/>
                </a:solidFill>
              </a:rPr>
              <a:t>Function:</a:t>
            </a:r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>
            <a:off x="1752600" y="2971800"/>
            <a:ext cx="3048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0" name="Line 12"/>
          <p:cNvSpPr>
            <a:spLocks noChangeShapeType="1"/>
          </p:cNvSpPr>
          <p:nvPr/>
        </p:nvSpPr>
        <p:spPr bwMode="auto">
          <a:xfrm flipV="1">
            <a:off x="1981200" y="2971800"/>
            <a:ext cx="1143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1" name="Line 14"/>
          <p:cNvSpPr>
            <a:spLocks noChangeShapeType="1"/>
          </p:cNvSpPr>
          <p:nvPr/>
        </p:nvSpPr>
        <p:spPr bwMode="auto">
          <a:xfrm>
            <a:off x="1752600" y="27432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2" name="Line 15"/>
          <p:cNvSpPr>
            <a:spLocks noChangeShapeType="1"/>
          </p:cNvSpPr>
          <p:nvPr/>
        </p:nvSpPr>
        <p:spPr bwMode="auto">
          <a:xfrm>
            <a:off x="4800600" y="27432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7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5136" name="AutoShape 16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Rectangle 18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Rectangle 19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Rectangle 20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Rectangle 21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Rectangle 22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Rectangle 23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5143" name="Rectangle 24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Rectangle 25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Rectangle 26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6" name="Rectangle 27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5147" name="Rectangle 28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Rectangle 29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Rectangle 30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Rectangle 31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Rectangle 32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5152" name="Rectangle 33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3" name="Rectangle 34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4" name="Rectangle 35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5" name="Rectangle 36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5156" name="Rectangle 37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7" name="Rectangle 38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Rectangle 39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9" name="Rectangle 40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0" name="Rectangle 41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5161" name="Rectangle 42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Rectangle 43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Rectangle 44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Rectangle 45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5134" name="Line 46"/>
          <p:cNvSpPr>
            <a:spLocks noChangeShapeType="1"/>
          </p:cNvSpPr>
          <p:nvPr/>
        </p:nvSpPr>
        <p:spPr bwMode="auto">
          <a:xfrm flipV="1">
            <a:off x="6553200" y="1219200"/>
            <a:ext cx="0" cy="2209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5" name="Line 47"/>
          <p:cNvSpPr>
            <a:spLocks noChangeShapeType="1"/>
          </p:cNvSpPr>
          <p:nvPr/>
        </p:nvSpPr>
        <p:spPr bwMode="auto">
          <a:xfrm>
            <a:off x="5715000" y="2133600"/>
            <a:ext cx="8382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6B776-C463-493F-8FC6-C4013A3D02BE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6149" name="Rectangle 13"/>
          <p:cNvSpPr>
            <a:spLocks noChangeArrowheads="1"/>
          </p:cNvSpPr>
          <p:nvPr/>
        </p:nvSpPr>
        <p:spPr bwMode="auto">
          <a:xfrm>
            <a:off x="838200" y="45847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0" name="Rectangle 14"/>
          <p:cNvSpPr>
            <a:spLocks noChangeArrowheads="1"/>
          </p:cNvSpPr>
          <p:nvPr/>
        </p:nvSpPr>
        <p:spPr bwMode="auto">
          <a:xfrm>
            <a:off x="1485900" y="46736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927100" y="52451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2" name="Rectangle 23"/>
          <p:cNvSpPr>
            <a:spLocks noChangeArrowheads="1"/>
          </p:cNvSpPr>
          <p:nvPr/>
        </p:nvSpPr>
        <p:spPr bwMode="auto">
          <a:xfrm>
            <a:off x="927100" y="4584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3" name="Rectangle 24"/>
          <p:cNvSpPr>
            <a:spLocks noChangeArrowheads="1"/>
          </p:cNvSpPr>
          <p:nvPr/>
        </p:nvSpPr>
        <p:spPr bwMode="auto">
          <a:xfrm>
            <a:off x="838200" y="34417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4" name="Rectangle 25"/>
          <p:cNvSpPr>
            <a:spLocks noChangeArrowheads="1"/>
          </p:cNvSpPr>
          <p:nvPr/>
        </p:nvSpPr>
        <p:spPr bwMode="auto">
          <a:xfrm>
            <a:off x="1485900" y="35433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5" name="Rectangle 26"/>
          <p:cNvSpPr>
            <a:spLocks noChangeArrowheads="1"/>
          </p:cNvSpPr>
          <p:nvPr/>
        </p:nvSpPr>
        <p:spPr bwMode="auto">
          <a:xfrm>
            <a:off x="927100" y="41021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130300" y="48006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6157" name="Rectangle 30"/>
          <p:cNvSpPr>
            <a:spLocks noChangeArrowheads="1"/>
          </p:cNvSpPr>
          <p:nvPr/>
        </p:nvSpPr>
        <p:spPr bwMode="auto">
          <a:xfrm>
            <a:off x="1130300" y="36703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58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6164" name="AutoShape 57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Rectangle 59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Rectangle 60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Rectangle 61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Rectangle 62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Rectangle 63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Rectangle 64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6171" name="Rectangle 65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Rectangle 66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3" name="Rectangle 67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4" name="Rectangle 68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6175" name="Rectangle 69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6" name="Rectangle 70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7" name="Rectangle 71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8" name="Rectangle 72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9" name="Rectangle 73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6180" name="Rectangle 74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1" name="Rectangle 75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2" name="Rectangle 76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3" name="Rectangle 77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6184" name="Rectangle 78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5" name="Rectangle 79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6" name="Rectangle 80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Rectangle 81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8" name="Rectangle 82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6189" name="Rectangle 83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0" name="Rectangle 84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Rectangle 85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Rectangle 86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6159" name="Line 87"/>
          <p:cNvSpPr>
            <a:spLocks noChangeShapeType="1"/>
          </p:cNvSpPr>
          <p:nvPr/>
        </p:nvSpPr>
        <p:spPr bwMode="auto">
          <a:xfrm>
            <a:off x="1219200" y="4216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60" name="Line 88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1" name="Oval 89"/>
          <p:cNvSpPr>
            <a:spLocks noChangeArrowheads="1"/>
          </p:cNvSpPr>
          <p:nvPr/>
        </p:nvSpPr>
        <p:spPr bwMode="auto">
          <a:xfrm>
            <a:off x="2819400" y="19050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2" name="Oval 92"/>
          <p:cNvSpPr>
            <a:spLocks noChangeArrowheads="1"/>
          </p:cNvSpPr>
          <p:nvPr/>
        </p:nvSpPr>
        <p:spPr bwMode="auto">
          <a:xfrm>
            <a:off x="3810000" y="18288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Text Box 93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1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D23CE5-2CAA-41EE-8836-7087C3E26561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7187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7194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6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7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7198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9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2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7203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4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5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6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7207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8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9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0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1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7212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3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4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7183" name="Line 45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Oval 46"/>
          <p:cNvSpPr>
            <a:spLocks noChangeArrowheads="1"/>
          </p:cNvSpPr>
          <p:nvPr/>
        </p:nvSpPr>
        <p:spPr bwMode="auto">
          <a:xfrm>
            <a:off x="2819400" y="19050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Oval 47"/>
          <p:cNvSpPr>
            <a:spLocks noChangeArrowheads="1"/>
          </p:cNvSpPr>
          <p:nvPr/>
        </p:nvSpPr>
        <p:spPr bwMode="auto">
          <a:xfrm>
            <a:off x="3810000" y="18288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6" name="Text Box 48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0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ED4540-A727-44E4-8DEF-543C378BB237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8221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8228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8232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8237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8241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2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8246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8207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Oval 45"/>
          <p:cNvSpPr>
            <a:spLocks noChangeArrowheads="1"/>
          </p:cNvSpPr>
          <p:nvPr/>
        </p:nvSpPr>
        <p:spPr bwMode="auto">
          <a:xfrm>
            <a:off x="2819400" y="9144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9" name="Oval 46"/>
          <p:cNvSpPr>
            <a:spLocks noChangeArrowheads="1"/>
          </p:cNvSpPr>
          <p:nvPr/>
        </p:nvSpPr>
        <p:spPr bwMode="auto">
          <a:xfrm>
            <a:off x="3810000" y="9144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0" name="Rectangle 51"/>
          <p:cNvSpPr>
            <a:spLocks noChangeArrowheads="1"/>
          </p:cNvSpPr>
          <p:nvPr/>
        </p:nvSpPr>
        <p:spPr bwMode="auto">
          <a:xfrm>
            <a:off x="19050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Rectangle 52"/>
          <p:cNvSpPr>
            <a:spLocks noChangeArrowheads="1"/>
          </p:cNvSpPr>
          <p:nvPr/>
        </p:nvSpPr>
        <p:spPr bwMode="auto">
          <a:xfrm>
            <a:off x="1905000" y="57277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2" name="Rectangle 53"/>
          <p:cNvSpPr>
            <a:spLocks noChangeArrowheads="1"/>
          </p:cNvSpPr>
          <p:nvPr/>
        </p:nvSpPr>
        <p:spPr bwMode="auto">
          <a:xfrm>
            <a:off x="1993900" y="56388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3" name="Rectangle 54"/>
          <p:cNvSpPr>
            <a:spLocks noChangeArrowheads="1"/>
          </p:cNvSpPr>
          <p:nvPr/>
        </p:nvSpPr>
        <p:spPr bwMode="auto">
          <a:xfrm>
            <a:off x="25654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4" name="Rectangle 55"/>
          <p:cNvSpPr>
            <a:spLocks noChangeArrowheads="1"/>
          </p:cNvSpPr>
          <p:nvPr/>
        </p:nvSpPr>
        <p:spPr bwMode="auto">
          <a:xfrm>
            <a:off x="31369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5" name="Rectangle 56"/>
          <p:cNvSpPr>
            <a:spLocks noChangeArrowheads="1"/>
          </p:cNvSpPr>
          <p:nvPr/>
        </p:nvSpPr>
        <p:spPr bwMode="auto">
          <a:xfrm>
            <a:off x="31369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6" name="Rectangle 57"/>
          <p:cNvSpPr>
            <a:spLocks noChangeArrowheads="1"/>
          </p:cNvSpPr>
          <p:nvPr/>
        </p:nvSpPr>
        <p:spPr bwMode="auto">
          <a:xfrm>
            <a:off x="3225800" y="56388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7" name="Rectangle 58"/>
          <p:cNvSpPr>
            <a:spLocks noChangeArrowheads="1"/>
          </p:cNvSpPr>
          <p:nvPr/>
        </p:nvSpPr>
        <p:spPr bwMode="auto">
          <a:xfrm>
            <a:off x="2209800" y="58547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8218" name="Rectangle 59"/>
          <p:cNvSpPr>
            <a:spLocks noChangeArrowheads="1"/>
          </p:cNvSpPr>
          <p:nvPr/>
        </p:nvSpPr>
        <p:spPr bwMode="auto">
          <a:xfrm>
            <a:off x="3429000" y="58547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8219" name="Line 60"/>
          <p:cNvSpPr>
            <a:spLocks noChangeShapeType="1"/>
          </p:cNvSpPr>
          <p:nvPr/>
        </p:nvSpPr>
        <p:spPr bwMode="auto">
          <a:xfrm flipH="1">
            <a:off x="2667000" y="60198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0" name="Text Box 61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8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6CE7CB-474B-4D9C-A05C-DDD0A8AFF978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9244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9251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9255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9260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3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9264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8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9269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0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1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2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9231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2" name="Oval 45"/>
          <p:cNvSpPr>
            <a:spLocks noChangeArrowheads="1"/>
          </p:cNvSpPr>
          <p:nvPr/>
        </p:nvSpPr>
        <p:spPr bwMode="auto">
          <a:xfrm>
            <a:off x="2819400" y="9144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Oval 46"/>
          <p:cNvSpPr>
            <a:spLocks noChangeArrowheads="1"/>
          </p:cNvSpPr>
          <p:nvPr/>
        </p:nvSpPr>
        <p:spPr bwMode="auto">
          <a:xfrm>
            <a:off x="3810000" y="9144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47"/>
          <p:cNvSpPr>
            <a:spLocks noChangeArrowheads="1"/>
          </p:cNvSpPr>
          <p:nvPr/>
        </p:nvSpPr>
        <p:spPr bwMode="auto">
          <a:xfrm>
            <a:off x="23749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5" name="Rectangle 48"/>
          <p:cNvSpPr>
            <a:spLocks noChangeArrowheads="1"/>
          </p:cNvSpPr>
          <p:nvPr/>
        </p:nvSpPr>
        <p:spPr bwMode="auto">
          <a:xfrm>
            <a:off x="2374900" y="57277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6" name="Rectangle 49"/>
          <p:cNvSpPr>
            <a:spLocks noChangeArrowheads="1"/>
          </p:cNvSpPr>
          <p:nvPr/>
        </p:nvSpPr>
        <p:spPr bwMode="auto">
          <a:xfrm>
            <a:off x="2463800" y="56388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7" name="Rectangle 50"/>
          <p:cNvSpPr>
            <a:spLocks noChangeArrowheads="1"/>
          </p:cNvSpPr>
          <p:nvPr/>
        </p:nvSpPr>
        <p:spPr bwMode="auto">
          <a:xfrm>
            <a:off x="30353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8" name="Rectangle 51"/>
          <p:cNvSpPr>
            <a:spLocks noChangeArrowheads="1"/>
          </p:cNvSpPr>
          <p:nvPr/>
        </p:nvSpPr>
        <p:spPr bwMode="auto">
          <a:xfrm>
            <a:off x="31369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9" name="Rectangle 52"/>
          <p:cNvSpPr>
            <a:spLocks noChangeArrowheads="1"/>
          </p:cNvSpPr>
          <p:nvPr/>
        </p:nvSpPr>
        <p:spPr bwMode="auto">
          <a:xfrm>
            <a:off x="31369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0" name="Rectangle 53"/>
          <p:cNvSpPr>
            <a:spLocks noChangeArrowheads="1"/>
          </p:cNvSpPr>
          <p:nvPr/>
        </p:nvSpPr>
        <p:spPr bwMode="auto">
          <a:xfrm>
            <a:off x="3225800" y="56388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1" name="Rectangle 54"/>
          <p:cNvSpPr>
            <a:spLocks noChangeArrowheads="1"/>
          </p:cNvSpPr>
          <p:nvPr/>
        </p:nvSpPr>
        <p:spPr bwMode="auto">
          <a:xfrm>
            <a:off x="2679700" y="58547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9242" name="Rectangle 55"/>
          <p:cNvSpPr>
            <a:spLocks noChangeArrowheads="1"/>
          </p:cNvSpPr>
          <p:nvPr/>
        </p:nvSpPr>
        <p:spPr bwMode="auto">
          <a:xfrm>
            <a:off x="3429000" y="58547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9243" name="Text Box 57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1F2FE-84C2-4D1B-B9A6-45C3298025FA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0268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0275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0279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0284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0288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0293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0255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6" name="Oval 45"/>
          <p:cNvSpPr>
            <a:spLocks noChangeArrowheads="1"/>
          </p:cNvSpPr>
          <p:nvPr/>
        </p:nvSpPr>
        <p:spPr bwMode="auto">
          <a:xfrm>
            <a:off x="1752600" y="914400"/>
            <a:ext cx="9144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Oval 46"/>
          <p:cNvSpPr>
            <a:spLocks noChangeArrowheads="1"/>
          </p:cNvSpPr>
          <p:nvPr/>
        </p:nvSpPr>
        <p:spPr bwMode="auto">
          <a:xfrm>
            <a:off x="1981200" y="5562600"/>
            <a:ext cx="22860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47"/>
          <p:cNvSpPr>
            <a:spLocks noChangeArrowheads="1"/>
          </p:cNvSpPr>
          <p:nvPr/>
        </p:nvSpPr>
        <p:spPr bwMode="auto">
          <a:xfrm>
            <a:off x="23749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9" name="Rectangle 48"/>
          <p:cNvSpPr>
            <a:spLocks noChangeArrowheads="1"/>
          </p:cNvSpPr>
          <p:nvPr/>
        </p:nvSpPr>
        <p:spPr bwMode="auto">
          <a:xfrm>
            <a:off x="2374900" y="57277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0" name="Rectangle 49"/>
          <p:cNvSpPr>
            <a:spLocks noChangeArrowheads="1"/>
          </p:cNvSpPr>
          <p:nvPr/>
        </p:nvSpPr>
        <p:spPr bwMode="auto">
          <a:xfrm>
            <a:off x="2463800" y="56388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1" name="Rectangle 50"/>
          <p:cNvSpPr>
            <a:spLocks noChangeArrowheads="1"/>
          </p:cNvSpPr>
          <p:nvPr/>
        </p:nvSpPr>
        <p:spPr bwMode="auto">
          <a:xfrm>
            <a:off x="30353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2" name="Rectangle 51"/>
          <p:cNvSpPr>
            <a:spLocks noChangeArrowheads="1"/>
          </p:cNvSpPr>
          <p:nvPr/>
        </p:nvSpPr>
        <p:spPr bwMode="auto">
          <a:xfrm>
            <a:off x="31369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3" name="Rectangle 52"/>
          <p:cNvSpPr>
            <a:spLocks noChangeArrowheads="1"/>
          </p:cNvSpPr>
          <p:nvPr/>
        </p:nvSpPr>
        <p:spPr bwMode="auto">
          <a:xfrm>
            <a:off x="31369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4" name="Rectangle 53"/>
          <p:cNvSpPr>
            <a:spLocks noChangeArrowheads="1"/>
          </p:cNvSpPr>
          <p:nvPr/>
        </p:nvSpPr>
        <p:spPr bwMode="auto">
          <a:xfrm>
            <a:off x="3225800" y="56388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5" name="Rectangle 54"/>
          <p:cNvSpPr>
            <a:spLocks noChangeArrowheads="1"/>
          </p:cNvSpPr>
          <p:nvPr/>
        </p:nvSpPr>
        <p:spPr bwMode="auto">
          <a:xfrm>
            <a:off x="2679700" y="58547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0266" name="Rectangle 55"/>
          <p:cNvSpPr>
            <a:spLocks noChangeArrowheads="1"/>
          </p:cNvSpPr>
          <p:nvPr/>
        </p:nvSpPr>
        <p:spPr bwMode="auto">
          <a:xfrm>
            <a:off x="3429000" y="58547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0267" name="Text Box 61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B9F468-6C9F-45B5-873D-127BAF3BE35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1295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1302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1306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1311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1315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1320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1279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0" name="Rectangle 47"/>
          <p:cNvSpPr>
            <a:spLocks noChangeArrowheads="1"/>
          </p:cNvSpPr>
          <p:nvPr/>
        </p:nvSpPr>
        <p:spPr bwMode="auto">
          <a:xfrm>
            <a:off x="25273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1" name="Rectangle 48"/>
          <p:cNvSpPr>
            <a:spLocks noChangeArrowheads="1"/>
          </p:cNvSpPr>
          <p:nvPr/>
        </p:nvSpPr>
        <p:spPr bwMode="auto">
          <a:xfrm>
            <a:off x="2527300" y="57277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2" name="Rectangle 49"/>
          <p:cNvSpPr>
            <a:spLocks noChangeArrowheads="1"/>
          </p:cNvSpPr>
          <p:nvPr/>
        </p:nvSpPr>
        <p:spPr bwMode="auto">
          <a:xfrm>
            <a:off x="2616200" y="56388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3" name="Rectangle 50"/>
          <p:cNvSpPr>
            <a:spLocks noChangeArrowheads="1"/>
          </p:cNvSpPr>
          <p:nvPr/>
        </p:nvSpPr>
        <p:spPr bwMode="auto">
          <a:xfrm>
            <a:off x="31877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4" name="Rectangle 51"/>
          <p:cNvSpPr>
            <a:spLocks noChangeArrowheads="1"/>
          </p:cNvSpPr>
          <p:nvPr/>
        </p:nvSpPr>
        <p:spPr bwMode="auto">
          <a:xfrm>
            <a:off x="3289300" y="56388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5" name="Rectangle 52"/>
          <p:cNvSpPr>
            <a:spLocks noChangeArrowheads="1"/>
          </p:cNvSpPr>
          <p:nvPr/>
        </p:nvSpPr>
        <p:spPr bwMode="auto">
          <a:xfrm>
            <a:off x="3289300" y="57277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6" name="Rectangle 53"/>
          <p:cNvSpPr>
            <a:spLocks noChangeArrowheads="1"/>
          </p:cNvSpPr>
          <p:nvPr/>
        </p:nvSpPr>
        <p:spPr bwMode="auto">
          <a:xfrm>
            <a:off x="3378200" y="56388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7" name="Rectangle 54"/>
          <p:cNvSpPr>
            <a:spLocks noChangeArrowheads="1"/>
          </p:cNvSpPr>
          <p:nvPr/>
        </p:nvSpPr>
        <p:spPr bwMode="auto">
          <a:xfrm>
            <a:off x="2832100" y="58547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1288" name="Rectangle 55"/>
          <p:cNvSpPr>
            <a:spLocks noChangeArrowheads="1"/>
          </p:cNvSpPr>
          <p:nvPr/>
        </p:nvSpPr>
        <p:spPr bwMode="auto">
          <a:xfrm>
            <a:off x="3581400" y="58547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1289" name="Rectangle 56"/>
          <p:cNvSpPr>
            <a:spLocks noChangeArrowheads="1"/>
          </p:cNvSpPr>
          <p:nvPr/>
        </p:nvSpPr>
        <p:spPr bwMode="auto">
          <a:xfrm>
            <a:off x="1295400" y="56388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0" name="Rectangle 57"/>
          <p:cNvSpPr>
            <a:spLocks noChangeArrowheads="1"/>
          </p:cNvSpPr>
          <p:nvPr/>
        </p:nvSpPr>
        <p:spPr bwMode="auto">
          <a:xfrm>
            <a:off x="1384300" y="56388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1" name="Rectangle 58"/>
          <p:cNvSpPr>
            <a:spLocks noChangeArrowheads="1"/>
          </p:cNvSpPr>
          <p:nvPr/>
        </p:nvSpPr>
        <p:spPr bwMode="auto">
          <a:xfrm>
            <a:off x="1943100" y="57277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2" name="Rectangle 59"/>
          <p:cNvSpPr>
            <a:spLocks noChangeArrowheads="1"/>
          </p:cNvSpPr>
          <p:nvPr/>
        </p:nvSpPr>
        <p:spPr bwMode="auto">
          <a:xfrm>
            <a:off x="1562100" y="58547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a</a:t>
            </a:r>
            <a:endParaRPr lang="en-US"/>
          </a:p>
        </p:txBody>
      </p:sp>
      <p:sp>
        <p:nvSpPr>
          <p:cNvPr id="11293" name="Line 60"/>
          <p:cNvSpPr>
            <a:spLocks noChangeShapeType="1"/>
          </p:cNvSpPr>
          <p:nvPr/>
        </p:nvSpPr>
        <p:spPr bwMode="auto">
          <a:xfrm flipH="1">
            <a:off x="2057400" y="60198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94" name="Text Box 61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224886-40E2-4741-BFFF-DEFDBB41E7B2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2318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2325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2329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2334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2338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2343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2303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4" name="Rectangle 45"/>
          <p:cNvSpPr>
            <a:spLocks noChangeArrowheads="1"/>
          </p:cNvSpPr>
          <p:nvPr/>
        </p:nvSpPr>
        <p:spPr bwMode="auto">
          <a:xfrm>
            <a:off x="2070100" y="58039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5" name="Rectangle 46"/>
          <p:cNvSpPr>
            <a:spLocks noChangeArrowheads="1"/>
          </p:cNvSpPr>
          <p:nvPr/>
        </p:nvSpPr>
        <p:spPr bwMode="auto">
          <a:xfrm>
            <a:off x="2070100" y="58928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6" name="Rectangle 47"/>
          <p:cNvSpPr>
            <a:spLocks noChangeArrowheads="1"/>
          </p:cNvSpPr>
          <p:nvPr/>
        </p:nvSpPr>
        <p:spPr bwMode="auto">
          <a:xfrm>
            <a:off x="2159000" y="58039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7" name="Rectangle 48"/>
          <p:cNvSpPr>
            <a:spLocks noChangeArrowheads="1"/>
          </p:cNvSpPr>
          <p:nvPr/>
        </p:nvSpPr>
        <p:spPr bwMode="auto">
          <a:xfrm>
            <a:off x="2730500" y="58928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8" name="Rectangle 49"/>
          <p:cNvSpPr>
            <a:spLocks noChangeArrowheads="1"/>
          </p:cNvSpPr>
          <p:nvPr/>
        </p:nvSpPr>
        <p:spPr bwMode="auto">
          <a:xfrm>
            <a:off x="2832100" y="58039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Rectangle 50"/>
          <p:cNvSpPr>
            <a:spLocks noChangeArrowheads="1"/>
          </p:cNvSpPr>
          <p:nvPr/>
        </p:nvSpPr>
        <p:spPr bwMode="auto">
          <a:xfrm>
            <a:off x="2832100" y="58928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0" name="Rectangle 51"/>
          <p:cNvSpPr>
            <a:spLocks noChangeArrowheads="1"/>
          </p:cNvSpPr>
          <p:nvPr/>
        </p:nvSpPr>
        <p:spPr bwMode="auto">
          <a:xfrm>
            <a:off x="2921000" y="58039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1" name="Rectangle 52"/>
          <p:cNvSpPr>
            <a:spLocks noChangeArrowheads="1"/>
          </p:cNvSpPr>
          <p:nvPr/>
        </p:nvSpPr>
        <p:spPr bwMode="auto">
          <a:xfrm>
            <a:off x="2374900" y="60198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2312" name="Rectangle 53"/>
          <p:cNvSpPr>
            <a:spLocks noChangeArrowheads="1"/>
          </p:cNvSpPr>
          <p:nvPr/>
        </p:nvSpPr>
        <p:spPr bwMode="auto">
          <a:xfrm>
            <a:off x="3124200" y="60198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2313" name="Rectangle 54"/>
          <p:cNvSpPr>
            <a:spLocks noChangeArrowheads="1"/>
          </p:cNvSpPr>
          <p:nvPr/>
        </p:nvSpPr>
        <p:spPr bwMode="auto">
          <a:xfrm>
            <a:off x="1320800" y="58039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4" name="Rectangle 55"/>
          <p:cNvSpPr>
            <a:spLocks noChangeArrowheads="1"/>
          </p:cNvSpPr>
          <p:nvPr/>
        </p:nvSpPr>
        <p:spPr bwMode="auto">
          <a:xfrm>
            <a:off x="1409700" y="58039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5" name="Rectangle 56"/>
          <p:cNvSpPr>
            <a:spLocks noChangeArrowheads="1"/>
          </p:cNvSpPr>
          <p:nvPr/>
        </p:nvSpPr>
        <p:spPr bwMode="auto">
          <a:xfrm>
            <a:off x="1968500" y="58928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6" name="Rectangle 57"/>
          <p:cNvSpPr>
            <a:spLocks noChangeArrowheads="1"/>
          </p:cNvSpPr>
          <p:nvPr/>
        </p:nvSpPr>
        <p:spPr bwMode="auto">
          <a:xfrm>
            <a:off x="1587500" y="60198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a</a:t>
            </a:r>
            <a:endParaRPr lang="en-US"/>
          </a:p>
        </p:txBody>
      </p:sp>
      <p:sp>
        <p:nvSpPr>
          <p:cNvPr id="12317" name="Text Box 62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27F63D-35FE-48B3-85FB-596E2B092C28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3344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3351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3355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3360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3364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3369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3327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8" name="Rectangle 45"/>
          <p:cNvSpPr>
            <a:spLocks noChangeArrowheads="1"/>
          </p:cNvSpPr>
          <p:nvPr/>
        </p:nvSpPr>
        <p:spPr bwMode="auto">
          <a:xfrm>
            <a:off x="2070100" y="58039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9" name="Rectangle 46"/>
          <p:cNvSpPr>
            <a:spLocks noChangeArrowheads="1"/>
          </p:cNvSpPr>
          <p:nvPr/>
        </p:nvSpPr>
        <p:spPr bwMode="auto">
          <a:xfrm>
            <a:off x="2070100" y="58928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0" name="Rectangle 47"/>
          <p:cNvSpPr>
            <a:spLocks noChangeArrowheads="1"/>
          </p:cNvSpPr>
          <p:nvPr/>
        </p:nvSpPr>
        <p:spPr bwMode="auto">
          <a:xfrm>
            <a:off x="2159000" y="58039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1" name="Rectangle 48"/>
          <p:cNvSpPr>
            <a:spLocks noChangeArrowheads="1"/>
          </p:cNvSpPr>
          <p:nvPr/>
        </p:nvSpPr>
        <p:spPr bwMode="auto">
          <a:xfrm>
            <a:off x="2730500" y="58928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2" name="Rectangle 49"/>
          <p:cNvSpPr>
            <a:spLocks noChangeArrowheads="1"/>
          </p:cNvSpPr>
          <p:nvPr/>
        </p:nvSpPr>
        <p:spPr bwMode="auto">
          <a:xfrm>
            <a:off x="2832100" y="58039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3" name="Rectangle 50"/>
          <p:cNvSpPr>
            <a:spLocks noChangeArrowheads="1"/>
          </p:cNvSpPr>
          <p:nvPr/>
        </p:nvSpPr>
        <p:spPr bwMode="auto">
          <a:xfrm>
            <a:off x="2832100" y="58928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4" name="Rectangle 51"/>
          <p:cNvSpPr>
            <a:spLocks noChangeArrowheads="1"/>
          </p:cNvSpPr>
          <p:nvPr/>
        </p:nvSpPr>
        <p:spPr bwMode="auto">
          <a:xfrm>
            <a:off x="2921000" y="58039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5" name="Rectangle 52"/>
          <p:cNvSpPr>
            <a:spLocks noChangeArrowheads="1"/>
          </p:cNvSpPr>
          <p:nvPr/>
        </p:nvSpPr>
        <p:spPr bwMode="auto">
          <a:xfrm>
            <a:off x="2374900" y="60198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3336" name="Rectangle 53"/>
          <p:cNvSpPr>
            <a:spLocks noChangeArrowheads="1"/>
          </p:cNvSpPr>
          <p:nvPr/>
        </p:nvSpPr>
        <p:spPr bwMode="auto">
          <a:xfrm>
            <a:off x="3124200" y="60198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3337" name="Rectangle 54"/>
          <p:cNvSpPr>
            <a:spLocks noChangeArrowheads="1"/>
          </p:cNvSpPr>
          <p:nvPr/>
        </p:nvSpPr>
        <p:spPr bwMode="auto">
          <a:xfrm>
            <a:off x="1320800" y="58039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8" name="Rectangle 55"/>
          <p:cNvSpPr>
            <a:spLocks noChangeArrowheads="1"/>
          </p:cNvSpPr>
          <p:nvPr/>
        </p:nvSpPr>
        <p:spPr bwMode="auto">
          <a:xfrm>
            <a:off x="1409700" y="58039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9" name="Rectangle 56"/>
          <p:cNvSpPr>
            <a:spLocks noChangeArrowheads="1"/>
          </p:cNvSpPr>
          <p:nvPr/>
        </p:nvSpPr>
        <p:spPr bwMode="auto">
          <a:xfrm>
            <a:off x="1968500" y="58928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0" name="Rectangle 57"/>
          <p:cNvSpPr>
            <a:spLocks noChangeArrowheads="1"/>
          </p:cNvSpPr>
          <p:nvPr/>
        </p:nvSpPr>
        <p:spPr bwMode="auto">
          <a:xfrm>
            <a:off x="1587500" y="60198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a</a:t>
            </a:r>
            <a:endParaRPr lang="en-US"/>
          </a:p>
        </p:txBody>
      </p:sp>
      <p:sp>
        <p:nvSpPr>
          <p:cNvPr id="13341" name="Oval 58"/>
          <p:cNvSpPr>
            <a:spLocks noChangeArrowheads="1"/>
          </p:cNvSpPr>
          <p:nvPr/>
        </p:nvSpPr>
        <p:spPr bwMode="auto">
          <a:xfrm>
            <a:off x="914400" y="5715000"/>
            <a:ext cx="3124200" cy="914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Oval 59"/>
          <p:cNvSpPr>
            <a:spLocks noChangeArrowheads="1"/>
          </p:cNvSpPr>
          <p:nvPr/>
        </p:nvSpPr>
        <p:spPr bwMode="auto">
          <a:xfrm>
            <a:off x="685800" y="3429000"/>
            <a:ext cx="1066800" cy="19812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3" name="Text Box 60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61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090A7E-7E78-4C05-A25D-466DA30C3C62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838200" y="4432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1485900" y="4521200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927100" y="50927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927100" y="44323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838200" y="36703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1485900" y="37719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927100" y="4330700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1130300" y="46482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1130300" y="38989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4367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4374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4378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4383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4387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4392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4351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2" name="Rectangle 45"/>
          <p:cNvSpPr>
            <a:spLocks noChangeArrowheads="1"/>
          </p:cNvSpPr>
          <p:nvPr/>
        </p:nvSpPr>
        <p:spPr bwMode="auto">
          <a:xfrm>
            <a:off x="2070100" y="58039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3" name="Rectangle 46"/>
          <p:cNvSpPr>
            <a:spLocks noChangeArrowheads="1"/>
          </p:cNvSpPr>
          <p:nvPr/>
        </p:nvSpPr>
        <p:spPr bwMode="auto">
          <a:xfrm>
            <a:off x="2070100" y="58928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4" name="Rectangle 47"/>
          <p:cNvSpPr>
            <a:spLocks noChangeArrowheads="1"/>
          </p:cNvSpPr>
          <p:nvPr/>
        </p:nvSpPr>
        <p:spPr bwMode="auto">
          <a:xfrm>
            <a:off x="2159000" y="58039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5" name="Rectangle 48"/>
          <p:cNvSpPr>
            <a:spLocks noChangeArrowheads="1"/>
          </p:cNvSpPr>
          <p:nvPr/>
        </p:nvSpPr>
        <p:spPr bwMode="auto">
          <a:xfrm>
            <a:off x="2730500" y="58928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6" name="Rectangle 49"/>
          <p:cNvSpPr>
            <a:spLocks noChangeArrowheads="1"/>
          </p:cNvSpPr>
          <p:nvPr/>
        </p:nvSpPr>
        <p:spPr bwMode="auto">
          <a:xfrm>
            <a:off x="2832100" y="58039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7" name="Rectangle 50"/>
          <p:cNvSpPr>
            <a:spLocks noChangeArrowheads="1"/>
          </p:cNvSpPr>
          <p:nvPr/>
        </p:nvSpPr>
        <p:spPr bwMode="auto">
          <a:xfrm>
            <a:off x="2832100" y="5892800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8" name="Rectangle 51"/>
          <p:cNvSpPr>
            <a:spLocks noChangeArrowheads="1"/>
          </p:cNvSpPr>
          <p:nvPr/>
        </p:nvSpPr>
        <p:spPr bwMode="auto">
          <a:xfrm>
            <a:off x="2921000" y="5803900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9" name="Rectangle 52"/>
          <p:cNvSpPr>
            <a:spLocks noChangeArrowheads="1"/>
          </p:cNvSpPr>
          <p:nvPr/>
        </p:nvSpPr>
        <p:spPr bwMode="auto">
          <a:xfrm>
            <a:off x="2374900" y="6019800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4360" name="Rectangle 53"/>
          <p:cNvSpPr>
            <a:spLocks noChangeArrowheads="1"/>
          </p:cNvSpPr>
          <p:nvPr/>
        </p:nvSpPr>
        <p:spPr bwMode="auto">
          <a:xfrm>
            <a:off x="3124200" y="60198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4361" name="Rectangle 54"/>
          <p:cNvSpPr>
            <a:spLocks noChangeArrowheads="1"/>
          </p:cNvSpPr>
          <p:nvPr/>
        </p:nvSpPr>
        <p:spPr bwMode="auto">
          <a:xfrm>
            <a:off x="1320800" y="5803900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2" name="Rectangle 55"/>
          <p:cNvSpPr>
            <a:spLocks noChangeArrowheads="1"/>
          </p:cNvSpPr>
          <p:nvPr/>
        </p:nvSpPr>
        <p:spPr bwMode="auto">
          <a:xfrm>
            <a:off x="1409700" y="5803900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3" name="Rectangle 56"/>
          <p:cNvSpPr>
            <a:spLocks noChangeArrowheads="1"/>
          </p:cNvSpPr>
          <p:nvPr/>
        </p:nvSpPr>
        <p:spPr bwMode="auto">
          <a:xfrm>
            <a:off x="1968500" y="5892800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4" name="Rectangle 57"/>
          <p:cNvSpPr>
            <a:spLocks noChangeArrowheads="1"/>
          </p:cNvSpPr>
          <p:nvPr/>
        </p:nvSpPr>
        <p:spPr bwMode="auto">
          <a:xfrm>
            <a:off x="1587500" y="60198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a</a:t>
            </a:r>
            <a:endParaRPr lang="en-US"/>
          </a:p>
        </p:txBody>
      </p:sp>
      <p:sp>
        <p:nvSpPr>
          <p:cNvPr id="14365" name="Line 61"/>
          <p:cNvSpPr>
            <a:spLocks noChangeShapeType="1"/>
          </p:cNvSpPr>
          <p:nvPr/>
        </p:nvSpPr>
        <p:spPr bwMode="auto">
          <a:xfrm>
            <a:off x="1219200" y="5257800"/>
            <a:ext cx="304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66" name="Text Box 62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063D0-56F0-4C9E-976C-1FF5C4ED9015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14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5390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Rectangle 16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Rectangle 17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Rectangle 18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Rectangle 19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Rectangle 20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Rectangle 21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5397" name="Rectangle 22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Rectangle 23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Rectangle 24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Rectangle 25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5401" name="Rectangle 26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Rectangle 27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Rectangle 28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Rectangle 29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Rectangle 30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5406" name="Rectangle 31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Rectangle 32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Rectangle 33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Rectangle 34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5410" name="Rectangle 35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Rectangle 36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Rectangle 37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Rectangle 38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Rectangle 39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5415" name="Rectangle 40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Rectangle 41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Rectangle 42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Rectangle 43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5366" name="Line 44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7" name="Rectangle 69"/>
          <p:cNvSpPr>
            <a:spLocks noChangeArrowheads="1"/>
          </p:cNvSpPr>
          <p:nvPr/>
        </p:nvSpPr>
        <p:spPr bwMode="auto">
          <a:xfrm>
            <a:off x="1141413" y="5383213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8" name="Rectangle 70"/>
          <p:cNvSpPr>
            <a:spLocks noChangeArrowheads="1"/>
          </p:cNvSpPr>
          <p:nvPr/>
        </p:nvSpPr>
        <p:spPr bwMode="auto">
          <a:xfrm>
            <a:off x="1230313" y="5383213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9" name="Rectangle 71"/>
          <p:cNvSpPr>
            <a:spLocks noChangeArrowheads="1"/>
          </p:cNvSpPr>
          <p:nvPr/>
        </p:nvSpPr>
        <p:spPr bwMode="auto">
          <a:xfrm>
            <a:off x="1789113" y="5472113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0" name="Rectangle 72"/>
          <p:cNvSpPr>
            <a:spLocks noChangeArrowheads="1"/>
          </p:cNvSpPr>
          <p:nvPr/>
        </p:nvSpPr>
        <p:spPr bwMode="auto">
          <a:xfrm>
            <a:off x="1408113" y="5599113"/>
            <a:ext cx="141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a</a:t>
            </a:r>
            <a:endParaRPr lang="en-US"/>
          </a:p>
        </p:txBody>
      </p:sp>
      <p:sp>
        <p:nvSpPr>
          <p:cNvPr id="15371" name="Rectangle 73"/>
          <p:cNvSpPr>
            <a:spLocks noChangeArrowheads="1"/>
          </p:cNvSpPr>
          <p:nvPr/>
        </p:nvSpPr>
        <p:spPr bwMode="auto">
          <a:xfrm>
            <a:off x="1141413" y="4633913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2" name="Rectangle 74"/>
          <p:cNvSpPr>
            <a:spLocks noChangeArrowheads="1"/>
          </p:cNvSpPr>
          <p:nvPr/>
        </p:nvSpPr>
        <p:spPr bwMode="auto">
          <a:xfrm>
            <a:off x="1789113" y="4722813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Rectangle 75"/>
          <p:cNvSpPr>
            <a:spLocks noChangeArrowheads="1"/>
          </p:cNvSpPr>
          <p:nvPr/>
        </p:nvSpPr>
        <p:spPr bwMode="auto">
          <a:xfrm>
            <a:off x="1230313" y="5294313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Rectangle 76"/>
          <p:cNvSpPr>
            <a:spLocks noChangeArrowheads="1"/>
          </p:cNvSpPr>
          <p:nvPr/>
        </p:nvSpPr>
        <p:spPr bwMode="auto">
          <a:xfrm>
            <a:off x="1878013" y="5383213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Rectangle 77"/>
          <p:cNvSpPr>
            <a:spLocks noChangeArrowheads="1"/>
          </p:cNvSpPr>
          <p:nvPr/>
        </p:nvSpPr>
        <p:spPr bwMode="auto">
          <a:xfrm>
            <a:off x="1878013" y="5472113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Rectangle 78"/>
          <p:cNvSpPr>
            <a:spLocks noChangeArrowheads="1"/>
          </p:cNvSpPr>
          <p:nvPr/>
        </p:nvSpPr>
        <p:spPr bwMode="auto">
          <a:xfrm>
            <a:off x="1966913" y="5383213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Rectangle 79"/>
          <p:cNvSpPr>
            <a:spLocks noChangeArrowheads="1"/>
          </p:cNvSpPr>
          <p:nvPr/>
        </p:nvSpPr>
        <p:spPr bwMode="auto">
          <a:xfrm>
            <a:off x="2538413" y="5472113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Rectangle 80"/>
          <p:cNvSpPr>
            <a:spLocks noChangeArrowheads="1"/>
          </p:cNvSpPr>
          <p:nvPr/>
        </p:nvSpPr>
        <p:spPr bwMode="auto">
          <a:xfrm>
            <a:off x="2627313" y="5383213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9" name="Rectangle 81"/>
          <p:cNvSpPr>
            <a:spLocks noChangeArrowheads="1"/>
          </p:cNvSpPr>
          <p:nvPr/>
        </p:nvSpPr>
        <p:spPr bwMode="auto">
          <a:xfrm>
            <a:off x="2627313" y="5472113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0" name="Rectangle 82"/>
          <p:cNvSpPr>
            <a:spLocks noChangeArrowheads="1"/>
          </p:cNvSpPr>
          <p:nvPr/>
        </p:nvSpPr>
        <p:spPr bwMode="auto">
          <a:xfrm>
            <a:off x="2716213" y="5383213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1" name="Rectangle 83"/>
          <p:cNvSpPr>
            <a:spLocks noChangeArrowheads="1"/>
          </p:cNvSpPr>
          <p:nvPr/>
        </p:nvSpPr>
        <p:spPr bwMode="auto">
          <a:xfrm>
            <a:off x="1230313" y="4633913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2" name="Rectangle 84"/>
          <p:cNvSpPr>
            <a:spLocks noChangeArrowheads="1"/>
          </p:cNvSpPr>
          <p:nvPr/>
        </p:nvSpPr>
        <p:spPr bwMode="auto">
          <a:xfrm>
            <a:off x="1141413" y="3884613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3" name="Rectangle 85"/>
          <p:cNvSpPr>
            <a:spLocks noChangeArrowheads="1"/>
          </p:cNvSpPr>
          <p:nvPr/>
        </p:nvSpPr>
        <p:spPr bwMode="auto">
          <a:xfrm>
            <a:off x="1789113" y="3986213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4" name="Rectangle 86"/>
          <p:cNvSpPr>
            <a:spLocks noChangeArrowheads="1"/>
          </p:cNvSpPr>
          <p:nvPr/>
        </p:nvSpPr>
        <p:spPr bwMode="auto">
          <a:xfrm>
            <a:off x="1230313" y="4545013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5" name="Rectangle 87"/>
          <p:cNvSpPr>
            <a:spLocks noChangeArrowheads="1"/>
          </p:cNvSpPr>
          <p:nvPr/>
        </p:nvSpPr>
        <p:spPr bwMode="auto">
          <a:xfrm>
            <a:off x="2182813" y="5599113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5386" name="Rectangle 88"/>
          <p:cNvSpPr>
            <a:spLocks noChangeArrowheads="1"/>
          </p:cNvSpPr>
          <p:nvPr/>
        </p:nvSpPr>
        <p:spPr bwMode="auto">
          <a:xfrm>
            <a:off x="2919413" y="5599113"/>
            <a:ext cx="141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5387" name="Rectangle 89"/>
          <p:cNvSpPr>
            <a:spLocks noChangeArrowheads="1"/>
          </p:cNvSpPr>
          <p:nvPr/>
        </p:nvSpPr>
        <p:spPr bwMode="auto">
          <a:xfrm>
            <a:off x="1433513" y="4849813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5388" name="Rectangle 90"/>
          <p:cNvSpPr>
            <a:spLocks noChangeArrowheads="1"/>
          </p:cNvSpPr>
          <p:nvPr/>
        </p:nvSpPr>
        <p:spPr bwMode="auto">
          <a:xfrm>
            <a:off x="1433513" y="4113213"/>
            <a:ext cx="141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sp>
        <p:nvSpPr>
          <p:cNvPr id="15389" name="Text Box 91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C2DC40-C90E-4345-B6CA-72968877BDD2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6421" name="AutoShape 6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Rectangle 7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Rectangle 8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Rectangle 9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Rectangle 10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Rectangle 11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Rectangle 12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6428" name="Rectangle 13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Rectangle 14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Rectangle 15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Rectangle 16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6432" name="Rectangle 17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Rectangle 18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Rectangle 19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Rectangle 20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Rectangle 21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6437" name="Rectangle 22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Rectangle 23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Rectangle 24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Rectangle 25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6441" name="Rectangle 26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Rectangle 27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Rectangle 28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Rectangle 29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Rectangle 30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6446" name="Rectangle 31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Rectangle 32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Rectangle 33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Rectangle 34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6390" name="Line 35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1" name="Rectangle 36"/>
          <p:cNvSpPr>
            <a:spLocks noChangeArrowheads="1"/>
          </p:cNvSpPr>
          <p:nvPr/>
        </p:nvSpPr>
        <p:spPr bwMode="auto">
          <a:xfrm>
            <a:off x="2273300" y="4267200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2" name="Rectangle 37"/>
          <p:cNvSpPr>
            <a:spLocks noChangeArrowheads="1"/>
          </p:cNvSpPr>
          <p:nvPr/>
        </p:nvSpPr>
        <p:spPr bwMode="auto">
          <a:xfrm>
            <a:off x="2273300" y="43688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3" name="Rectangle 38"/>
          <p:cNvSpPr>
            <a:spLocks noChangeArrowheads="1"/>
          </p:cNvSpPr>
          <p:nvPr/>
        </p:nvSpPr>
        <p:spPr bwMode="auto">
          <a:xfrm>
            <a:off x="2362200" y="4267200"/>
            <a:ext cx="571500" cy="1016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4" name="Rectangle 39"/>
          <p:cNvSpPr>
            <a:spLocks noChangeArrowheads="1"/>
          </p:cNvSpPr>
          <p:nvPr/>
        </p:nvSpPr>
        <p:spPr bwMode="auto">
          <a:xfrm>
            <a:off x="2362200" y="4927600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5" name="Rectangle 40"/>
          <p:cNvSpPr>
            <a:spLocks noChangeArrowheads="1"/>
          </p:cNvSpPr>
          <p:nvPr/>
        </p:nvSpPr>
        <p:spPr bwMode="auto">
          <a:xfrm>
            <a:off x="2933700" y="4368800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6" name="Rectangle 41"/>
          <p:cNvSpPr>
            <a:spLocks noChangeArrowheads="1"/>
          </p:cNvSpPr>
          <p:nvPr/>
        </p:nvSpPr>
        <p:spPr bwMode="auto">
          <a:xfrm>
            <a:off x="2578100" y="4470400"/>
            <a:ext cx="141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x</a:t>
            </a:r>
            <a:endParaRPr lang="en-US"/>
          </a:p>
        </p:txBody>
      </p:sp>
      <p:sp>
        <p:nvSpPr>
          <p:cNvPr id="16397" name="Line 42"/>
          <p:cNvSpPr>
            <a:spLocks noChangeShapeType="1"/>
          </p:cNvSpPr>
          <p:nvPr/>
        </p:nvSpPr>
        <p:spPr bwMode="auto">
          <a:xfrm flipH="1">
            <a:off x="1981200" y="5029200"/>
            <a:ext cx="228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8" name="Rectangle 43"/>
          <p:cNvSpPr>
            <a:spLocks noChangeArrowheads="1"/>
          </p:cNvSpPr>
          <p:nvPr/>
        </p:nvSpPr>
        <p:spPr bwMode="auto">
          <a:xfrm>
            <a:off x="1141413" y="5383213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9" name="Rectangle 44"/>
          <p:cNvSpPr>
            <a:spLocks noChangeArrowheads="1"/>
          </p:cNvSpPr>
          <p:nvPr/>
        </p:nvSpPr>
        <p:spPr bwMode="auto">
          <a:xfrm>
            <a:off x="1230313" y="5383213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0" name="Rectangle 45"/>
          <p:cNvSpPr>
            <a:spLocks noChangeArrowheads="1"/>
          </p:cNvSpPr>
          <p:nvPr/>
        </p:nvSpPr>
        <p:spPr bwMode="auto">
          <a:xfrm>
            <a:off x="1789113" y="5472113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1" name="Rectangle 46"/>
          <p:cNvSpPr>
            <a:spLocks noChangeArrowheads="1"/>
          </p:cNvSpPr>
          <p:nvPr/>
        </p:nvSpPr>
        <p:spPr bwMode="auto">
          <a:xfrm>
            <a:off x="1408113" y="5599113"/>
            <a:ext cx="141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a</a:t>
            </a:r>
            <a:endParaRPr lang="en-US"/>
          </a:p>
        </p:txBody>
      </p:sp>
      <p:sp>
        <p:nvSpPr>
          <p:cNvPr id="16402" name="Rectangle 47"/>
          <p:cNvSpPr>
            <a:spLocks noChangeArrowheads="1"/>
          </p:cNvSpPr>
          <p:nvPr/>
        </p:nvSpPr>
        <p:spPr bwMode="auto">
          <a:xfrm>
            <a:off x="1141413" y="4633913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3" name="Rectangle 48"/>
          <p:cNvSpPr>
            <a:spLocks noChangeArrowheads="1"/>
          </p:cNvSpPr>
          <p:nvPr/>
        </p:nvSpPr>
        <p:spPr bwMode="auto">
          <a:xfrm>
            <a:off x="1789113" y="4722813"/>
            <a:ext cx="889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4" name="Rectangle 49"/>
          <p:cNvSpPr>
            <a:spLocks noChangeArrowheads="1"/>
          </p:cNvSpPr>
          <p:nvPr/>
        </p:nvSpPr>
        <p:spPr bwMode="auto">
          <a:xfrm>
            <a:off x="1230313" y="5294313"/>
            <a:ext cx="558800" cy="889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5" name="Rectangle 50"/>
          <p:cNvSpPr>
            <a:spLocks noChangeArrowheads="1"/>
          </p:cNvSpPr>
          <p:nvPr/>
        </p:nvSpPr>
        <p:spPr bwMode="auto">
          <a:xfrm>
            <a:off x="1878013" y="5383213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6" name="Rectangle 51"/>
          <p:cNvSpPr>
            <a:spLocks noChangeArrowheads="1"/>
          </p:cNvSpPr>
          <p:nvPr/>
        </p:nvSpPr>
        <p:spPr bwMode="auto">
          <a:xfrm>
            <a:off x="1878013" y="5472113"/>
            <a:ext cx="88900" cy="5588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7" name="Rectangle 52"/>
          <p:cNvSpPr>
            <a:spLocks noChangeArrowheads="1"/>
          </p:cNvSpPr>
          <p:nvPr/>
        </p:nvSpPr>
        <p:spPr bwMode="auto">
          <a:xfrm>
            <a:off x="1966913" y="5383213"/>
            <a:ext cx="5715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8" name="Rectangle 53"/>
          <p:cNvSpPr>
            <a:spLocks noChangeArrowheads="1"/>
          </p:cNvSpPr>
          <p:nvPr/>
        </p:nvSpPr>
        <p:spPr bwMode="auto">
          <a:xfrm>
            <a:off x="2538413" y="5472113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9" name="Rectangle 54"/>
          <p:cNvSpPr>
            <a:spLocks noChangeArrowheads="1"/>
          </p:cNvSpPr>
          <p:nvPr/>
        </p:nvSpPr>
        <p:spPr bwMode="auto">
          <a:xfrm>
            <a:off x="2627313" y="5383213"/>
            <a:ext cx="7493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0" name="Rectangle 55"/>
          <p:cNvSpPr>
            <a:spLocks noChangeArrowheads="1"/>
          </p:cNvSpPr>
          <p:nvPr/>
        </p:nvSpPr>
        <p:spPr bwMode="auto">
          <a:xfrm>
            <a:off x="2627313" y="5472113"/>
            <a:ext cx="88900" cy="558800"/>
          </a:xfrm>
          <a:prstGeom prst="rect">
            <a:avLst/>
          </a:prstGeom>
          <a:solidFill>
            <a:srgbClr val="33FF33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1" name="Rectangle 56"/>
          <p:cNvSpPr>
            <a:spLocks noChangeArrowheads="1"/>
          </p:cNvSpPr>
          <p:nvPr/>
        </p:nvSpPr>
        <p:spPr bwMode="auto">
          <a:xfrm>
            <a:off x="2716213" y="5383213"/>
            <a:ext cx="558800" cy="88900"/>
          </a:xfrm>
          <a:prstGeom prst="rect">
            <a:avLst/>
          </a:prstGeom>
          <a:solidFill>
            <a:srgbClr val="FF66CC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2" name="Rectangle 57"/>
          <p:cNvSpPr>
            <a:spLocks noChangeArrowheads="1"/>
          </p:cNvSpPr>
          <p:nvPr/>
        </p:nvSpPr>
        <p:spPr bwMode="auto">
          <a:xfrm>
            <a:off x="1230313" y="4633913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3" name="Rectangle 58"/>
          <p:cNvSpPr>
            <a:spLocks noChangeArrowheads="1"/>
          </p:cNvSpPr>
          <p:nvPr/>
        </p:nvSpPr>
        <p:spPr bwMode="auto">
          <a:xfrm>
            <a:off x="1141413" y="3884613"/>
            <a:ext cx="736600" cy="749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4" name="Rectangle 59"/>
          <p:cNvSpPr>
            <a:spLocks noChangeArrowheads="1"/>
          </p:cNvSpPr>
          <p:nvPr/>
        </p:nvSpPr>
        <p:spPr bwMode="auto">
          <a:xfrm>
            <a:off x="1789113" y="3986213"/>
            <a:ext cx="889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5" name="Rectangle 60"/>
          <p:cNvSpPr>
            <a:spLocks noChangeArrowheads="1"/>
          </p:cNvSpPr>
          <p:nvPr/>
        </p:nvSpPr>
        <p:spPr bwMode="auto">
          <a:xfrm>
            <a:off x="1230313" y="4545013"/>
            <a:ext cx="558800" cy="8890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6" name="Rectangle 61"/>
          <p:cNvSpPr>
            <a:spLocks noChangeArrowheads="1"/>
          </p:cNvSpPr>
          <p:nvPr/>
        </p:nvSpPr>
        <p:spPr bwMode="auto">
          <a:xfrm>
            <a:off x="2182813" y="5599113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b</a:t>
            </a:r>
            <a:endParaRPr lang="en-US"/>
          </a:p>
        </p:txBody>
      </p:sp>
      <p:sp>
        <p:nvSpPr>
          <p:cNvPr id="16417" name="Rectangle 62"/>
          <p:cNvSpPr>
            <a:spLocks noChangeArrowheads="1"/>
          </p:cNvSpPr>
          <p:nvPr/>
        </p:nvSpPr>
        <p:spPr bwMode="auto">
          <a:xfrm>
            <a:off x="2919413" y="5599113"/>
            <a:ext cx="141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c</a:t>
            </a:r>
            <a:endParaRPr lang="en-US"/>
          </a:p>
        </p:txBody>
      </p:sp>
      <p:sp>
        <p:nvSpPr>
          <p:cNvPr id="16418" name="Rectangle 63"/>
          <p:cNvSpPr>
            <a:spLocks noChangeArrowheads="1"/>
          </p:cNvSpPr>
          <p:nvPr/>
        </p:nvSpPr>
        <p:spPr bwMode="auto">
          <a:xfrm>
            <a:off x="1433513" y="4849813"/>
            <a:ext cx="155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d</a:t>
            </a:r>
            <a:endParaRPr lang="en-US"/>
          </a:p>
        </p:txBody>
      </p:sp>
      <p:sp>
        <p:nvSpPr>
          <p:cNvPr id="16419" name="Rectangle 64"/>
          <p:cNvSpPr>
            <a:spLocks noChangeArrowheads="1"/>
          </p:cNvSpPr>
          <p:nvPr/>
        </p:nvSpPr>
        <p:spPr bwMode="auto">
          <a:xfrm>
            <a:off x="1433513" y="4113213"/>
            <a:ext cx="141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e</a:t>
            </a:r>
            <a:endParaRPr lang="en-US"/>
          </a:p>
        </p:txBody>
      </p:sp>
      <p:sp>
        <p:nvSpPr>
          <p:cNvPr id="16420" name="Text Box 65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66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27ECF-2303-4422-9C29-25385629E8F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141413" y="3884613"/>
            <a:ext cx="2260600" cy="2260600"/>
            <a:chOff x="719" y="2447"/>
            <a:chExt cx="1424" cy="1424"/>
          </a:xfrm>
        </p:grpSpPr>
        <p:sp>
          <p:nvSpPr>
            <p:cNvPr id="17446" name="AutoShape 7"/>
            <p:cNvSpPr>
              <a:spLocks noChangeAspect="1" noChangeArrowheads="1" noTextEdit="1"/>
            </p:cNvSpPr>
            <p:nvPr/>
          </p:nvSpPr>
          <p:spPr bwMode="auto">
            <a:xfrm>
              <a:off x="719" y="2447"/>
              <a:ext cx="1424" cy="1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Rectangle 9"/>
            <p:cNvSpPr>
              <a:spLocks noChangeArrowheads="1"/>
            </p:cNvSpPr>
            <p:nvPr/>
          </p:nvSpPr>
          <p:spPr bwMode="auto">
            <a:xfrm>
              <a:off x="719" y="3391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Rectangle 10"/>
            <p:cNvSpPr>
              <a:spLocks noChangeArrowheads="1"/>
            </p:cNvSpPr>
            <p:nvPr/>
          </p:nvSpPr>
          <p:spPr bwMode="auto">
            <a:xfrm>
              <a:off x="775" y="3391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Rectangle 11"/>
            <p:cNvSpPr>
              <a:spLocks noChangeArrowheads="1"/>
            </p:cNvSpPr>
            <p:nvPr/>
          </p:nvSpPr>
          <p:spPr bwMode="auto">
            <a:xfrm>
              <a:off x="1127" y="3447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Rectangle 12"/>
            <p:cNvSpPr>
              <a:spLocks noChangeArrowheads="1"/>
            </p:cNvSpPr>
            <p:nvPr/>
          </p:nvSpPr>
          <p:spPr bwMode="auto">
            <a:xfrm>
              <a:off x="887" y="3527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  <p:sp>
          <p:nvSpPr>
            <p:cNvPr id="17451" name="Rectangle 13"/>
            <p:cNvSpPr>
              <a:spLocks noChangeArrowheads="1"/>
            </p:cNvSpPr>
            <p:nvPr/>
          </p:nvSpPr>
          <p:spPr bwMode="auto">
            <a:xfrm>
              <a:off x="719" y="2919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Rectangle 14"/>
            <p:cNvSpPr>
              <a:spLocks noChangeArrowheads="1"/>
            </p:cNvSpPr>
            <p:nvPr/>
          </p:nvSpPr>
          <p:spPr bwMode="auto">
            <a:xfrm>
              <a:off x="1127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Rectangle 15"/>
            <p:cNvSpPr>
              <a:spLocks noChangeArrowheads="1"/>
            </p:cNvSpPr>
            <p:nvPr/>
          </p:nvSpPr>
          <p:spPr bwMode="auto">
            <a:xfrm>
              <a:off x="775" y="3335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Rectangle 16"/>
            <p:cNvSpPr>
              <a:spLocks noChangeArrowheads="1"/>
            </p:cNvSpPr>
            <p:nvPr/>
          </p:nvSpPr>
          <p:spPr bwMode="auto">
            <a:xfrm>
              <a:off x="1183" y="3391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Rectangle 17"/>
            <p:cNvSpPr>
              <a:spLocks noChangeArrowheads="1"/>
            </p:cNvSpPr>
            <p:nvPr/>
          </p:nvSpPr>
          <p:spPr bwMode="auto">
            <a:xfrm>
              <a:off x="1183" y="3447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Rectangle 18"/>
            <p:cNvSpPr>
              <a:spLocks noChangeArrowheads="1"/>
            </p:cNvSpPr>
            <p:nvPr/>
          </p:nvSpPr>
          <p:spPr bwMode="auto">
            <a:xfrm>
              <a:off x="1239" y="3391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Rectangle 19"/>
            <p:cNvSpPr>
              <a:spLocks noChangeArrowheads="1"/>
            </p:cNvSpPr>
            <p:nvPr/>
          </p:nvSpPr>
          <p:spPr bwMode="auto">
            <a:xfrm>
              <a:off x="1599" y="3447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Rectangle 20"/>
            <p:cNvSpPr>
              <a:spLocks noChangeArrowheads="1"/>
            </p:cNvSpPr>
            <p:nvPr/>
          </p:nvSpPr>
          <p:spPr bwMode="auto">
            <a:xfrm>
              <a:off x="1655" y="3391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Rectangle 21"/>
            <p:cNvSpPr>
              <a:spLocks noChangeArrowheads="1"/>
            </p:cNvSpPr>
            <p:nvPr/>
          </p:nvSpPr>
          <p:spPr bwMode="auto">
            <a:xfrm>
              <a:off x="1655" y="3447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Rectangle 22"/>
            <p:cNvSpPr>
              <a:spLocks noChangeArrowheads="1"/>
            </p:cNvSpPr>
            <p:nvPr/>
          </p:nvSpPr>
          <p:spPr bwMode="auto">
            <a:xfrm>
              <a:off x="1711" y="3391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Rectangle 23"/>
            <p:cNvSpPr>
              <a:spLocks noChangeArrowheads="1"/>
            </p:cNvSpPr>
            <p:nvPr/>
          </p:nvSpPr>
          <p:spPr bwMode="auto">
            <a:xfrm>
              <a:off x="775" y="2919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Rectangle 24"/>
            <p:cNvSpPr>
              <a:spLocks noChangeArrowheads="1"/>
            </p:cNvSpPr>
            <p:nvPr/>
          </p:nvSpPr>
          <p:spPr bwMode="auto">
            <a:xfrm>
              <a:off x="719" y="2447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Rectangle 25"/>
            <p:cNvSpPr>
              <a:spLocks noChangeArrowheads="1"/>
            </p:cNvSpPr>
            <p:nvPr/>
          </p:nvSpPr>
          <p:spPr bwMode="auto">
            <a:xfrm>
              <a:off x="1127" y="2511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Rectangle 26"/>
            <p:cNvSpPr>
              <a:spLocks noChangeArrowheads="1"/>
            </p:cNvSpPr>
            <p:nvPr/>
          </p:nvSpPr>
          <p:spPr bwMode="auto">
            <a:xfrm>
              <a:off x="775" y="2863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Rectangle 27"/>
            <p:cNvSpPr>
              <a:spLocks noChangeArrowheads="1"/>
            </p:cNvSpPr>
            <p:nvPr/>
          </p:nvSpPr>
          <p:spPr bwMode="auto">
            <a:xfrm>
              <a:off x="1375" y="3527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7466" name="Rectangle 28"/>
            <p:cNvSpPr>
              <a:spLocks noChangeArrowheads="1"/>
            </p:cNvSpPr>
            <p:nvPr/>
          </p:nvSpPr>
          <p:spPr bwMode="auto">
            <a:xfrm>
              <a:off x="1839" y="3527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7467" name="Rectangle 29"/>
            <p:cNvSpPr>
              <a:spLocks noChangeArrowheads="1"/>
            </p:cNvSpPr>
            <p:nvPr/>
          </p:nvSpPr>
          <p:spPr bwMode="auto">
            <a:xfrm>
              <a:off x="903" y="3055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7468" name="Rectangle 30"/>
            <p:cNvSpPr>
              <a:spLocks noChangeArrowheads="1"/>
            </p:cNvSpPr>
            <p:nvPr/>
          </p:nvSpPr>
          <p:spPr bwMode="auto">
            <a:xfrm>
              <a:off x="903" y="2591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7469" name="Rectangle 31"/>
            <p:cNvSpPr>
              <a:spLocks noChangeArrowheads="1"/>
            </p:cNvSpPr>
            <p:nvPr/>
          </p:nvSpPr>
          <p:spPr bwMode="auto">
            <a:xfrm>
              <a:off x="1183" y="2919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Rectangle 32"/>
            <p:cNvSpPr>
              <a:spLocks noChangeArrowheads="1"/>
            </p:cNvSpPr>
            <p:nvPr/>
          </p:nvSpPr>
          <p:spPr bwMode="auto">
            <a:xfrm>
              <a:off x="1183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Rectangle 33"/>
            <p:cNvSpPr>
              <a:spLocks noChangeArrowheads="1"/>
            </p:cNvSpPr>
            <p:nvPr/>
          </p:nvSpPr>
          <p:spPr bwMode="auto">
            <a:xfrm>
              <a:off x="1239" y="2919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Rectangle 34"/>
            <p:cNvSpPr>
              <a:spLocks noChangeArrowheads="1"/>
            </p:cNvSpPr>
            <p:nvPr/>
          </p:nvSpPr>
          <p:spPr bwMode="auto">
            <a:xfrm>
              <a:off x="1239" y="3335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Rectangle 35"/>
            <p:cNvSpPr>
              <a:spLocks noChangeArrowheads="1"/>
            </p:cNvSpPr>
            <p:nvPr/>
          </p:nvSpPr>
          <p:spPr bwMode="auto">
            <a:xfrm>
              <a:off x="1599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Rectangle 36"/>
            <p:cNvSpPr>
              <a:spLocks noChangeArrowheads="1"/>
            </p:cNvSpPr>
            <p:nvPr/>
          </p:nvSpPr>
          <p:spPr bwMode="auto">
            <a:xfrm>
              <a:off x="1375" y="3047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</p:grpSp>
      <p:grpSp>
        <p:nvGrpSpPr>
          <p:cNvPr id="3" name="Group 38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7417" name="AutoShape 37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Rectangle 39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Rectangle 40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0" name="Rectangle 41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Rectangle 42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Rectangle 43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Rectangle 44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7424" name="Rectangle 45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Rectangle 46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Rectangle 47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Rectangle 48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7428" name="Rectangle 49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Rectangle 50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Rectangle 51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Rectangle 52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Rectangle 53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7433" name="Rectangle 54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Rectangle 55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Rectangle 56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Rectangle 57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7437" name="Rectangle 58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Rectangle 59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Rectangle 60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Rectangle 61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Rectangle 62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7442" name="Rectangle 63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Rectangle 64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Rectangle 65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Rectangle 66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sp>
        <p:nvSpPr>
          <p:cNvPr id="17415" name="Line 67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6" name="Text Box 68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3C9763-3C1B-45AD-B99C-38329782AA32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8476" name="AutoShape 7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Rectangle 9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Rectangle 10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Rectangle 11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Rectangle 12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Rectangle 13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Rectangle 14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8483" name="Rectangle 15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Rectangle 16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Rectangle 17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Rectangle 18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8487" name="Rectangle 19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Rectangle 20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Rectangle 21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Rectangle 22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Rectangle 23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8492" name="Rectangle 24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Rectangle 25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Rectangle 26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Rectangle 27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8496" name="Rectangle 28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Rectangle 29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Rectangle 30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Rectangle 31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Rectangle 32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8501" name="Rectangle 33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Rectangle 34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Rectangle 35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Rectangle 36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grpSp>
        <p:nvGrpSpPr>
          <p:cNvPr id="3" name="Group 38"/>
          <p:cNvGrpSpPr>
            <a:grpSpLocks noChangeAspect="1"/>
          </p:cNvGrpSpPr>
          <p:nvPr/>
        </p:nvGrpSpPr>
        <p:grpSpPr bwMode="auto">
          <a:xfrm>
            <a:off x="1141413" y="3886200"/>
            <a:ext cx="2260600" cy="2260600"/>
            <a:chOff x="719" y="2448"/>
            <a:chExt cx="1424" cy="1424"/>
          </a:xfrm>
        </p:grpSpPr>
        <p:sp>
          <p:nvSpPr>
            <p:cNvPr id="18441" name="AutoShape 37"/>
            <p:cNvSpPr>
              <a:spLocks noChangeAspect="1" noChangeArrowheads="1" noTextEdit="1"/>
            </p:cNvSpPr>
            <p:nvPr/>
          </p:nvSpPr>
          <p:spPr bwMode="auto">
            <a:xfrm>
              <a:off x="719" y="2448"/>
              <a:ext cx="1424" cy="1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Rectangle 39"/>
            <p:cNvSpPr>
              <a:spLocks noChangeArrowheads="1"/>
            </p:cNvSpPr>
            <p:nvPr/>
          </p:nvSpPr>
          <p:spPr bwMode="auto">
            <a:xfrm>
              <a:off x="719" y="3392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Rectangle 40"/>
            <p:cNvSpPr>
              <a:spLocks noChangeArrowheads="1"/>
            </p:cNvSpPr>
            <p:nvPr/>
          </p:nvSpPr>
          <p:spPr bwMode="auto">
            <a:xfrm>
              <a:off x="775" y="3392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Rectangle 41"/>
            <p:cNvSpPr>
              <a:spLocks noChangeArrowheads="1"/>
            </p:cNvSpPr>
            <p:nvPr/>
          </p:nvSpPr>
          <p:spPr bwMode="auto">
            <a:xfrm>
              <a:off x="1127" y="3448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Rectangle 42"/>
            <p:cNvSpPr>
              <a:spLocks noChangeArrowheads="1"/>
            </p:cNvSpPr>
            <p:nvPr/>
          </p:nvSpPr>
          <p:spPr bwMode="auto">
            <a:xfrm>
              <a:off x="887" y="3528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  <p:sp>
          <p:nvSpPr>
            <p:cNvPr id="18446" name="Rectangle 43"/>
            <p:cNvSpPr>
              <a:spLocks noChangeArrowheads="1"/>
            </p:cNvSpPr>
            <p:nvPr/>
          </p:nvSpPr>
          <p:spPr bwMode="auto">
            <a:xfrm>
              <a:off x="719" y="2920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Rectangle 44"/>
            <p:cNvSpPr>
              <a:spLocks noChangeArrowheads="1"/>
            </p:cNvSpPr>
            <p:nvPr/>
          </p:nvSpPr>
          <p:spPr bwMode="auto">
            <a:xfrm>
              <a:off x="1127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Rectangle 45"/>
            <p:cNvSpPr>
              <a:spLocks noChangeArrowheads="1"/>
            </p:cNvSpPr>
            <p:nvPr/>
          </p:nvSpPr>
          <p:spPr bwMode="auto">
            <a:xfrm>
              <a:off x="775" y="3336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Rectangle 46"/>
            <p:cNvSpPr>
              <a:spLocks noChangeArrowheads="1"/>
            </p:cNvSpPr>
            <p:nvPr/>
          </p:nvSpPr>
          <p:spPr bwMode="auto">
            <a:xfrm>
              <a:off x="1183" y="3392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Rectangle 47"/>
            <p:cNvSpPr>
              <a:spLocks noChangeArrowheads="1"/>
            </p:cNvSpPr>
            <p:nvPr/>
          </p:nvSpPr>
          <p:spPr bwMode="auto">
            <a:xfrm>
              <a:off x="1183" y="3448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Rectangle 48"/>
            <p:cNvSpPr>
              <a:spLocks noChangeArrowheads="1"/>
            </p:cNvSpPr>
            <p:nvPr/>
          </p:nvSpPr>
          <p:spPr bwMode="auto">
            <a:xfrm>
              <a:off x="1239" y="3392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Rectangle 49"/>
            <p:cNvSpPr>
              <a:spLocks noChangeArrowheads="1"/>
            </p:cNvSpPr>
            <p:nvPr/>
          </p:nvSpPr>
          <p:spPr bwMode="auto">
            <a:xfrm>
              <a:off x="1599" y="3448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Rectangle 50"/>
            <p:cNvSpPr>
              <a:spLocks noChangeArrowheads="1"/>
            </p:cNvSpPr>
            <p:nvPr/>
          </p:nvSpPr>
          <p:spPr bwMode="auto">
            <a:xfrm>
              <a:off x="1655" y="3392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Rectangle 51"/>
            <p:cNvSpPr>
              <a:spLocks noChangeArrowheads="1"/>
            </p:cNvSpPr>
            <p:nvPr/>
          </p:nvSpPr>
          <p:spPr bwMode="auto">
            <a:xfrm>
              <a:off x="1655" y="3448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Rectangle 52"/>
            <p:cNvSpPr>
              <a:spLocks noChangeArrowheads="1"/>
            </p:cNvSpPr>
            <p:nvPr/>
          </p:nvSpPr>
          <p:spPr bwMode="auto">
            <a:xfrm>
              <a:off x="1711" y="3392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Rectangle 53"/>
            <p:cNvSpPr>
              <a:spLocks noChangeArrowheads="1"/>
            </p:cNvSpPr>
            <p:nvPr/>
          </p:nvSpPr>
          <p:spPr bwMode="auto">
            <a:xfrm>
              <a:off x="775" y="2920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Rectangle 54"/>
            <p:cNvSpPr>
              <a:spLocks noChangeArrowheads="1"/>
            </p:cNvSpPr>
            <p:nvPr/>
          </p:nvSpPr>
          <p:spPr bwMode="auto">
            <a:xfrm>
              <a:off x="719" y="2448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Rectangle 55"/>
            <p:cNvSpPr>
              <a:spLocks noChangeArrowheads="1"/>
            </p:cNvSpPr>
            <p:nvPr/>
          </p:nvSpPr>
          <p:spPr bwMode="auto">
            <a:xfrm>
              <a:off x="1127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Rectangle 56"/>
            <p:cNvSpPr>
              <a:spLocks noChangeArrowheads="1"/>
            </p:cNvSpPr>
            <p:nvPr/>
          </p:nvSpPr>
          <p:spPr bwMode="auto">
            <a:xfrm>
              <a:off x="775" y="2864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Rectangle 57"/>
            <p:cNvSpPr>
              <a:spLocks noChangeArrowheads="1"/>
            </p:cNvSpPr>
            <p:nvPr/>
          </p:nvSpPr>
          <p:spPr bwMode="auto">
            <a:xfrm>
              <a:off x="1375" y="3528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8461" name="Rectangle 58"/>
            <p:cNvSpPr>
              <a:spLocks noChangeArrowheads="1"/>
            </p:cNvSpPr>
            <p:nvPr/>
          </p:nvSpPr>
          <p:spPr bwMode="auto">
            <a:xfrm>
              <a:off x="1839" y="3528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8462" name="Rectangle 59"/>
            <p:cNvSpPr>
              <a:spLocks noChangeArrowheads="1"/>
            </p:cNvSpPr>
            <p:nvPr/>
          </p:nvSpPr>
          <p:spPr bwMode="auto">
            <a:xfrm>
              <a:off x="903" y="3056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8463" name="Rectangle 60"/>
            <p:cNvSpPr>
              <a:spLocks noChangeArrowheads="1"/>
            </p:cNvSpPr>
            <p:nvPr/>
          </p:nvSpPr>
          <p:spPr bwMode="auto">
            <a:xfrm>
              <a:off x="903" y="2592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8464" name="Rectangle 61"/>
            <p:cNvSpPr>
              <a:spLocks noChangeArrowheads="1"/>
            </p:cNvSpPr>
            <p:nvPr/>
          </p:nvSpPr>
          <p:spPr bwMode="auto">
            <a:xfrm>
              <a:off x="1183" y="2920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Rectangle 62"/>
            <p:cNvSpPr>
              <a:spLocks noChangeArrowheads="1"/>
            </p:cNvSpPr>
            <p:nvPr/>
          </p:nvSpPr>
          <p:spPr bwMode="auto">
            <a:xfrm>
              <a:off x="1183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Rectangle 63"/>
            <p:cNvSpPr>
              <a:spLocks noChangeArrowheads="1"/>
            </p:cNvSpPr>
            <p:nvPr/>
          </p:nvSpPr>
          <p:spPr bwMode="auto">
            <a:xfrm>
              <a:off x="1239" y="2920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Rectangle 64"/>
            <p:cNvSpPr>
              <a:spLocks noChangeArrowheads="1"/>
            </p:cNvSpPr>
            <p:nvPr/>
          </p:nvSpPr>
          <p:spPr bwMode="auto">
            <a:xfrm>
              <a:off x="1239" y="3336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Rectangle 65"/>
            <p:cNvSpPr>
              <a:spLocks noChangeArrowheads="1"/>
            </p:cNvSpPr>
            <p:nvPr/>
          </p:nvSpPr>
          <p:spPr bwMode="auto">
            <a:xfrm>
              <a:off x="1599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Rectangle 66"/>
            <p:cNvSpPr>
              <a:spLocks noChangeArrowheads="1"/>
            </p:cNvSpPr>
            <p:nvPr/>
          </p:nvSpPr>
          <p:spPr bwMode="auto">
            <a:xfrm>
              <a:off x="1375" y="3048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8470" name="Rectangle 67"/>
            <p:cNvSpPr>
              <a:spLocks noChangeArrowheads="1"/>
            </p:cNvSpPr>
            <p:nvPr/>
          </p:nvSpPr>
          <p:spPr bwMode="auto">
            <a:xfrm>
              <a:off x="1655" y="2920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Rectangle 68"/>
            <p:cNvSpPr>
              <a:spLocks noChangeArrowheads="1"/>
            </p:cNvSpPr>
            <p:nvPr/>
          </p:nvSpPr>
          <p:spPr bwMode="auto">
            <a:xfrm>
              <a:off x="1655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Rectangle 69"/>
            <p:cNvSpPr>
              <a:spLocks noChangeArrowheads="1"/>
            </p:cNvSpPr>
            <p:nvPr/>
          </p:nvSpPr>
          <p:spPr bwMode="auto">
            <a:xfrm>
              <a:off x="1711" y="2920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Rectangle 70"/>
            <p:cNvSpPr>
              <a:spLocks noChangeArrowheads="1"/>
            </p:cNvSpPr>
            <p:nvPr/>
          </p:nvSpPr>
          <p:spPr bwMode="auto">
            <a:xfrm>
              <a:off x="1711" y="3336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Rectangle 71"/>
            <p:cNvSpPr>
              <a:spLocks noChangeArrowheads="1"/>
            </p:cNvSpPr>
            <p:nvPr/>
          </p:nvSpPr>
          <p:spPr bwMode="auto">
            <a:xfrm>
              <a:off x="2063" y="2976"/>
              <a:ext cx="64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Rectangle 72"/>
            <p:cNvSpPr>
              <a:spLocks noChangeArrowheads="1"/>
            </p:cNvSpPr>
            <p:nvPr/>
          </p:nvSpPr>
          <p:spPr bwMode="auto">
            <a:xfrm>
              <a:off x="1839" y="3048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</p:grpSp>
      <p:sp>
        <p:nvSpPr>
          <p:cNvPr id="18439" name="Line 73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0" name="Text Box 74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00E5D5-A99E-42CB-A100-CBE1F1F1328E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19506" name="AutoShape 7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Rectangle 9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Rectangle 10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Rectangle 11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Rectangle 12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Rectangle 13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Rectangle 14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9513" name="Rectangle 15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Rectangle 16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Rectangle 17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Rectangle 18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9517" name="Rectangle 19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Rectangle 20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Rectangle 21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Rectangle 22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Rectangle 23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9522" name="Rectangle 24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Rectangle 25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Rectangle 26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5" name="Rectangle 27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9526" name="Rectangle 28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7" name="Rectangle 29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8" name="Rectangle 30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Rectangle 31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Rectangle 32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9531" name="Rectangle 33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Rectangle 34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Rectangle 35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4" name="Rectangle 36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grpSp>
        <p:nvGrpSpPr>
          <p:cNvPr id="3" name="Group 38"/>
          <p:cNvGrpSpPr>
            <a:grpSpLocks noChangeAspect="1"/>
          </p:cNvGrpSpPr>
          <p:nvPr/>
        </p:nvGrpSpPr>
        <p:grpSpPr bwMode="auto">
          <a:xfrm>
            <a:off x="1141413" y="3884613"/>
            <a:ext cx="2260600" cy="2260600"/>
            <a:chOff x="719" y="2447"/>
            <a:chExt cx="1424" cy="1424"/>
          </a:xfrm>
        </p:grpSpPr>
        <p:sp>
          <p:nvSpPr>
            <p:cNvPr id="19465" name="AutoShape 37"/>
            <p:cNvSpPr>
              <a:spLocks noChangeAspect="1" noChangeArrowheads="1" noTextEdit="1"/>
            </p:cNvSpPr>
            <p:nvPr/>
          </p:nvSpPr>
          <p:spPr bwMode="auto">
            <a:xfrm>
              <a:off x="719" y="2447"/>
              <a:ext cx="1424" cy="1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Rectangle 39"/>
            <p:cNvSpPr>
              <a:spLocks noChangeArrowheads="1"/>
            </p:cNvSpPr>
            <p:nvPr/>
          </p:nvSpPr>
          <p:spPr bwMode="auto">
            <a:xfrm>
              <a:off x="719" y="3391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Rectangle 40"/>
            <p:cNvSpPr>
              <a:spLocks noChangeArrowheads="1"/>
            </p:cNvSpPr>
            <p:nvPr/>
          </p:nvSpPr>
          <p:spPr bwMode="auto">
            <a:xfrm>
              <a:off x="775" y="3391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Rectangle 41"/>
            <p:cNvSpPr>
              <a:spLocks noChangeArrowheads="1"/>
            </p:cNvSpPr>
            <p:nvPr/>
          </p:nvSpPr>
          <p:spPr bwMode="auto">
            <a:xfrm>
              <a:off x="1127" y="3447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Rectangle 42"/>
            <p:cNvSpPr>
              <a:spLocks noChangeArrowheads="1"/>
            </p:cNvSpPr>
            <p:nvPr/>
          </p:nvSpPr>
          <p:spPr bwMode="auto">
            <a:xfrm>
              <a:off x="887" y="3527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  <p:sp>
          <p:nvSpPr>
            <p:cNvPr id="19470" name="Rectangle 43"/>
            <p:cNvSpPr>
              <a:spLocks noChangeArrowheads="1"/>
            </p:cNvSpPr>
            <p:nvPr/>
          </p:nvSpPr>
          <p:spPr bwMode="auto">
            <a:xfrm>
              <a:off x="719" y="2919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Rectangle 44"/>
            <p:cNvSpPr>
              <a:spLocks noChangeArrowheads="1"/>
            </p:cNvSpPr>
            <p:nvPr/>
          </p:nvSpPr>
          <p:spPr bwMode="auto">
            <a:xfrm>
              <a:off x="1127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Rectangle 45"/>
            <p:cNvSpPr>
              <a:spLocks noChangeArrowheads="1"/>
            </p:cNvSpPr>
            <p:nvPr/>
          </p:nvSpPr>
          <p:spPr bwMode="auto">
            <a:xfrm>
              <a:off x="775" y="3335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Rectangle 46"/>
            <p:cNvSpPr>
              <a:spLocks noChangeArrowheads="1"/>
            </p:cNvSpPr>
            <p:nvPr/>
          </p:nvSpPr>
          <p:spPr bwMode="auto">
            <a:xfrm>
              <a:off x="1183" y="3391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Rectangle 47"/>
            <p:cNvSpPr>
              <a:spLocks noChangeArrowheads="1"/>
            </p:cNvSpPr>
            <p:nvPr/>
          </p:nvSpPr>
          <p:spPr bwMode="auto">
            <a:xfrm>
              <a:off x="1183" y="3447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Rectangle 48"/>
            <p:cNvSpPr>
              <a:spLocks noChangeArrowheads="1"/>
            </p:cNvSpPr>
            <p:nvPr/>
          </p:nvSpPr>
          <p:spPr bwMode="auto">
            <a:xfrm>
              <a:off x="1239" y="3391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Rectangle 49"/>
            <p:cNvSpPr>
              <a:spLocks noChangeArrowheads="1"/>
            </p:cNvSpPr>
            <p:nvPr/>
          </p:nvSpPr>
          <p:spPr bwMode="auto">
            <a:xfrm>
              <a:off x="1599" y="3447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Rectangle 50"/>
            <p:cNvSpPr>
              <a:spLocks noChangeArrowheads="1"/>
            </p:cNvSpPr>
            <p:nvPr/>
          </p:nvSpPr>
          <p:spPr bwMode="auto">
            <a:xfrm>
              <a:off x="1655" y="3391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Rectangle 51"/>
            <p:cNvSpPr>
              <a:spLocks noChangeArrowheads="1"/>
            </p:cNvSpPr>
            <p:nvPr/>
          </p:nvSpPr>
          <p:spPr bwMode="auto">
            <a:xfrm>
              <a:off x="1655" y="3447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Rectangle 52"/>
            <p:cNvSpPr>
              <a:spLocks noChangeArrowheads="1"/>
            </p:cNvSpPr>
            <p:nvPr/>
          </p:nvSpPr>
          <p:spPr bwMode="auto">
            <a:xfrm>
              <a:off x="1711" y="3391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Rectangle 53"/>
            <p:cNvSpPr>
              <a:spLocks noChangeArrowheads="1"/>
            </p:cNvSpPr>
            <p:nvPr/>
          </p:nvSpPr>
          <p:spPr bwMode="auto">
            <a:xfrm>
              <a:off x="775" y="2919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Rectangle 54"/>
            <p:cNvSpPr>
              <a:spLocks noChangeArrowheads="1"/>
            </p:cNvSpPr>
            <p:nvPr/>
          </p:nvSpPr>
          <p:spPr bwMode="auto">
            <a:xfrm>
              <a:off x="719" y="2447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Rectangle 55"/>
            <p:cNvSpPr>
              <a:spLocks noChangeArrowheads="1"/>
            </p:cNvSpPr>
            <p:nvPr/>
          </p:nvSpPr>
          <p:spPr bwMode="auto">
            <a:xfrm>
              <a:off x="1127" y="2511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Rectangle 56"/>
            <p:cNvSpPr>
              <a:spLocks noChangeArrowheads="1"/>
            </p:cNvSpPr>
            <p:nvPr/>
          </p:nvSpPr>
          <p:spPr bwMode="auto">
            <a:xfrm>
              <a:off x="775" y="2863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Rectangle 57"/>
            <p:cNvSpPr>
              <a:spLocks noChangeArrowheads="1"/>
            </p:cNvSpPr>
            <p:nvPr/>
          </p:nvSpPr>
          <p:spPr bwMode="auto">
            <a:xfrm>
              <a:off x="1375" y="3527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19485" name="Rectangle 58"/>
            <p:cNvSpPr>
              <a:spLocks noChangeArrowheads="1"/>
            </p:cNvSpPr>
            <p:nvPr/>
          </p:nvSpPr>
          <p:spPr bwMode="auto">
            <a:xfrm>
              <a:off x="1839" y="3527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19486" name="Rectangle 59"/>
            <p:cNvSpPr>
              <a:spLocks noChangeArrowheads="1"/>
            </p:cNvSpPr>
            <p:nvPr/>
          </p:nvSpPr>
          <p:spPr bwMode="auto">
            <a:xfrm>
              <a:off x="903" y="3055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19487" name="Rectangle 60"/>
            <p:cNvSpPr>
              <a:spLocks noChangeArrowheads="1"/>
            </p:cNvSpPr>
            <p:nvPr/>
          </p:nvSpPr>
          <p:spPr bwMode="auto">
            <a:xfrm>
              <a:off x="903" y="2591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19488" name="Rectangle 61"/>
            <p:cNvSpPr>
              <a:spLocks noChangeArrowheads="1"/>
            </p:cNvSpPr>
            <p:nvPr/>
          </p:nvSpPr>
          <p:spPr bwMode="auto">
            <a:xfrm>
              <a:off x="1183" y="2919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Rectangle 62"/>
            <p:cNvSpPr>
              <a:spLocks noChangeArrowheads="1"/>
            </p:cNvSpPr>
            <p:nvPr/>
          </p:nvSpPr>
          <p:spPr bwMode="auto">
            <a:xfrm>
              <a:off x="1183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Rectangle 63"/>
            <p:cNvSpPr>
              <a:spLocks noChangeArrowheads="1"/>
            </p:cNvSpPr>
            <p:nvPr/>
          </p:nvSpPr>
          <p:spPr bwMode="auto">
            <a:xfrm>
              <a:off x="1239" y="2919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Rectangle 64"/>
            <p:cNvSpPr>
              <a:spLocks noChangeArrowheads="1"/>
            </p:cNvSpPr>
            <p:nvPr/>
          </p:nvSpPr>
          <p:spPr bwMode="auto">
            <a:xfrm>
              <a:off x="1239" y="3335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Rectangle 65"/>
            <p:cNvSpPr>
              <a:spLocks noChangeArrowheads="1"/>
            </p:cNvSpPr>
            <p:nvPr/>
          </p:nvSpPr>
          <p:spPr bwMode="auto">
            <a:xfrm>
              <a:off x="1599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Rectangle 66"/>
            <p:cNvSpPr>
              <a:spLocks noChangeArrowheads="1"/>
            </p:cNvSpPr>
            <p:nvPr/>
          </p:nvSpPr>
          <p:spPr bwMode="auto">
            <a:xfrm>
              <a:off x="1375" y="3047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9494" name="Rectangle 67"/>
            <p:cNvSpPr>
              <a:spLocks noChangeArrowheads="1"/>
            </p:cNvSpPr>
            <p:nvPr/>
          </p:nvSpPr>
          <p:spPr bwMode="auto">
            <a:xfrm>
              <a:off x="1655" y="2919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Rectangle 68"/>
            <p:cNvSpPr>
              <a:spLocks noChangeArrowheads="1"/>
            </p:cNvSpPr>
            <p:nvPr/>
          </p:nvSpPr>
          <p:spPr bwMode="auto">
            <a:xfrm>
              <a:off x="1655" y="2975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Rectangle 69"/>
            <p:cNvSpPr>
              <a:spLocks noChangeArrowheads="1"/>
            </p:cNvSpPr>
            <p:nvPr/>
          </p:nvSpPr>
          <p:spPr bwMode="auto">
            <a:xfrm>
              <a:off x="1711" y="2919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Rectangle 70"/>
            <p:cNvSpPr>
              <a:spLocks noChangeArrowheads="1"/>
            </p:cNvSpPr>
            <p:nvPr/>
          </p:nvSpPr>
          <p:spPr bwMode="auto">
            <a:xfrm>
              <a:off x="1711" y="3335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Rectangle 71"/>
            <p:cNvSpPr>
              <a:spLocks noChangeArrowheads="1"/>
            </p:cNvSpPr>
            <p:nvPr/>
          </p:nvSpPr>
          <p:spPr bwMode="auto">
            <a:xfrm>
              <a:off x="2063" y="2975"/>
              <a:ext cx="64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Rectangle 72"/>
            <p:cNvSpPr>
              <a:spLocks noChangeArrowheads="1"/>
            </p:cNvSpPr>
            <p:nvPr/>
          </p:nvSpPr>
          <p:spPr bwMode="auto">
            <a:xfrm>
              <a:off x="1839" y="3047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19500" name="Rectangle 73"/>
            <p:cNvSpPr>
              <a:spLocks noChangeArrowheads="1"/>
            </p:cNvSpPr>
            <p:nvPr/>
          </p:nvSpPr>
          <p:spPr bwMode="auto">
            <a:xfrm>
              <a:off x="1183" y="2447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Rectangle 74"/>
            <p:cNvSpPr>
              <a:spLocks noChangeArrowheads="1"/>
            </p:cNvSpPr>
            <p:nvPr/>
          </p:nvSpPr>
          <p:spPr bwMode="auto">
            <a:xfrm>
              <a:off x="1183" y="2511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Rectangle 75"/>
            <p:cNvSpPr>
              <a:spLocks noChangeArrowheads="1"/>
            </p:cNvSpPr>
            <p:nvPr/>
          </p:nvSpPr>
          <p:spPr bwMode="auto">
            <a:xfrm>
              <a:off x="1239" y="2447"/>
              <a:ext cx="360" cy="6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Rectangle 76"/>
            <p:cNvSpPr>
              <a:spLocks noChangeArrowheads="1"/>
            </p:cNvSpPr>
            <p:nvPr/>
          </p:nvSpPr>
          <p:spPr bwMode="auto">
            <a:xfrm>
              <a:off x="1239" y="2863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Rectangle 77"/>
            <p:cNvSpPr>
              <a:spLocks noChangeArrowheads="1"/>
            </p:cNvSpPr>
            <p:nvPr/>
          </p:nvSpPr>
          <p:spPr bwMode="auto">
            <a:xfrm>
              <a:off x="1599" y="2511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Rectangle 78"/>
            <p:cNvSpPr>
              <a:spLocks noChangeArrowheads="1"/>
            </p:cNvSpPr>
            <p:nvPr/>
          </p:nvSpPr>
          <p:spPr bwMode="auto">
            <a:xfrm>
              <a:off x="1375" y="2575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</p:grpSp>
      <p:sp>
        <p:nvSpPr>
          <p:cNvPr id="19463" name="Line 79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Box 80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/>
              <a:t>Tile Assembly Model</a:t>
            </a:r>
          </a:p>
          <a:p>
            <a:pPr algn="ctr"/>
            <a:r>
              <a:rPr lang="en-US"/>
              <a:t>(Rothemund, Winfree, Adleman)</a:t>
            </a:r>
          </a:p>
          <a:p>
            <a:pPr algn="ctr"/>
            <a:endParaRPr lang="en-US" sz="2800"/>
          </a:p>
        </p:txBody>
      </p:sp>
      <p:sp>
        <p:nvSpPr>
          <p:cNvPr id="79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24E04-85B6-44D0-84C7-8A436188D6A6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20536" name="AutoShape 7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Rectangle 9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Rectangle 10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Rectangle 11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Rectangle 12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Rectangle 13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Rectangle 14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43" name="Rectangle 15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Rectangle 16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Rectangle 17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Rectangle 18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20547" name="Rectangle 19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Rectangle 20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Rectangle 21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Rectangle 22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Rectangle 23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20552" name="Rectangle 24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Rectangle 25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Rectangle 26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Rectangle 27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20556" name="Rectangle 28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Rectangle 29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Rectangle 30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Rectangle 31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Rectangle 32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20561" name="Rectangle 33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Rectangle 34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Rectangle 35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Rectangle 36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grpSp>
        <p:nvGrpSpPr>
          <p:cNvPr id="3" name="Group 38"/>
          <p:cNvGrpSpPr>
            <a:grpSpLocks noChangeAspect="1"/>
          </p:cNvGrpSpPr>
          <p:nvPr/>
        </p:nvGrpSpPr>
        <p:grpSpPr bwMode="auto">
          <a:xfrm>
            <a:off x="1143000" y="3886200"/>
            <a:ext cx="2260600" cy="2260600"/>
            <a:chOff x="720" y="2448"/>
            <a:chExt cx="1424" cy="1424"/>
          </a:xfrm>
        </p:grpSpPr>
        <p:sp>
          <p:nvSpPr>
            <p:cNvPr id="20489" name="AutoShape 37"/>
            <p:cNvSpPr>
              <a:spLocks noChangeAspect="1" noChangeArrowheads="1" noTextEdit="1"/>
            </p:cNvSpPr>
            <p:nvPr/>
          </p:nvSpPr>
          <p:spPr bwMode="auto">
            <a:xfrm>
              <a:off x="720" y="2448"/>
              <a:ext cx="1424" cy="1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Rectangle 39"/>
            <p:cNvSpPr>
              <a:spLocks noChangeArrowheads="1"/>
            </p:cNvSpPr>
            <p:nvPr/>
          </p:nvSpPr>
          <p:spPr bwMode="auto">
            <a:xfrm>
              <a:off x="720" y="3392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Rectangle 40"/>
            <p:cNvSpPr>
              <a:spLocks noChangeArrowheads="1"/>
            </p:cNvSpPr>
            <p:nvPr/>
          </p:nvSpPr>
          <p:spPr bwMode="auto">
            <a:xfrm>
              <a:off x="776" y="3392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Rectangle 41"/>
            <p:cNvSpPr>
              <a:spLocks noChangeArrowheads="1"/>
            </p:cNvSpPr>
            <p:nvPr/>
          </p:nvSpPr>
          <p:spPr bwMode="auto">
            <a:xfrm>
              <a:off x="1128" y="3448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Rectangle 42"/>
            <p:cNvSpPr>
              <a:spLocks noChangeArrowheads="1"/>
            </p:cNvSpPr>
            <p:nvPr/>
          </p:nvSpPr>
          <p:spPr bwMode="auto">
            <a:xfrm>
              <a:off x="888" y="3528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  <p:sp>
          <p:nvSpPr>
            <p:cNvPr id="20494" name="Rectangle 43"/>
            <p:cNvSpPr>
              <a:spLocks noChangeArrowheads="1"/>
            </p:cNvSpPr>
            <p:nvPr/>
          </p:nvSpPr>
          <p:spPr bwMode="auto">
            <a:xfrm>
              <a:off x="720" y="2920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Rectangle 44"/>
            <p:cNvSpPr>
              <a:spLocks noChangeArrowheads="1"/>
            </p:cNvSpPr>
            <p:nvPr/>
          </p:nvSpPr>
          <p:spPr bwMode="auto">
            <a:xfrm>
              <a:off x="1128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Rectangle 45"/>
            <p:cNvSpPr>
              <a:spLocks noChangeArrowheads="1"/>
            </p:cNvSpPr>
            <p:nvPr/>
          </p:nvSpPr>
          <p:spPr bwMode="auto">
            <a:xfrm>
              <a:off x="776" y="3336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Rectangle 46"/>
            <p:cNvSpPr>
              <a:spLocks noChangeArrowheads="1"/>
            </p:cNvSpPr>
            <p:nvPr/>
          </p:nvSpPr>
          <p:spPr bwMode="auto">
            <a:xfrm>
              <a:off x="1184" y="3392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Rectangle 47"/>
            <p:cNvSpPr>
              <a:spLocks noChangeArrowheads="1"/>
            </p:cNvSpPr>
            <p:nvPr/>
          </p:nvSpPr>
          <p:spPr bwMode="auto">
            <a:xfrm>
              <a:off x="1184" y="3448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Rectangle 48"/>
            <p:cNvSpPr>
              <a:spLocks noChangeArrowheads="1"/>
            </p:cNvSpPr>
            <p:nvPr/>
          </p:nvSpPr>
          <p:spPr bwMode="auto">
            <a:xfrm>
              <a:off x="1240" y="3392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Rectangle 49"/>
            <p:cNvSpPr>
              <a:spLocks noChangeArrowheads="1"/>
            </p:cNvSpPr>
            <p:nvPr/>
          </p:nvSpPr>
          <p:spPr bwMode="auto">
            <a:xfrm>
              <a:off x="1600" y="3448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Rectangle 50"/>
            <p:cNvSpPr>
              <a:spLocks noChangeArrowheads="1"/>
            </p:cNvSpPr>
            <p:nvPr/>
          </p:nvSpPr>
          <p:spPr bwMode="auto">
            <a:xfrm>
              <a:off x="1656" y="3392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Rectangle 51"/>
            <p:cNvSpPr>
              <a:spLocks noChangeArrowheads="1"/>
            </p:cNvSpPr>
            <p:nvPr/>
          </p:nvSpPr>
          <p:spPr bwMode="auto">
            <a:xfrm>
              <a:off x="1656" y="3448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Rectangle 52"/>
            <p:cNvSpPr>
              <a:spLocks noChangeArrowheads="1"/>
            </p:cNvSpPr>
            <p:nvPr/>
          </p:nvSpPr>
          <p:spPr bwMode="auto">
            <a:xfrm>
              <a:off x="1712" y="3392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Rectangle 53"/>
            <p:cNvSpPr>
              <a:spLocks noChangeArrowheads="1"/>
            </p:cNvSpPr>
            <p:nvPr/>
          </p:nvSpPr>
          <p:spPr bwMode="auto">
            <a:xfrm>
              <a:off x="776" y="2920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Rectangle 54"/>
            <p:cNvSpPr>
              <a:spLocks noChangeArrowheads="1"/>
            </p:cNvSpPr>
            <p:nvPr/>
          </p:nvSpPr>
          <p:spPr bwMode="auto">
            <a:xfrm>
              <a:off x="720" y="2448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Rectangle 55"/>
            <p:cNvSpPr>
              <a:spLocks noChangeArrowheads="1"/>
            </p:cNvSpPr>
            <p:nvPr/>
          </p:nvSpPr>
          <p:spPr bwMode="auto">
            <a:xfrm>
              <a:off x="1128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Rectangle 56"/>
            <p:cNvSpPr>
              <a:spLocks noChangeArrowheads="1"/>
            </p:cNvSpPr>
            <p:nvPr/>
          </p:nvSpPr>
          <p:spPr bwMode="auto">
            <a:xfrm>
              <a:off x="776" y="2864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Rectangle 57"/>
            <p:cNvSpPr>
              <a:spLocks noChangeArrowheads="1"/>
            </p:cNvSpPr>
            <p:nvPr/>
          </p:nvSpPr>
          <p:spPr bwMode="auto">
            <a:xfrm>
              <a:off x="1376" y="3528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20509" name="Rectangle 58"/>
            <p:cNvSpPr>
              <a:spLocks noChangeArrowheads="1"/>
            </p:cNvSpPr>
            <p:nvPr/>
          </p:nvSpPr>
          <p:spPr bwMode="auto">
            <a:xfrm>
              <a:off x="1840" y="3528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20510" name="Rectangle 59"/>
            <p:cNvSpPr>
              <a:spLocks noChangeArrowheads="1"/>
            </p:cNvSpPr>
            <p:nvPr/>
          </p:nvSpPr>
          <p:spPr bwMode="auto">
            <a:xfrm>
              <a:off x="904" y="3056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20511" name="Rectangle 60"/>
            <p:cNvSpPr>
              <a:spLocks noChangeArrowheads="1"/>
            </p:cNvSpPr>
            <p:nvPr/>
          </p:nvSpPr>
          <p:spPr bwMode="auto">
            <a:xfrm>
              <a:off x="904" y="2592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20512" name="Rectangle 61"/>
            <p:cNvSpPr>
              <a:spLocks noChangeArrowheads="1"/>
            </p:cNvSpPr>
            <p:nvPr/>
          </p:nvSpPr>
          <p:spPr bwMode="auto">
            <a:xfrm>
              <a:off x="1184" y="2920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Rectangle 62"/>
            <p:cNvSpPr>
              <a:spLocks noChangeArrowheads="1"/>
            </p:cNvSpPr>
            <p:nvPr/>
          </p:nvSpPr>
          <p:spPr bwMode="auto">
            <a:xfrm>
              <a:off x="1184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Rectangle 63"/>
            <p:cNvSpPr>
              <a:spLocks noChangeArrowheads="1"/>
            </p:cNvSpPr>
            <p:nvPr/>
          </p:nvSpPr>
          <p:spPr bwMode="auto">
            <a:xfrm>
              <a:off x="1240" y="2920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Rectangle 64"/>
            <p:cNvSpPr>
              <a:spLocks noChangeArrowheads="1"/>
            </p:cNvSpPr>
            <p:nvPr/>
          </p:nvSpPr>
          <p:spPr bwMode="auto">
            <a:xfrm>
              <a:off x="1240" y="3336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Rectangle 65"/>
            <p:cNvSpPr>
              <a:spLocks noChangeArrowheads="1"/>
            </p:cNvSpPr>
            <p:nvPr/>
          </p:nvSpPr>
          <p:spPr bwMode="auto">
            <a:xfrm>
              <a:off x="1600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Rectangle 66"/>
            <p:cNvSpPr>
              <a:spLocks noChangeArrowheads="1"/>
            </p:cNvSpPr>
            <p:nvPr/>
          </p:nvSpPr>
          <p:spPr bwMode="auto">
            <a:xfrm>
              <a:off x="1376" y="3048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18" name="Rectangle 67"/>
            <p:cNvSpPr>
              <a:spLocks noChangeArrowheads="1"/>
            </p:cNvSpPr>
            <p:nvPr/>
          </p:nvSpPr>
          <p:spPr bwMode="auto">
            <a:xfrm>
              <a:off x="1656" y="2920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Rectangle 68"/>
            <p:cNvSpPr>
              <a:spLocks noChangeArrowheads="1"/>
            </p:cNvSpPr>
            <p:nvPr/>
          </p:nvSpPr>
          <p:spPr bwMode="auto">
            <a:xfrm>
              <a:off x="1656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Rectangle 69"/>
            <p:cNvSpPr>
              <a:spLocks noChangeArrowheads="1"/>
            </p:cNvSpPr>
            <p:nvPr/>
          </p:nvSpPr>
          <p:spPr bwMode="auto">
            <a:xfrm>
              <a:off x="1712" y="2920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Rectangle 70"/>
            <p:cNvSpPr>
              <a:spLocks noChangeArrowheads="1"/>
            </p:cNvSpPr>
            <p:nvPr/>
          </p:nvSpPr>
          <p:spPr bwMode="auto">
            <a:xfrm>
              <a:off x="1712" y="3336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Rectangle 71"/>
            <p:cNvSpPr>
              <a:spLocks noChangeArrowheads="1"/>
            </p:cNvSpPr>
            <p:nvPr/>
          </p:nvSpPr>
          <p:spPr bwMode="auto">
            <a:xfrm>
              <a:off x="2064" y="2976"/>
              <a:ext cx="64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Rectangle 72"/>
            <p:cNvSpPr>
              <a:spLocks noChangeArrowheads="1"/>
            </p:cNvSpPr>
            <p:nvPr/>
          </p:nvSpPr>
          <p:spPr bwMode="auto">
            <a:xfrm>
              <a:off x="1840" y="3048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24" name="Rectangle 73"/>
            <p:cNvSpPr>
              <a:spLocks noChangeArrowheads="1"/>
            </p:cNvSpPr>
            <p:nvPr/>
          </p:nvSpPr>
          <p:spPr bwMode="auto">
            <a:xfrm>
              <a:off x="1184" y="2448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Rectangle 74"/>
            <p:cNvSpPr>
              <a:spLocks noChangeArrowheads="1"/>
            </p:cNvSpPr>
            <p:nvPr/>
          </p:nvSpPr>
          <p:spPr bwMode="auto">
            <a:xfrm>
              <a:off x="1184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Rectangle 75"/>
            <p:cNvSpPr>
              <a:spLocks noChangeArrowheads="1"/>
            </p:cNvSpPr>
            <p:nvPr/>
          </p:nvSpPr>
          <p:spPr bwMode="auto">
            <a:xfrm>
              <a:off x="1240" y="2448"/>
              <a:ext cx="360" cy="6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Rectangle 76"/>
            <p:cNvSpPr>
              <a:spLocks noChangeArrowheads="1"/>
            </p:cNvSpPr>
            <p:nvPr/>
          </p:nvSpPr>
          <p:spPr bwMode="auto">
            <a:xfrm>
              <a:off x="1240" y="2864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Rectangle 77"/>
            <p:cNvSpPr>
              <a:spLocks noChangeArrowheads="1"/>
            </p:cNvSpPr>
            <p:nvPr/>
          </p:nvSpPr>
          <p:spPr bwMode="auto">
            <a:xfrm>
              <a:off x="1600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Rectangle 78"/>
            <p:cNvSpPr>
              <a:spLocks noChangeArrowheads="1"/>
            </p:cNvSpPr>
            <p:nvPr/>
          </p:nvSpPr>
          <p:spPr bwMode="auto">
            <a:xfrm>
              <a:off x="1376" y="2576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30" name="Rectangle 79"/>
            <p:cNvSpPr>
              <a:spLocks noChangeArrowheads="1"/>
            </p:cNvSpPr>
            <p:nvPr/>
          </p:nvSpPr>
          <p:spPr bwMode="auto">
            <a:xfrm>
              <a:off x="1656" y="2448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Rectangle 80"/>
            <p:cNvSpPr>
              <a:spLocks noChangeArrowheads="1"/>
            </p:cNvSpPr>
            <p:nvPr/>
          </p:nvSpPr>
          <p:spPr bwMode="auto">
            <a:xfrm>
              <a:off x="1656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Rectangle 81"/>
            <p:cNvSpPr>
              <a:spLocks noChangeArrowheads="1"/>
            </p:cNvSpPr>
            <p:nvPr/>
          </p:nvSpPr>
          <p:spPr bwMode="auto">
            <a:xfrm>
              <a:off x="1712" y="2448"/>
              <a:ext cx="352" cy="6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Rectangle 82"/>
            <p:cNvSpPr>
              <a:spLocks noChangeArrowheads="1"/>
            </p:cNvSpPr>
            <p:nvPr/>
          </p:nvSpPr>
          <p:spPr bwMode="auto">
            <a:xfrm>
              <a:off x="1712" y="2864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Rectangle 83"/>
            <p:cNvSpPr>
              <a:spLocks noChangeArrowheads="1"/>
            </p:cNvSpPr>
            <p:nvPr/>
          </p:nvSpPr>
          <p:spPr bwMode="auto">
            <a:xfrm>
              <a:off x="2064" y="2512"/>
              <a:ext cx="64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Rectangle 84"/>
            <p:cNvSpPr>
              <a:spLocks noChangeArrowheads="1"/>
            </p:cNvSpPr>
            <p:nvPr/>
          </p:nvSpPr>
          <p:spPr bwMode="auto">
            <a:xfrm>
              <a:off x="1840" y="2576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</p:grpSp>
      <p:sp>
        <p:nvSpPr>
          <p:cNvPr id="20487" name="Line 85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8" name="Text Box 86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 smtClean="0"/>
              <a:t>Tile </a:t>
            </a:r>
            <a:r>
              <a:rPr lang="en-US" sz="2800" dirty="0"/>
              <a:t>Assembly Model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Rothemund</a:t>
            </a:r>
            <a:r>
              <a:rPr lang="en-US" dirty="0"/>
              <a:t>, </a:t>
            </a:r>
            <a:r>
              <a:rPr lang="en-US" dirty="0" err="1"/>
              <a:t>Winfree</a:t>
            </a:r>
            <a:r>
              <a:rPr lang="en-US" dirty="0"/>
              <a:t>, </a:t>
            </a:r>
            <a:r>
              <a:rPr lang="en-US" dirty="0" err="1"/>
              <a:t>Adleman</a:t>
            </a:r>
            <a:r>
              <a:rPr lang="en-US" dirty="0"/>
              <a:t>)</a:t>
            </a:r>
          </a:p>
          <a:p>
            <a:pPr algn="ctr"/>
            <a:endParaRPr lang="en-US" sz="2800" dirty="0"/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24E04-85B6-44D0-84C7-8A436188D6A6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974725" y="1155700"/>
            <a:ext cx="800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0"/>
              <a:t>T =  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905000" y="1039813"/>
            <a:ext cx="2743200" cy="1627187"/>
            <a:chOff x="1200" y="655"/>
            <a:chExt cx="1728" cy="1025"/>
          </a:xfrm>
        </p:grpSpPr>
        <p:sp>
          <p:nvSpPr>
            <p:cNvPr id="20536" name="AutoShape 7"/>
            <p:cNvSpPr>
              <a:spLocks noChangeAspect="1" noChangeArrowheads="1" noTextEdit="1"/>
            </p:cNvSpPr>
            <p:nvPr/>
          </p:nvSpPr>
          <p:spPr bwMode="auto">
            <a:xfrm>
              <a:off x="1200" y="655"/>
              <a:ext cx="1728" cy="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Rectangle 9"/>
            <p:cNvSpPr>
              <a:spLocks noChangeArrowheads="1"/>
            </p:cNvSpPr>
            <p:nvPr/>
          </p:nvSpPr>
          <p:spPr bwMode="auto">
            <a:xfrm>
              <a:off x="1210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Rectangle 10"/>
            <p:cNvSpPr>
              <a:spLocks noChangeArrowheads="1"/>
            </p:cNvSpPr>
            <p:nvPr/>
          </p:nvSpPr>
          <p:spPr bwMode="auto">
            <a:xfrm>
              <a:off x="1210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Rectangle 11"/>
            <p:cNvSpPr>
              <a:spLocks noChangeArrowheads="1"/>
            </p:cNvSpPr>
            <p:nvPr/>
          </p:nvSpPr>
          <p:spPr bwMode="auto">
            <a:xfrm>
              <a:off x="1260" y="1268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Rectangle 12"/>
            <p:cNvSpPr>
              <a:spLocks noChangeArrowheads="1"/>
            </p:cNvSpPr>
            <p:nvPr/>
          </p:nvSpPr>
          <p:spPr bwMode="auto">
            <a:xfrm>
              <a:off x="1260" y="1620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Rectangle 13"/>
            <p:cNvSpPr>
              <a:spLocks noChangeArrowheads="1"/>
            </p:cNvSpPr>
            <p:nvPr/>
          </p:nvSpPr>
          <p:spPr bwMode="auto">
            <a:xfrm>
              <a:off x="1562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Rectangle 14"/>
            <p:cNvSpPr>
              <a:spLocks noChangeArrowheads="1"/>
            </p:cNvSpPr>
            <p:nvPr/>
          </p:nvSpPr>
          <p:spPr bwMode="auto">
            <a:xfrm>
              <a:off x="1371" y="1368"/>
              <a:ext cx="131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43" name="Rectangle 15"/>
            <p:cNvSpPr>
              <a:spLocks noChangeArrowheads="1"/>
            </p:cNvSpPr>
            <p:nvPr/>
          </p:nvSpPr>
          <p:spPr bwMode="auto">
            <a:xfrm>
              <a:off x="2516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Rectangle 16"/>
            <p:cNvSpPr>
              <a:spLocks noChangeArrowheads="1"/>
            </p:cNvSpPr>
            <p:nvPr/>
          </p:nvSpPr>
          <p:spPr bwMode="auto">
            <a:xfrm>
              <a:off x="2868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Rectangle 17"/>
            <p:cNvSpPr>
              <a:spLocks noChangeArrowheads="1"/>
            </p:cNvSpPr>
            <p:nvPr/>
          </p:nvSpPr>
          <p:spPr bwMode="auto">
            <a:xfrm>
              <a:off x="2566" y="1620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Rectangle 18"/>
            <p:cNvSpPr>
              <a:spLocks noChangeArrowheads="1"/>
            </p:cNvSpPr>
            <p:nvPr/>
          </p:nvSpPr>
          <p:spPr bwMode="auto">
            <a:xfrm>
              <a:off x="2667" y="137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20547" name="Rectangle 19"/>
            <p:cNvSpPr>
              <a:spLocks noChangeArrowheads="1"/>
            </p:cNvSpPr>
            <p:nvPr/>
          </p:nvSpPr>
          <p:spPr bwMode="auto">
            <a:xfrm>
              <a:off x="1863" y="1268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Rectangle 20"/>
            <p:cNvSpPr>
              <a:spLocks noChangeArrowheads="1"/>
            </p:cNvSpPr>
            <p:nvPr/>
          </p:nvSpPr>
          <p:spPr bwMode="auto">
            <a:xfrm>
              <a:off x="2215" y="1318"/>
              <a:ext cx="50" cy="3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Rectangle 21"/>
            <p:cNvSpPr>
              <a:spLocks noChangeArrowheads="1"/>
            </p:cNvSpPr>
            <p:nvPr/>
          </p:nvSpPr>
          <p:spPr bwMode="auto">
            <a:xfrm>
              <a:off x="1913" y="1620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Rectangle 22"/>
            <p:cNvSpPr>
              <a:spLocks noChangeArrowheads="1"/>
            </p:cNvSpPr>
            <p:nvPr/>
          </p:nvSpPr>
          <p:spPr bwMode="auto">
            <a:xfrm>
              <a:off x="1913" y="1268"/>
              <a:ext cx="302" cy="50"/>
            </a:xfrm>
            <a:prstGeom prst="rect">
              <a:avLst/>
            </a:prstGeom>
            <a:solidFill>
              <a:srgbClr val="0000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Rectangle 23"/>
            <p:cNvSpPr>
              <a:spLocks noChangeArrowheads="1"/>
            </p:cNvSpPr>
            <p:nvPr/>
          </p:nvSpPr>
          <p:spPr bwMode="auto">
            <a:xfrm>
              <a:off x="2014" y="137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20552" name="Rectangle 24"/>
            <p:cNvSpPr>
              <a:spLocks noChangeArrowheads="1"/>
            </p:cNvSpPr>
            <p:nvPr/>
          </p:nvSpPr>
          <p:spPr bwMode="auto">
            <a:xfrm>
              <a:off x="2516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Rectangle 25"/>
            <p:cNvSpPr>
              <a:spLocks noChangeArrowheads="1"/>
            </p:cNvSpPr>
            <p:nvPr/>
          </p:nvSpPr>
          <p:spPr bwMode="auto">
            <a:xfrm>
              <a:off x="2516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Rectangle 26"/>
            <p:cNvSpPr>
              <a:spLocks noChangeArrowheads="1"/>
            </p:cNvSpPr>
            <p:nvPr/>
          </p:nvSpPr>
          <p:spPr bwMode="auto">
            <a:xfrm>
              <a:off x="2566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Rectangle 27"/>
            <p:cNvSpPr>
              <a:spLocks noChangeArrowheads="1"/>
            </p:cNvSpPr>
            <p:nvPr/>
          </p:nvSpPr>
          <p:spPr bwMode="auto">
            <a:xfrm>
              <a:off x="2667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20556" name="Rectangle 28"/>
            <p:cNvSpPr>
              <a:spLocks noChangeArrowheads="1"/>
            </p:cNvSpPr>
            <p:nvPr/>
          </p:nvSpPr>
          <p:spPr bwMode="auto">
            <a:xfrm>
              <a:off x="1863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Rectangle 29"/>
            <p:cNvSpPr>
              <a:spLocks noChangeArrowheads="1"/>
            </p:cNvSpPr>
            <p:nvPr/>
          </p:nvSpPr>
          <p:spPr bwMode="auto">
            <a:xfrm>
              <a:off x="1863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Rectangle 30"/>
            <p:cNvSpPr>
              <a:spLocks noChangeArrowheads="1"/>
            </p:cNvSpPr>
            <p:nvPr/>
          </p:nvSpPr>
          <p:spPr bwMode="auto">
            <a:xfrm>
              <a:off x="1913" y="665"/>
              <a:ext cx="302" cy="50"/>
            </a:xfrm>
            <a:prstGeom prst="rect">
              <a:avLst/>
            </a:prstGeom>
            <a:solidFill>
              <a:srgbClr val="FF66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Rectangle 31"/>
            <p:cNvSpPr>
              <a:spLocks noChangeArrowheads="1"/>
            </p:cNvSpPr>
            <p:nvPr/>
          </p:nvSpPr>
          <p:spPr bwMode="auto">
            <a:xfrm>
              <a:off x="2215" y="715"/>
              <a:ext cx="50" cy="302"/>
            </a:xfrm>
            <a:prstGeom prst="rect">
              <a:avLst/>
            </a:prstGeom>
            <a:solidFill>
              <a:srgbClr val="33FF33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Rectangle 32"/>
            <p:cNvSpPr>
              <a:spLocks noChangeArrowheads="1"/>
            </p:cNvSpPr>
            <p:nvPr/>
          </p:nvSpPr>
          <p:spPr bwMode="auto">
            <a:xfrm>
              <a:off x="2014" y="775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20561" name="Rectangle 33"/>
            <p:cNvSpPr>
              <a:spLocks noChangeArrowheads="1"/>
            </p:cNvSpPr>
            <p:nvPr/>
          </p:nvSpPr>
          <p:spPr bwMode="auto">
            <a:xfrm>
              <a:off x="1210" y="665"/>
              <a:ext cx="402" cy="40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Rectangle 34"/>
            <p:cNvSpPr>
              <a:spLocks noChangeArrowheads="1"/>
            </p:cNvSpPr>
            <p:nvPr/>
          </p:nvSpPr>
          <p:spPr bwMode="auto">
            <a:xfrm>
              <a:off x="1260" y="665"/>
              <a:ext cx="302" cy="50"/>
            </a:xfrm>
            <a:prstGeom prst="rect">
              <a:avLst/>
            </a:prstGeom>
            <a:solidFill>
              <a:srgbClr val="FF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Rectangle 35"/>
            <p:cNvSpPr>
              <a:spLocks noChangeArrowheads="1"/>
            </p:cNvSpPr>
            <p:nvPr/>
          </p:nvSpPr>
          <p:spPr bwMode="auto">
            <a:xfrm>
              <a:off x="1562" y="715"/>
              <a:ext cx="50" cy="302"/>
            </a:xfrm>
            <a:prstGeom prst="rect">
              <a:avLst/>
            </a:prstGeom>
            <a:solidFill>
              <a:srgbClr val="FFFF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Rectangle 36"/>
            <p:cNvSpPr>
              <a:spLocks noChangeArrowheads="1"/>
            </p:cNvSpPr>
            <p:nvPr/>
          </p:nvSpPr>
          <p:spPr bwMode="auto">
            <a:xfrm>
              <a:off x="1361" y="775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</p:grpSp>
      <p:grpSp>
        <p:nvGrpSpPr>
          <p:cNvPr id="3" name="Group 38"/>
          <p:cNvGrpSpPr>
            <a:grpSpLocks noChangeAspect="1"/>
          </p:cNvGrpSpPr>
          <p:nvPr/>
        </p:nvGrpSpPr>
        <p:grpSpPr bwMode="auto">
          <a:xfrm>
            <a:off x="1143000" y="3886200"/>
            <a:ext cx="2260600" cy="2260600"/>
            <a:chOff x="720" y="2448"/>
            <a:chExt cx="1424" cy="1424"/>
          </a:xfrm>
        </p:grpSpPr>
        <p:sp>
          <p:nvSpPr>
            <p:cNvPr id="20489" name="AutoShape 37"/>
            <p:cNvSpPr>
              <a:spLocks noChangeAspect="1" noChangeArrowheads="1" noTextEdit="1"/>
            </p:cNvSpPr>
            <p:nvPr/>
          </p:nvSpPr>
          <p:spPr bwMode="auto">
            <a:xfrm>
              <a:off x="720" y="2448"/>
              <a:ext cx="1424" cy="1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Rectangle 39"/>
            <p:cNvSpPr>
              <a:spLocks noChangeArrowheads="1"/>
            </p:cNvSpPr>
            <p:nvPr/>
          </p:nvSpPr>
          <p:spPr bwMode="auto">
            <a:xfrm>
              <a:off x="720" y="3392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Rectangle 40"/>
            <p:cNvSpPr>
              <a:spLocks noChangeArrowheads="1"/>
            </p:cNvSpPr>
            <p:nvPr/>
          </p:nvSpPr>
          <p:spPr bwMode="auto">
            <a:xfrm>
              <a:off x="776" y="3392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Rectangle 41"/>
            <p:cNvSpPr>
              <a:spLocks noChangeArrowheads="1"/>
            </p:cNvSpPr>
            <p:nvPr/>
          </p:nvSpPr>
          <p:spPr bwMode="auto">
            <a:xfrm>
              <a:off x="1128" y="3448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Rectangle 42"/>
            <p:cNvSpPr>
              <a:spLocks noChangeArrowheads="1"/>
            </p:cNvSpPr>
            <p:nvPr/>
          </p:nvSpPr>
          <p:spPr bwMode="auto">
            <a:xfrm>
              <a:off x="888" y="3528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a</a:t>
              </a:r>
              <a:endParaRPr lang="en-US"/>
            </a:p>
          </p:txBody>
        </p:sp>
        <p:sp>
          <p:nvSpPr>
            <p:cNvPr id="20494" name="Rectangle 43"/>
            <p:cNvSpPr>
              <a:spLocks noChangeArrowheads="1"/>
            </p:cNvSpPr>
            <p:nvPr/>
          </p:nvSpPr>
          <p:spPr bwMode="auto">
            <a:xfrm>
              <a:off x="720" y="2920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Rectangle 44"/>
            <p:cNvSpPr>
              <a:spLocks noChangeArrowheads="1"/>
            </p:cNvSpPr>
            <p:nvPr/>
          </p:nvSpPr>
          <p:spPr bwMode="auto">
            <a:xfrm>
              <a:off x="1128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Rectangle 45"/>
            <p:cNvSpPr>
              <a:spLocks noChangeArrowheads="1"/>
            </p:cNvSpPr>
            <p:nvPr/>
          </p:nvSpPr>
          <p:spPr bwMode="auto">
            <a:xfrm>
              <a:off x="776" y="3336"/>
              <a:ext cx="352" cy="5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Rectangle 46"/>
            <p:cNvSpPr>
              <a:spLocks noChangeArrowheads="1"/>
            </p:cNvSpPr>
            <p:nvPr/>
          </p:nvSpPr>
          <p:spPr bwMode="auto">
            <a:xfrm>
              <a:off x="1184" y="3392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Rectangle 47"/>
            <p:cNvSpPr>
              <a:spLocks noChangeArrowheads="1"/>
            </p:cNvSpPr>
            <p:nvPr/>
          </p:nvSpPr>
          <p:spPr bwMode="auto">
            <a:xfrm>
              <a:off x="1184" y="3448"/>
              <a:ext cx="56" cy="352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Rectangle 48"/>
            <p:cNvSpPr>
              <a:spLocks noChangeArrowheads="1"/>
            </p:cNvSpPr>
            <p:nvPr/>
          </p:nvSpPr>
          <p:spPr bwMode="auto">
            <a:xfrm>
              <a:off x="1240" y="3392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Rectangle 49"/>
            <p:cNvSpPr>
              <a:spLocks noChangeArrowheads="1"/>
            </p:cNvSpPr>
            <p:nvPr/>
          </p:nvSpPr>
          <p:spPr bwMode="auto">
            <a:xfrm>
              <a:off x="1600" y="3448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Rectangle 50"/>
            <p:cNvSpPr>
              <a:spLocks noChangeArrowheads="1"/>
            </p:cNvSpPr>
            <p:nvPr/>
          </p:nvSpPr>
          <p:spPr bwMode="auto">
            <a:xfrm>
              <a:off x="1656" y="3392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Rectangle 51"/>
            <p:cNvSpPr>
              <a:spLocks noChangeArrowheads="1"/>
            </p:cNvSpPr>
            <p:nvPr/>
          </p:nvSpPr>
          <p:spPr bwMode="auto">
            <a:xfrm>
              <a:off x="1656" y="3448"/>
              <a:ext cx="56" cy="352"/>
            </a:xfrm>
            <a:prstGeom prst="rect">
              <a:avLst/>
            </a:prstGeom>
            <a:solidFill>
              <a:srgbClr val="33FF3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Rectangle 52"/>
            <p:cNvSpPr>
              <a:spLocks noChangeArrowheads="1"/>
            </p:cNvSpPr>
            <p:nvPr/>
          </p:nvSpPr>
          <p:spPr bwMode="auto">
            <a:xfrm>
              <a:off x="1712" y="3392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Rectangle 53"/>
            <p:cNvSpPr>
              <a:spLocks noChangeArrowheads="1"/>
            </p:cNvSpPr>
            <p:nvPr/>
          </p:nvSpPr>
          <p:spPr bwMode="auto">
            <a:xfrm>
              <a:off x="776" y="2920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Rectangle 54"/>
            <p:cNvSpPr>
              <a:spLocks noChangeArrowheads="1"/>
            </p:cNvSpPr>
            <p:nvPr/>
          </p:nvSpPr>
          <p:spPr bwMode="auto">
            <a:xfrm>
              <a:off x="720" y="2448"/>
              <a:ext cx="464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Rectangle 55"/>
            <p:cNvSpPr>
              <a:spLocks noChangeArrowheads="1"/>
            </p:cNvSpPr>
            <p:nvPr/>
          </p:nvSpPr>
          <p:spPr bwMode="auto">
            <a:xfrm>
              <a:off x="1128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Rectangle 56"/>
            <p:cNvSpPr>
              <a:spLocks noChangeArrowheads="1"/>
            </p:cNvSpPr>
            <p:nvPr/>
          </p:nvSpPr>
          <p:spPr bwMode="auto">
            <a:xfrm>
              <a:off x="776" y="2864"/>
              <a:ext cx="352" cy="56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Rectangle 57"/>
            <p:cNvSpPr>
              <a:spLocks noChangeArrowheads="1"/>
            </p:cNvSpPr>
            <p:nvPr/>
          </p:nvSpPr>
          <p:spPr bwMode="auto">
            <a:xfrm>
              <a:off x="1376" y="3528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b</a:t>
              </a:r>
              <a:endParaRPr lang="en-US"/>
            </a:p>
          </p:txBody>
        </p:sp>
        <p:sp>
          <p:nvSpPr>
            <p:cNvPr id="20509" name="Rectangle 58"/>
            <p:cNvSpPr>
              <a:spLocks noChangeArrowheads="1"/>
            </p:cNvSpPr>
            <p:nvPr/>
          </p:nvSpPr>
          <p:spPr bwMode="auto">
            <a:xfrm>
              <a:off x="1840" y="3528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c</a:t>
              </a:r>
              <a:endParaRPr lang="en-US"/>
            </a:p>
          </p:txBody>
        </p:sp>
        <p:sp>
          <p:nvSpPr>
            <p:cNvPr id="20510" name="Rectangle 59"/>
            <p:cNvSpPr>
              <a:spLocks noChangeArrowheads="1"/>
            </p:cNvSpPr>
            <p:nvPr/>
          </p:nvSpPr>
          <p:spPr bwMode="auto">
            <a:xfrm>
              <a:off x="904" y="3056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d</a:t>
              </a:r>
              <a:endParaRPr lang="en-US"/>
            </a:p>
          </p:txBody>
        </p:sp>
        <p:sp>
          <p:nvSpPr>
            <p:cNvPr id="20511" name="Rectangle 60"/>
            <p:cNvSpPr>
              <a:spLocks noChangeArrowheads="1"/>
            </p:cNvSpPr>
            <p:nvPr/>
          </p:nvSpPr>
          <p:spPr bwMode="auto">
            <a:xfrm>
              <a:off x="904" y="2592"/>
              <a:ext cx="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e</a:t>
              </a:r>
              <a:endParaRPr lang="en-US"/>
            </a:p>
          </p:txBody>
        </p:sp>
        <p:sp>
          <p:nvSpPr>
            <p:cNvPr id="20512" name="Rectangle 61"/>
            <p:cNvSpPr>
              <a:spLocks noChangeArrowheads="1"/>
            </p:cNvSpPr>
            <p:nvPr/>
          </p:nvSpPr>
          <p:spPr bwMode="auto">
            <a:xfrm>
              <a:off x="1184" y="2920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Rectangle 62"/>
            <p:cNvSpPr>
              <a:spLocks noChangeArrowheads="1"/>
            </p:cNvSpPr>
            <p:nvPr/>
          </p:nvSpPr>
          <p:spPr bwMode="auto">
            <a:xfrm>
              <a:off x="1184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Rectangle 63"/>
            <p:cNvSpPr>
              <a:spLocks noChangeArrowheads="1"/>
            </p:cNvSpPr>
            <p:nvPr/>
          </p:nvSpPr>
          <p:spPr bwMode="auto">
            <a:xfrm>
              <a:off x="1240" y="2920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Rectangle 64"/>
            <p:cNvSpPr>
              <a:spLocks noChangeArrowheads="1"/>
            </p:cNvSpPr>
            <p:nvPr/>
          </p:nvSpPr>
          <p:spPr bwMode="auto">
            <a:xfrm>
              <a:off x="1240" y="3336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Rectangle 65"/>
            <p:cNvSpPr>
              <a:spLocks noChangeArrowheads="1"/>
            </p:cNvSpPr>
            <p:nvPr/>
          </p:nvSpPr>
          <p:spPr bwMode="auto">
            <a:xfrm>
              <a:off x="1600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Rectangle 66"/>
            <p:cNvSpPr>
              <a:spLocks noChangeArrowheads="1"/>
            </p:cNvSpPr>
            <p:nvPr/>
          </p:nvSpPr>
          <p:spPr bwMode="auto">
            <a:xfrm>
              <a:off x="1376" y="3048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18" name="Rectangle 67"/>
            <p:cNvSpPr>
              <a:spLocks noChangeArrowheads="1"/>
            </p:cNvSpPr>
            <p:nvPr/>
          </p:nvSpPr>
          <p:spPr bwMode="auto">
            <a:xfrm>
              <a:off x="1656" y="2920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Rectangle 68"/>
            <p:cNvSpPr>
              <a:spLocks noChangeArrowheads="1"/>
            </p:cNvSpPr>
            <p:nvPr/>
          </p:nvSpPr>
          <p:spPr bwMode="auto">
            <a:xfrm>
              <a:off x="1656" y="2976"/>
              <a:ext cx="56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Rectangle 69"/>
            <p:cNvSpPr>
              <a:spLocks noChangeArrowheads="1"/>
            </p:cNvSpPr>
            <p:nvPr/>
          </p:nvSpPr>
          <p:spPr bwMode="auto">
            <a:xfrm>
              <a:off x="1712" y="2920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Rectangle 70"/>
            <p:cNvSpPr>
              <a:spLocks noChangeArrowheads="1"/>
            </p:cNvSpPr>
            <p:nvPr/>
          </p:nvSpPr>
          <p:spPr bwMode="auto">
            <a:xfrm>
              <a:off x="1712" y="3336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Rectangle 71"/>
            <p:cNvSpPr>
              <a:spLocks noChangeArrowheads="1"/>
            </p:cNvSpPr>
            <p:nvPr/>
          </p:nvSpPr>
          <p:spPr bwMode="auto">
            <a:xfrm>
              <a:off x="2064" y="2976"/>
              <a:ext cx="64" cy="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Rectangle 72"/>
            <p:cNvSpPr>
              <a:spLocks noChangeArrowheads="1"/>
            </p:cNvSpPr>
            <p:nvPr/>
          </p:nvSpPr>
          <p:spPr bwMode="auto">
            <a:xfrm>
              <a:off x="1840" y="3048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24" name="Rectangle 73"/>
            <p:cNvSpPr>
              <a:spLocks noChangeArrowheads="1"/>
            </p:cNvSpPr>
            <p:nvPr/>
          </p:nvSpPr>
          <p:spPr bwMode="auto">
            <a:xfrm>
              <a:off x="1184" y="2448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Rectangle 74"/>
            <p:cNvSpPr>
              <a:spLocks noChangeArrowheads="1"/>
            </p:cNvSpPr>
            <p:nvPr/>
          </p:nvSpPr>
          <p:spPr bwMode="auto">
            <a:xfrm>
              <a:off x="1184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Rectangle 75"/>
            <p:cNvSpPr>
              <a:spLocks noChangeArrowheads="1"/>
            </p:cNvSpPr>
            <p:nvPr/>
          </p:nvSpPr>
          <p:spPr bwMode="auto">
            <a:xfrm>
              <a:off x="1240" y="2448"/>
              <a:ext cx="360" cy="6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Rectangle 76"/>
            <p:cNvSpPr>
              <a:spLocks noChangeArrowheads="1"/>
            </p:cNvSpPr>
            <p:nvPr/>
          </p:nvSpPr>
          <p:spPr bwMode="auto">
            <a:xfrm>
              <a:off x="1240" y="2864"/>
              <a:ext cx="360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Rectangle 77"/>
            <p:cNvSpPr>
              <a:spLocks noChangeArrowheads="1"/>
            </p:cNvSpPr>
            <p:nvPr/>
          </p:nvSpPr>
          <p:spPr bwMode="auto">
            <a:xfrm>
              <a:off x="1600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Rectangle 78"/>
            <p:cNvSpPr>
              <a:spLocks noChangeArrowheads="1"/>
            </p:cNvSpPr>
            <p:nvPr/>
          </p:nvSpPr>
          <p:spPr bwMode="auto">
            <a:xfrm>
              <a:off x="1376" y="2576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  <p:sp>
          <p:nvSpPr>
            <p:cNvPr id="20530" name="Rectangle 79"/>
            <p:cNvSpPr>
              <a:spLocks noChangeArrowheads="1"/>
            </p:cNvSpPr>
            <p:nvPr/>
          </p:nvSpPr>
          <p:spPr bwMode="auto">
            <a:xfrm>
              <a:off x="1656" y="2448"/>
              <a:ext cx="472" cy="47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Rectangle 80"/>
            <p:cNvSpPr>
              <a:spLocks noChangeArrowheads="1"/>
            </p:cNvSpPr>
            <p:nvPr/>
          </p:nvSpPr>
          <p:spPr bwMode="auto">
            <a:xfrm>
              <a:off x="1656" y="2512"/>
              <a:ext cx="56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Rectangle 81"/>
            <p:cNvSpPr>
              <a:spLocks noChangeArrowheads="1"/>
            </p:cNvSpPr>
            <p:nvPr/>
          </p:nvSpPr>
          <p:spPr bwMode="auto">
            <a:xfrm>
              <a:off x="1712" y="2448"/>
              <a:ext cx="352" cy="6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Rectangle 82"/>
            <p:cNvSpPr>
              <a:spLocks noChangeArrowheads="1"/>
            </p:cNvSpPr>
            <p:nvPr/>
          </p:nvSpPr>
          <p:spPr bwMode="auto">
            <a:xfrm>
              <a:off x="1712" y="2864"/>
              <a:ext cx="352" cy="56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Rectangle 83"/>
            <p:cNvSpPr>
              <a:spLocks noChangeArrowheads="1"/>
            </p:cNvSpPr>
            <p:nvPr/>
          </p:nvSpPr>
          <p:spPr bwMode="auto">
            <a:xfrm>
              <a:off x="2064" y="2512"/>
              <a:ext cx="64" cy="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Rectangle 84"/>
            <p:cNvSpPr>
              <a:spLocks noChangeArrowheads="1"/>
            </p:cNvSpPr>
            <p:nvPr/>
          </p:nvSpPr>
          <p:spPr bwMode="auto">
            <a:xfrm>
              <a:off x="1840" y="2576"/>
              <a:ext cx="152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x</a:t>
              </a:r>
              <a:endParaRPr lang="en-US"/>
            </a:p>
          </p:txBody>
        </p:sp>
      </p:grpSp>
      <p:sp>
        <p:nvSpPr>
          <p:cNvPr id="20487" name="Line 85"/>
          <p:cNvSpPr>
            <a:spLocks noChangeShapeType="1"/>
          </p:cNvSpPr>
          <p:nvPr/>
        </p:nvSpPr>
        <p:spPr bwMode="auto">
          <a:xfrm>
            <a:off x="0" y="2819400"/>
            <a:ext cx="647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8" name="Text Box 86"/>
          <p:cNvSpPr txBox="1">
            <a:spLocks noChangeArrowheads="1"/>
          </p:cNvSpPr>
          <p:nvPr/>
        </p:nvSpPr>
        <p:spPr bwMode="auto">
          <a:xfrm>
            <a:off x="0" y="0"/>
            <a:ext cx="914400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 smtClean="0"/>
              <a:t>Tile </a:t>
            </a:r>
            <a:r>
              <a:rPr lang="en-US" sz="2800" dirty="0"/>
              <a:t>Assembly Model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Rothemund</a:t>
            </a:r>
            <a:r>
              <a:rPr lang="en-US" dirty="0"/>
              <a:t>, </a:t>
            </a:r>
            <a:r>
              <a:rPr lang="en-US" dirty="0" err="1"/>
              <a:t>Winfree</a:t>
            </a:r>
            <a:r>
              <a:rPr lang="en-US" dirty="0"/>
              <a:t>, </a:t>
            </a:r>
            <a:r>
              <a:rPr lang="en-US" dirty="0" err="1"/>
              <a:t>Adleman</a:t>
            </a:r>
            <a:r>
              <a:rPr lang="en-US" dirty="0"/>
              <a:t>)</a:t>
            </a:r>
          </a:p>
          <a:p>
            <a:pPr algn="ctr"/>
            <a:endParaRPr lang="en-US" sz="2800" dirty="0"/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6629400" y="949325"/>
            <a:ext cx="2514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FF00"/>
                </a:solidFill>
              </a:rPr>
              <a:t>y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00FF00"/>
                </a:solidFill>
              </a:rPr>
              <a:t>g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CC0000"/>
                </a:solidFill>
              </a:rPr>
              <a:t>r</a:t>
            </a:r>
            <a:r>
              <a:rPr lang="en-US" sz="2800" b="1" dirty="0"/>
              <a:t>) 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800" b="1" dirty="0"/>
              <a:t>)   = </a:t>
            </a:r>
            <a:r>
              <a:rPr lang="en-US" sz="2800" b="1" dirty="0" smtClean="0"/>
              <a:t>100%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rgbClr val="FF0066"/>
                </a:solidFill>
              </a:rPr>
              <a:t>p</a:t>
            </a:r>
            <a:r>
              <a:rPr lang="en-US" sz="2800" b="1" dirty="0"/>
              <a:t>)   = 5</a:t>
            </a:r>
            <a:r>
              <a:rPr lang="en-US" sz="2800" b="1" dirty="0" smtClean="0"/>
              <a:t>0%</a:t>
            </a:r>
            <a:endParaRPr lang="en-US" sz="2800" b="1" dirty="0"/>
          </a:p>
          <a:p>
            <a:r>
              <a:rPr lang="en-US" sz="2800" b="1" dirty="0"/>
              <a:t>G(</a:t>
            </a:r>
            <a:r>
              <a:rPr lang="en-US" sz="2800" b="1" dirty="0">
                <a:solidFill>
                  <a:schemeClr val="bg1"/>
                </a:solidFill>
              </a:rPr>
              <a:t>w</a:t>
            </a:r>
            <a:r>
              <a:rPr lang="en-US" sz="2800" b="1" dirty="0"/>
              <a:t>)  = </a:t>
            </a:r>
            <a:r>
              <a:rPr lang="en-US" sz="2800" b="1" dirty="0" smtClean="0"/>
              <a:t>50%</a:t>
            </a:r>
            <a:endParaRPr 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800305" y="4607351"/>
            <a:ext cx="5223546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What is this model capable above?</a:t>
            </a:r>
          </a:p>
          <a:p>
            <a:r>
              <a:rPr lang="en-US" sz="2400" b="1" dirty="0" smtClean="0"/>
              <a:t>  -efficient assembly of shapes/patterns</a:t>
            </a:r>
          </a:p>
          <a:p>
            <a:r>
              <a:rPr lang="en-US" sz="2400" b="1" dirty="0"/>
              <a:t>  </a:t>
            </a:r>
            <a:r>
              <a:rPr lang="en-US" sz="2400" b="1" dirty="0" smtClean="0"/>
              <a:t>-shape and pattern replication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-</a:t>
            </a:r>
            <a:r>
              <a:rPr lang="en-US" sz="2800" b="1" dirty="0" smtClean="0">
                <a:solidFill>
                  <a:srgbClr val="C00000"/>
                </a:solidFill>
              </a:rPr>
              <a:t>computation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endParaRPr lang="en-US" sz="2400" b="1" dirty="0" smtClean="0"/>
          </a:p>
          <a:p>
            <a:r>
              <a:rPr lang="en-US" sz="2400" b="1" dirty="0"/>
              <a:t>	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358493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1295400" y="793750"/>
            <a:ext cx="1828800" cy="3200400"/>
          </a:xfrm>
          <a:prstGeom prst="can">
            <a:avLst>
              <a:gd name="adj" fmla="val 14932"/>
            </a:avLst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24000" y="34607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76400" y="34607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828800" y="34607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981200" y="34607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743200" y="30035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209800" y="17081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362200" y="17081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209800" y="18605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371600" y="18605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371600" y="20129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981200" y="31559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981200" y="33083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524000" y="18605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524000" y="20129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743200" y="26987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2743200" y="28511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2438400" y="33083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2590800" y="3308350"/>
            <a:ext cx="1524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2286000" y="2774950"/>
            <a:ext cx="225425" cy="231775"/>
            <a:chOff x="1296" y="1680"/>
            <a:chExt cx="142" cy="146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296" y="1680"/>
              <a:ext cx="142" cy="1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419" y="1700"/>
              <a:ext cx="19" cy="10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1296" y="1700"/>
              <a:ext cx="19" cy="10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 rot="-5400000">
              <a:off x="1357" y="1638"/>
              <a:ext cx="20" cy="104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 rot="-5400000">
              <a:off x="1357" y="1764"/>
              <a:ext cx="20" cy="10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2286000" y="2317750"/>
            <a:ext cx="225425" cy="231775"/>
            <a:chOff x="1488" y="1776"/>
            <a:chExt cx="142" cy="146"/>
          </a:xfrm>
        </p:grpSpPr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1488" y="1776"/>
              <a:ext cx="142" cy="1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600"/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1611" y="1796"/>
              <a:ext cx="19" cy="106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1488" y="1796"/>
              <a:ext cx="19" cy="10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 rot="-5400000">
              <a:off x="1549" y="1734"/>
              <a:ext cx="20" cy="10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 rot="-5400000">
              <a:off x="1549" y="1860"/>
              <a:ext cx="20" cy="104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" name="Group 33"/>
          <p:cNvGrpSpPr>
            <a:grpSpLocks/>
          </p:cNvGrpSpPr>
          <p:nvPr/>
        </p:nvGrpSpPr>
        <p:grpSpPr bwMode="auto">
          <a:xfrm>
            <a:off x="1905000" y="2622550"/>
            <a:ext cx="223838" cy="231775"/>
            <a:chOff x="969" y="1812"/>
            <a:chExt cx="141" cy="146"/>
          </a:xfrm>
        </p:grpSpPr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969" y="1812"/>
              <a:ext cx="141" cy="1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600"/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1091" y="1832"/>
              <a:ext cx="19" cy="10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969" y="1832"/>
              <a:ext cx="19" cy="106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37"/>
            <p:cNvSpPr>
              <a:spLocks noChangeArrowheads="1"/>
            </p:cNvSpPr>
            <p:nvPr/>
          </p:nvSpPr>
          <p:spPr bwMode="auto">
            <a:xfrm rot="-5400000">
              <a:off x="1030" y="1770"/>
              <a:ext cx="20" cy="1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Rectangle 38"/>
            <p:cNvSpPr>
              <a:spLocks noChangeArrowheads="1"/>
            </p:cNvSpPr>
            <p:nvPr/>
          </p:nvSpPr>
          <p:spPr bwMode="auto">
            <a:xfrm rot="-5400000">
              <a:off x="1030" y="1896"/>
              <a:ext cx="20" cy="103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39"/>
          <p:cNvGrpSpPr>
            <a:grpSpLocks/>
          </p:cNvGrpSpPr>
          <p:nvPr/>
        </p:nvGrpSpPr>
        <p:grpSpPr bwMode="auto">
          <a:xfrm>
            <a:off x="1752600" y="2241550"/>
            <a:ext cx="225425" cy="233363"/>
            <a:chOff x="1104" y="1584"/>
            <a:chExt cx="142" cy="147"/>
          </a:xfrm>
        </p:grpSpPr>
        <p:sp>
          <p:nvSpPr>
            <p:cNvPr id="40" name="Rectangle 40"/>
            <p:cNvSpPr>
              <a:spLocks noChangeArrowheads="1"/>
            </p:cNvSpPr>
            <p:nvPr/>
          </p:nvSpPr>
          <p:spPr bwMode="auto">
            <a:xfrm>
              <a:off x="1104" y="1584"/>
              <a:ext cx="142" cy="14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1600"/>
            </a:p>
          </p:txBody>
        </p:sp>
        <p:sp>
          <p:nvSpPr>
            <p:cNvPr id="41" name="Rectangle 41"/>
            <p:cNvSpPr>
              <a:spLocks noChangeArrowheads="1"/>
            </p:cNvSpPr>
            <p:nvPr/>
          </p:nvSpPr>
          <p:spPr bwMode="auto">
            <a:xfrm>
              <a:off x="1227" y="1604"/>
              <a:ext cx="19" cy="107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42"/>
            <p:cNvSpPr>
              <a:spLocks noChangeArrowheads="1"/>
            </p:cNvSpPr>
            <p:nvPr/>
          </p:nvSpPr>
          <p:spPr bwMode="auto">
            <a:xfrm>
              <a:off x="1104" y="1604"/>
              <a:ext cx="19" cy="107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 rot="-5400000">
              <a:off x="1165" y="1542"/>
              <a:ext cx="20" cy="104"/>
            </a:xfrm>
            <a:prstGeom prst="rect">
              <a:avLst/>
            </a:prstGeom>
            <a:solidFill>
              <a:srgbClr val="99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44"/>
            <p:cNvSpPr>
              <a:spLocks noChangeArrowheads="1"/>
            </p:cNvSpPr>
            <p:nvPr/>
          </p:nvSpPr>
          <p:spPr bwMode="auto">
            <a:xfrm rot="-5400000">
              <a:off x="1165" y="1669"/>
              <a:ext cx="20" cy="104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1371600" y="1128713"/>
            <a:ext cx="1676400" cy="2746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/>
              <a:t>BEAKER</a:t>
            </a:r>
          </a:p>
        </p:txBody>
      </p:sp>
      <p:sp>
        <p:nvSpPr>
          <p:cNvPr id="46" name="Rectangle 2"/>
          <p:cNvSpPr>
            <a:spLocks noChangeArrowheads="1"/>
          </p:cNvSpPr>
          <p:nvPr/>
        </p:nvSpPr>
        <p:spPr bwMode="auto">
          <a:xfrm>
            <a:off x="63627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58293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52959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52959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58293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0</a:t>
            </a: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63627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68961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53" name="Rectangle 11"/>
          <p:cNvSpPr>
            <a:spLocks noChangeArrowheads="1"/>
          </p:cNvSpPr>
          <p:nvPr/>
        </p:nvSpPr>
        <p:spPr bwMode="auto">
          <a:xfrm>
            <a:off x="7429500" y="3093172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0</a:t>
            </a:r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7962900" y="3093172"/>
            <a:ext cx="533400" cy="6858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  <a:latin typeface="Arial" charset="0"/>
              </a:rPr>
              <a:t>_</a:t>
            </a:r>
          </a:p>
        </p:txBody>
      </p:sp>
      <p:sp>
        <p:nvSpPr>
          <p:cNvPr id="55" name="Line 13"/>
          <p:cNvSpPr>
            <a:spLocks noChangeShapeType="1"/>
          </p:cNvSpPr>
          <p:nvPr/>
        </p:nvSpPr>
        <p:spPr bwMode="auto">
          <a:xfrm>
            <a:off x="5295900" y="3778972"/>
            <a:ext cx="3429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" name="Group 18"/>
          <p:cNvGrpSpPr>
            <a:grpSpLocks/>
          </p:cNvGrpSpPr>
          <p:nvPr/>
        </p:nvGrpSpPr>
        <p:grpSpPr bwMode="auto">
          <a:xfrm>
            <a:off x="5219700" y="1035772"/>
            <a:ext cx="1809750" cy="2057400"/>
            <a:chOff x="1296" y="960"/>
            <a:chExt cx="1140" cy="1296"/>
          </a:xfrm>
        </p:grpSpPr>
        <p:sp>
          <p:nvSpPr>
            <p:cNvPr id="57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AutoShape 20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59" name="Text Box 21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3</a:t>
              </a:r>
            </a:p>
          </p:txBody>
        </p:sp>
      </p:grpSp>
      <p:grpSp>
        <p:nvGrpSpPr>
          <p:cNvPr id="60" name="Group 22"/>
          <p:cNvGrpSpPr>
            <a:grpSpLocks/>
          </p:cNvGrpSpPr>
          <p:nvPr/>
        </p:nvGrpSpPr>
        <p:grpSpPr bwMode="auto">
          <a:xfrm>
            <a:off x="5219700" y="1035772"/>
            <a:ext cx="1809750" cy="2057400"/>
            <a:chOff x="1296" y="960"/>
            <a:chExt cx="1140" cy="1296"/>
          </a:xfrm>
        </p:grpSpPr>
        <p:sp>
          <p:nvSpPr>
            <p:cNvPr id="61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AutoShape 24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2</a:t>
              </a:r>
            </a:p>
          </p:txBody>
        </p:sp>
      </p:grpSp>
      <p:grpSp>
        <p:nvGrpSpPr>
          <p:cNvPr id="64" name="Group 34"/>
          <p:cNvGrpSpPr>
            <a:grpSpLocks/>
          </p:cNvGrpSpPr>
          <p:nvPr/>
        </p:nvGrpSpPr>
        <p:grpSpPr bwMode="auto">
          <a:xfrm>
            <a:off x="5219700" y="1035772"/>
            <a:ext cx="1809750" cy="2057400"/>
            <a:chOff x="1296" y="960"/>
            <a:chExt cx="1140" cy="1296"/>
          </a:xfrm>
        </p:grpSpPr>
        <p:sp>
          <p:nvSpPr>
            <p:cNvPr id="65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AutoShape 36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7" name="Text Box 37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2</a:t>
              </a:r>
            </a:p>
          </p:txBody>
        </p:sp>
      </p:grpSp>
      <p:grpSp>
        <p:nvGrpSpPr>
          <p:cNvPr id="68" name="Group 38"/>
          <p:cNvGrpSpPr>
            <a:grpSpLocks/>
          </p:cNvGrpSpPr>
          <p:nvPr/>
        </p:nvGrpSpPr>
        <p:grpSpPr bwMode="auto">
          <a:xfrm>
            <a:off x="5219700" y="1035772"/>
            <a:ext cx="1809750" cy="2057400"/>
            <a:chOff x="1296" y="960"/>
            <a:chExt cx="1140" cy="1296"/>
          </a:xfrm>
        </p:grpSpPr>
        <p:sp>
          <p:nvSpPr>
            <p:cNvPr id="69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AutoShape 40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71" name="Text Box 41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3</a:t>
              </a:r>
            </a:p>
          </p:txBody>
        </p:sp>
      </p:grpSp>
      <p:sp>
        <p:nvSpPr>
          <p:cNvPr id="72" name="Line 43"/>
          <p:cNvSpPr>
            <a:spLocks noChangeShapeType="1"/>
          </p:cNvSpPr>
          <p:nvPr/>
        </p:nvSpPr>
        <p:spPr bwMode="auto">
          <a:xfrm>
            <a:off x="5295900" y="3093172"/>
            <a:ext cx="3429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45"/>
          <p:cNvSpPr>
            <a:spLocks noChangeShapeType="1"/>
          </p:cNvSpPr>
          <p:nvPr/>
        </p:nvSpPr>
        <p:spPr bwMode="auto">
          <a:xfrm>
            <a:off x="5295900" y="3093172"/>
            <a:ext cx="0" cy="685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530444" y="4876800"/>
            <a:ext cx="8381999" cy="5847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Goal: Scalable, universal molecular computation</a:t>
            </a:r>
            <a:endParaRPr lang="en-US" sz="3200" b="1" dirty="0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3768436" y="2459037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38200" y="5481935"/>
            <a:ext cx="74117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-More than just a (really cool) computer</a:t>
            </a:r>
          </a:p>
          <a:p>
            <a:r>
              <a:rPr lang="en-US" sz="2400" b="1" dirty="0"/>
              <a:t>-Algorithmic manipulation of matter at the </a:t>
            </a:r>
            <a:r>
              <a:rPr lang="en-US" sz="2400" b="1" dirty="0" err="1"/>
              <a:t>nanoscale</a:t>
            </a: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6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leset_tilted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5858915" y="1064447"/>
            <a:ext cx="1524000" cy="304800"/>
          </a:xfrm>
          <a:prstGeom prst="rect">
            <a:avLst/>
          </a:prstGeom>
        </p:spPr>
      </p:pic>
      <p:pic>
        <p:nvPicPr>
          <p:cNvPr id="7" name="Picture 6" descr="partial_growth_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 rot="18900000">
            <a:off x="4358739" y="1538289"/>
            <a:ext cx="5016500" cy="4000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Simulation of Cellular Automata</a:t>
            </a:r>
            <a:endParaRPr lang="en-US" dirty="0"/>
          </a:p>
        </p:txBody>
      </p:sp>
      <p:pic>
        <p:nvPicPr>
          <p:cNvPr id="6" name="Picture 5" descr="Screen shot 2012-06-05 at 1.01.38 P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24" y="1561571"/>
            <a:ext cx="4092746" cy="36284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06916" y="6444734"/>
            <a:ext cx="3551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Slide stolen from: Andrew Winslow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3124" y="5345668"/>
            <a:ext cx="3924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Rothemund</a:t>
            </a:r>
            <a:r>
              <a:rPr lang="en-US" dirty="0" smtClean="0"/>
              <a:t>, </a:t>
            </a:r>
            <a:r>
              <a:rPr lang="en-US" dirty="0" err="1" smtClean="0"/>
              <a:t>Papadakis</a:t>
            </a:r>
            <a:r>
              <a:rPr lang="en-US" dirty="0" smtClean="0"/>
              <a:t>, </a:t>
            </a:r>
            <a:r>
              <a:rPr lang="en-US" dirty="0" err="1" smtClean="0"/>
              <a:t>Winfree</a:t>
            </a:r>
            <a:r>
              <a:rPr lang="en-US" dirty="0" smtClean="0"/>
              <a:t>, 2004]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8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16291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10957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5623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30726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67813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Turing Machine simulation in the TAM</a:t>
            </a:r>
          </a:p>
        </p:txBody>
      </p:sp>
      <p:sp>
        <p:nvSpPr>
          <p:cNvPr id="275462" name="Rectangle 6"/>
          <p:cNvSpPr>
            <a:spLocks noChangeArrowheads="1"/>
          </p:cNvSpPr>
          <p:nvPr/>
        </p:nvSpPr>
        <p:spPr bwMode="auto">
          <a:xfrm>
            <a:off x="5623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275463" name="Rectangle 7"/>
          <p:cNvSpPr>
            <a:spLocks noChangeArrowheads="1"/>
          </p:cNvSpPr>
          <p:nvPr/>
        </p:nvSpPr>
        <p:spPr bwMode="auto">
          <a:xfrm>
            <a:off x="10957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0</a:t>
            </a:r>
          </a:p>
        </p:txBody>
      </p:sp>
      <p:sp>
        <p:nvSpPr>
          <p:cNvPr id="275464" name="Rectangle 8"/>
          <p:cNvSpPr>
            <a:spLocks noChangeArrowheads="1"/>
          </p:cNvSpPr>
          <p:nvPr/>
        </p:nvSpPr>
        <p:spPr bwMode="auto">
          <a:xfrm>
            <a:off x="16291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30730" name="Rectangle 9"/>
          <p:cNvSpPr>
            <a:spLocks noChangeArrowheads="1"/>
          </p:cNvSpPr>
          <p:nvPr/>
        </p:nvSpPr>
        <p:spPr bwMode="auto">
          <a:xfrm>
            <a:off x="215858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30732" name="Rectangle 11"/>
          <p:cNvSpPr>
            <a:spLocks noChangeArrowheads="1"/>
          </p:cNvSpPr>
          <p:nvPr/>
        </p:nvSpPr>
        <p:spPr bwMode="auto">
          <a:xfrm>
            <a:off x="2695945" y="52497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0</a:t>
            </a:r>
          </a:p>
        </p:txBody>
      </p:sp>
      <p:sp>
        <p:nvSpPr>
          <p:cNvPr id="275468" name="Rectangle 12"/>
          <p:cNvSpPr>
            <a:spLocks noChangeArrowheads="1"/>
          </p:cNvSpPr>
          <p:nvPr/>
        </p:nvSpPr>
        <p:spPr bwMode="auto">
          <a:xfrm>
            <a:off x="3229345" y="5249779"/>
            <a:ext cx="533400" cy="6858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  <a:latin typeface="Arial" charset="0"/>
              </a:rPr>
              <a:t>_</a:t>
            </a:r>
          </a:p>
        </p:txBody>
      </p:sp>
      <p:sp>
        <p:nvSpPr>
          <p:cNvPr id="30734" name="Line 13"/>
          <p:cNvSpPr>
            <a:spLocks noChangeShapeType="1"/>
          </p:cNvSpPr>
          <p:nvPr/>
        </p:nvSpPr>
        <p:spPr bwMode="auto">
          <a:xfrm>
            <a:off x="562345" y="5935579"/>
            <a:ext cx="3429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-47255" y="3192379"/>
            <a:ext cx="1809750" cy="2057400"/>
            <a:chOff x="1296" y="960"/>
            <a:chExt cx="1140" cy="1296"/>
          </a:xfrm>
        </p:grpSpPr>
        <p:sp>
          <p:nvSpPr>
            <p:cNvPr id="30800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AutoShape 16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802" name="Text Box 17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0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86145" y="3192379"/>
            <a:ext cx="1809750" cy="2057400"/>
            <a:chOff x="1296" y="960"/>
            <a:chExt cx="1140" cy="1296"/>
          </a:xfrm>
        </p:grpSpPr>
        <p:sp>
          <p:nvSpPr>
            <p:cNvPr id="30797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8" name="AutoShape 20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799" name="Text Box 21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3</a:t>
              </a: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486145" y="3192379"/>
            <a:ext cx="1809750" cy="2057400"/>
            <a:chOff x="1296" y="960"/>
            <a:chExt cx="1140" cy="1296"/>
          </a:xfrm>
        </p:grpSpPr>
        <p:sp>
          <p:nvSpPr>
            <p:cNvPr id="30794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AutoShape 24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796" name="Text Box 25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2</a:t>
              </a: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1019545" y="3192379"/>
            <a:ext cx="1809750" cy="2057400"/>
            <a:chOff x="1296" y="960"/>
            <a:chExt cx="1140" cy="1296"/>
          </a:xfrm>
        </p:grpSpPr>
        <p:sp>
          <p:nvSpPr>
            <p:cNvPr id="30791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2" name="AutoShape 28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793" name="Text Box 29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7</a:t>
              </a:r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1019545" y="3192379"/>
            <a:ext cx="1809750" cy="2057400"/>
            <a:chOff x="1296" y="960"/>
            <a:chExt cx="1140" cy="1296"/>
          </a:xfrm>
        </p:grpSpPr>
        <p:sp>
          <p:nvSpPr>
            <p:cNvPr id="30788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9" name="AutoShape 32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790" name="Text Box 33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7</a:t>
              </a: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86145" y="3192379"/>
            <a:ext cx="1809750" cy="2057400"/>
            <a:chOff x="1296" y="960"/>
            <a:chExt cx="1140" cy="1296"/>
          </a:xfrm>
        </p:grpSpPr>
        <p:sp>
          <p:nvSpPr>
            <p:cNvPr id="30785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AutoShape 36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787" name="Text Box 37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2</a:t>
              </a:r>
            </a:p>
          </p:txBody>
        </p:sp>
      </p:grp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486145" y="3192379"/>
            <a:ext cx="1809750" cy="2057400"/>
            <a:chOff x="1296" y="960"/>
            <a:chExt cx="1140" cy="1296"/>
          </a:xfrm>
        </p:grpSpPr>
        <p:sp>
          <p:nvSpPr>
            <p:cNvPr id="30782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3" name="AutoShape 40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0784" name="Text Box 41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3</a:t>
              </a:r>
            </a:p>
          </p:txBody>
        </p:sp>
      </p:grpSp>
      <p:sp>
        <p:nvSpPr>
          <p:cNvPr id="30743" name="Line 43"/>
          <p:cNvSpPr>
            <a:spLocks noChangeShapeType="1"/>
          </p:cNvSpPr>
          <p:nvPr/>
        </p:nvSpPr>
        <p:spPr bwMode="auto">
          <a:xfrm>
            <a:off x="562345" y="5249779"/>
            <a:ext cx="3429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501" name="Line 45"/>
          <p:cNvSpPr>
            <a:spLocks noChangeShapeType="1"/>
          </p:cNvSpPr>
          <p:nvPr/>
        </p:nvSpPr>
        <p:spPr bwMode="auto">
          <a:xfrm>
            <a:off x="562345" y="5249779"/>
            <a:ext cx="0" cy="685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6188921" y="6444734"/>
            <a:ext cx="2978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Slide stolen from: Matt </a:t>
            </a:r>
            <a:r>
              <a:rPr lang="en-US" b="1" dirty="0" err="1" smtClean="0"/>
              <a:t>Patitz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4886325" y="5451392"/>
            <a:ext cx="533400" cy="533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10200" y="54513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0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945187" y="54513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78587" y="54513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11987" y="54513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876800" y="4917992"/>
            <a:ext cx="3201987" cy="533400"/>
            <a:chOff x="4476380" y="4917992"/>
            <a:chExt cx="3201987" cy="533400"/>
          </a:xfrm>
        </p:grpSpPr>
        <p:sp>
          <p:nvSpPr>
            <p:cNvPr id="88" name="Rectangle 87"/>
            <p:cNvSpPr/>
            <p:nvPr/>
          </p:nvSpPr>
          <p:spPr>
            <a:xfrm>
              <a:off x="4476380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009780" y="4917992"/>
              <a:ext cx="533400" cy="533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5447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0781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6115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71449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86325" y="4384592"/>
            <a:ext cx="3724275" cy="533400"/>
            <a:chOff x="4485905" y="4384592"/>
            <a:chExt cx="3724275" cy="533400"/>
          </a:xfrm>
        </p:grpSpPr>
        <p:sp>
          <p:nvSpPr>
            <p:cNvPr id="93" name="Rectangle 92"/>
            <p:cNvSpPr/>
            <p:nvPr/>
          </p:nvSpPr>
          <p:spPr>
            <a:xfrm>
              <a:off x="4485905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009780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544767" y="4384592"/>
              <a:ext cx="533400" cy="533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078167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611567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7143380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7676780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76800" y="3851192"/>
            <a:ext cx="4267200" cy="533400"/>
            <a:chOff x="4476380" y="3851192"/>
            <a:chExt cx="4267200" cy="533400"/>
          </a:xfrm>
        </p:grpSpPr>
        <p:sp>
          <p:nvSpPr>
            <p:cNvPr id="98" name="Rectangle 97"/>
            <p:cNvSpPr/>
            <p:nvPr/>
          </p:nvSpPr>
          <p:spPr>
            <a:xfrm>
              <a:off x="44763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009780" y="3851192"/>
              <a:ext cx="533400" cy="533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544767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078167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611567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1433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76767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82101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2348497" y="838200"/>
            <a:ext cx="320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Rothemund</a:t>
            </a:r>
            <a:r>
              <a:rPr lang="en-US" dirty="0" smtClean="0"/>
              <a:t>, </a:t>
            </a:r>
            <a:r>
              <a:rPr lang="en-US" dirty="0" err="1" smtClean="0"/>
              <a:t>Winfree</a:t>
            </a:r>
            <a:r>
              <a:rPr lang="en-US" dirty="0" smtClean="0"/>
              <a:t>, 2000]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2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77556E-17 L 0.05834 2.77556E-17 " pathEditMode="relative" ptsTypes="AA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77556E-17 L 0.05834 2.77556E-17 " pathEditMode="relative" ptsTypes="AA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77556E-17 L -0.05833 2.77556E-17 " pathEditMode="relative" ptsTypes="AA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allAtOnce" animBg="1"/>
      <p:bldP spid="275460" grpId="0" build="allAtOnce" animBg="1"/>
      <p:bldP spid="275462" grpId="0" animBg="1"/>
      <p:bldP spid="275463" grpId="0" animBg="1"/>
      <p:bldP spid="275464" grpId="0" animBg="1"/>
      <p:bldP spid="27550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" y="4191000"/>
            <a:ext cx="4419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Limited Scalability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Space in-efficient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-</a:t>
            </a:r>
            <a:r>
              <a:rPr lang="en-US" sz="2000" dirty="0"/>
              <a:t>E</a:t>
            </a:r>
            <a:r>
              <a:rPr lang="en-US" sz="2000" dirty="0" smtClean="0"/>
              <a:t>ntire history of computation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 stored in assembly</a:t>
            </a:r>
          </a:p>
          <a:p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Fuel Guzzling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- Each computation step </a:t>
            </a:r>
          </a:p>
          <a:p>
            <a:r>
              <a:rPr lang="en-US" sz="2000" dirty="0"/>
              <a:t>	 </a:t>
            </a:r>
            <a:r>
              <a:rPr lang="en-US" sz="2000" dirty="0" smtClean="0"/>
              <a:t>burns many tiles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4455887" y="4202668"/>
            <a:ext cx="4383313" cy="83099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Goal: Fuel efficient, space efficient universal computation</a:t>
            </a:r>
            <a:endParaRPr lang="en-US" sz="2400" b="1" dirty="0"/>
          </a:p>
        </p:txBody>
      </p: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16097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43" name="Rectangle 3"/>
          <p:cNvSpPr>
            <a:spLocks noChangeArrowheads="1"/>
          </p:cNvSpPr>
          <p:nvPr/>
        </p:nvSpPr>
        <p:spPr bwMode="auto">
          <a:xfrm>
            <a:off x="10763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44" name="Rectangle 4"/>
          <p:cNvSpPr>
            <a:spLocks noChangeArrowheads="1"/>
          </p:cNvSpPr>
          <p:nvPr/>
        </p:nvSpPr>
        <p:spPr bwMode="auto">
          <a:xfrm>
            <a:off x="5429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5429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10763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0</a:t>
            </a:r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16097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21431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1</a:t>
            </a:r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2676525" y="3306679"/>
            <a:ext cx="533400" cy="685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rial" charset="0"/>
              </a:rPr>
              <a:t>0</a:t>
            </a: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3209925" y="3306679"/>
            <a:ext cx="533400" cy="6858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  <a:latin typeface="Arial" charset="0"/>
              </a:rPr>
              <a:t>_</a:t>
            </a: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542925" y="3992479"/>
            <a:ext cx="3429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" name="Group 18"/>
          <p:cNvGrpSpPr>
            <a:grpSpLocks/>
          </p:cNvGrpSpPr>
          <p:nvPr/>
        </p:nvGrpSpPr>
        <p:grpSpPr bwMode="auto">
          <a:xfrm>
            <a:off x="466725" y="1249279"/>
            <a:ext cx="1809750" cy="2057400"/>
            <a:chOff x="1296" y="960"/>
            <a:chExt cx="1140" cy="1296"/>
          </a:xfrm>
        </p:grpSpPr>
        <p:sp>
          <p:nvSpPr>
            <p:cNvPr id="57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AutoShape 20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59" name="Text Box 21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3</a:t>
              </a:r>
            </a:p>
          </p:txBody>
        </p:sp>
      </p:grpSp>
      <p:grpSp>
        <p:nvGrpSpPr>
          <p:cNvPr id="60" name="Group 22"/>
          <p:cNvGrpSpPr>
            <a:grpSpLocks/>
          </p:cNvGrpSpPr>
          <p:nvPr/>
        </p:nvGrpSpPr>
        <p:grpSpPr bwMode="auto">
          <a:xfrm>
            <a:off x="466725" y="1249279"/>
            <a:ext cx="1809750" cy="2057400"/>
            <a:chOff x="1296" y="960"/>
            <a:chExt cx="1140" cy="1296"/>
          </a:xfrm>
        </p:grpSpPr>
        <p:sp>
          <p:nvSpPr>
            <p:cNvPr id="61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AutoShape 24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chemeClr val="tx1"/>
                  </a:solidFill>
                  <a:latin typeface="Arial" charset="0"/>
                </a:rPr>
                <a:t>2</a:t>
              </a:r>
            </a:p>
          </p:txBody>
        </p:sp>
      </p:grpSp>
      <p:grpSp>
        <p:nvGrpSpPr>
          <p:cNvPr id="72" name="Group 34"/>
          <p:cNvGrpSpPr>
            <a:grpSpLocks/>
          </p:cNvGrpSpPr>
          <p:nvPr/>
        </p:nvGrpSpPr>
        <p:grpSpPr bwMode="auto">
          <a:xfrm>
            <a:off x="466725" y="1249279"/>
            <a:ext cx="1809750" cy="2057400"/>
            <a:chOff x="1296" y="960"/>
            <a:chExt cx="1140" cy="1296"/>
          </a:xfrm>
        </p:grpSpPr>
        <p:sp>
          <p:nvSpPr>
            <p:cNvPr id="73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AutoShape 36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75" name="Text Box 37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2</a:t>
              </a:r>
            </a:p>
          </p:txBody>
        </p:sp>
      </p:grpSp>
      <p:grpSp>
        <p:nvGrpSpPr>
          <p:cNvPr id="76" name="Group 38"/>
          <p:cNvGrpSpPr>
            <a:grpSpLocks/>
          </p:cNvGrpSpPr>
          <p:nvPr/>
        </p:nvGrpSpPr>
        <p:grpSpPr bwMode="auto">
          <a:xfrm>
            <a:off x="466725" y="1249279"/>
            <a:ext cx="1809750" cy="2057400"/>
            <a:chOff x="1296" y="960"/>
            <a:chExt cx="1140" cy="1296"/>
          </a:xfrm>
        </p:grpSpPr>
        <p:sp>
          <p:nvSpPr>
            <p:cNvPr id="77" name="modem"/>
            <p:cNvSpPr>
              <a:spLocks noEditPoints="1" noChangeArrowheads="1"/>
            </p:cNvSpPr>
            <p:nvPr/>
          </p:nvSpPr>
          <p:spPr bwMode="auto">
            <a:xfrm>
              <a:off x="1296" y="960"/>
              <a:ext cx="114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98 w 21600"/>
                <a:gd name="T31" fmla="*/ 22388 h 21600"/>
                <a:gd name="T32" fmla="*/ 21202 w 21600"/>
                <a:gd name="T33" fmla="*/ 30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5152"/>
                  </a:moveTo>
                  <a:lnTo>
                    <a:pt x="2941" y="0"/>
                  </a:lnTo>
                  <a:lnTo>
                    <a:pt x="18625" y="0"/>
                  </a:lnTo>
                  <a:lnTo>
                    <a:pt x="21600" y="5152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5152"/>
                  </a:lnTo>
                  <a:close/>
                </a:path>
                <a:path w="21600" h="21600" extrusionOk="0">
                  <a:moveTo>
                    <a:pt x="0" y="5251"/>
                  </a:moveTo>
                  <a:lnTo>
                    <a:pt x="21600" y="5251"/>
                  </a:lnTo>
                  <a:moveTo>
                    <a:pt x="1961" y="11791"/>
                  </a:moveTo>
                  <a:lnTo>
                    <a:pt x="1961" y="14268"/>
                  </a:lnTo>
                  <a:lnTo>
                    <a:pt x="2806" y="14268"/>
                  </a:lnTo>
                  <a:lnTo>
                    <a:pt x="2806" y="11791"/>
                  </a:lnTo>
                  <a:lnTo>
                    <a:pt x="1961" y="11791"/>
                  </a:lnTo>
                  <a:close/>
                </a:path>
                <a:path w="21600" h="21600" extrusionOk="0">
                  <a:moveTo>
                    <a:pt x="3685" y="11791"/>
                  </a:moveTo>
                  <a:lnTo>
                    <a:pt x="3685" y="14268"/>
                  </a:lnTo>
                  <a:lnTo>
                    <a:pt x="4530" y="14268"/>
                  </a:lnTo>
                  <a:lnTo>
                    <a:pt x="4530" y="11791"/>
                  </a:lnTo>
                  <a:lnTo>
                    <a:pt x="3685" y="11791"/>
                  </a:lnTo>
                  <a:close/>
                </a:path>
                <a:path w="21600" h="21600" extrusionOk="0">
                  <a:moveTo>
                    <a:pt x="5408" y="11791"/>
                  </a:moveTo>
                  <a:lnTo>
                    <a:pt x="5408" y="14268"/>
                  </a:lnTo>
                  <a:lnTo>
                    <a:pt x="6254" y="14268"/>
                  </a:lnTo>
                  <a:lnTo>
                    <a:pt x="6254" y="11791"/>
                  </a:lnTo>
                  <a:lnTo>
                    <a:pt x="5408" y="11791"/>
                  </a:lnTo>
                  <a:close/>
                </a:path>
                <a:path w="21600" h="21600" extrusionOk="0">
                  <a:moveTo>
                    <a:pt x="7132" y="11791"/>
                  </a:moveTo>
                  <a:lnTo>
                    <a:pt x="7132" y="14268"/>
                  </a:lnTo>
                  <a:lnTo>
                    <a:pt x="7977" y="14268"/>
                  </a:lnTo>
                  <a:lnTo>
                    <a:pt x="7977" y="11791"/>
                  </a:lnTo>
                  <a:lnTo>
                    <a:pt x="7132" y="1179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AutoShape 40"/>
            <p:cNvSpPr>
              <a:spLocks noChangeArrowheads="1"/>
            </p:cNvSpPr>
            <p:nvPr/>
          </p:nvSpPr>
          <p:spPr bwMode="auto">
            <a:xfrm>
              <a:off x="1680" y="1536"/>
              <a:ext cx="384" cy="720"/>
            </a:xfrm>
            <a:prstGeom prst="downArrow">
              <a:avLst>
                <a:gd name="adj1" fmla="val 50000"/>
                <a:gd name="adj2" fmla="val 46875"/>
              </a:avLst>
            </a:prstGeom>
            <a:solidFill>
              <a:srgbClr val="C0C0C0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79" name="Text Box 41"/>
            <p:cNvSpPr txBox="1">
              <a:spLocks noChangeArrowheads="1"/>
            </p:cNvSpPr>
            <p:nvPr/>
          </p:nvSpPr>
          <p:spPr bwMode="auto">
            <a:xfrm>
              <a:off x="1728" y="1200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bg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Calibri" pitchFamily="34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0000"/>
                  </a:solidFill>
                  <a:latin typeface="Arial" charset="0"/>
                </a:rPr>
                <a:t>State: q</a:t>
              </a:r>
              <a:r>
                <a:rPr lang="en-US" baseline="-25000">
                  <a:solidFill>
                    <a:srgbClr val="FF0000"/>
                  </a:solidFill>
                  <a:latin typeface="Arial" charset="0"/>
                </a:rPr>
                <a:t>3</a:t>
              </a:r>
            </a:p>
          </p:txBody>
        </p:sp>
      </p:grpSp>
      <p:sp>
        <p:nvSpPr>
          <p:cNvPr id="80" name="Line 43"/>
          <p:cNvSpPr>
            <a:spLocks noChangeShapeType="1"/>
          </p:cNvSpPr>
          <p:nvPr/>
        </p:nvSpPr>
        <p:spPr bwMode="auto">
          <a:xfrm>
            <a:off x="542925" y="3306679"/>
            <a:ext cx="3429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45"/>
          <p:cNvSpPr>
            <a:spLocks noChangeShapeType="1"/>
          </p:cNvSpPr>
          <p:nvPr/>
        </p:nvSpPr>
        <p:spPr bwMode="auto">
          <a:xfrm>
            <a:off x="542925" y="3306679"/>
            <a:ext cx="0" cy="685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4866905" y="3508292"/>
            <a:ext cx="5334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0780" y="35082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0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25767" y="35082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59167" y="35082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92567" y="3508292"/>
            <a:ext cx="53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4857380" y="2974892"/>
            <a:ext cx="3201987" cy="533400"/>
            <a:chOff x="4476380" y="4917992"/>
            <a:chExt cx="3201987" cy="533400"/>
          </a:xfrm>
        </p:grpSpPr>
        <p:sp>
          <p:nvSpPr>
            <p:cNvPr id="88" name="Rectangle 87"/>
            <p:cNvSpPr/>
            <p:nvPr/>
          </p:nvSpPr>
          <p:spPr>
            <a:xfrm>
              <a:off x="4476380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011367" y="4917992"/>
              <a:ext cx="533400" cy="533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5447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0781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6115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144967" y="49179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4866905" y="2441492"/>
            <a:ext cx="3724275" cy="533400"/>
            <a:chOff x="4485905" y="4384592"/>
            <a:chExt cx="3724275" cy="533400"/>
          </a:xfrm>
        </p:grpSpPr>
        <p:sp>
          <p:nvSpPr>
            <p:cNvPr id="95" name="Rectangle 94"/>
            <p:cNvSpPr/>
            <p:nvPr/>
          </p:nvSpPr>
          <p:spPr>
            <a:xfrm>
              <a:off x="4485905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009780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5544767" y="4384592"/>
              <a:ext cx="533400" cy="533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078167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611567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7143380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676780" y="43845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4857380" y="1908092"/>
            <a:ext cx="4267200" cy="533400"/>
            <a:chOff x="4476380" y="3851192"/>
            <a:chExt cx="4267200" cy="533400"/>
          </a:xfrm>
        </p:grpSpPr>
        <p:sp>
          <p:nvSpPr>
            <p:cNvPr id="103" name="Rectangle 102"/>
            <p:cNvSpPr/>
            <p:nvPr/>
          </p:nvSpPr>
          <p:spPr>
            <a:xfrm>
              <a:off x="44763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009780" y="3851192"/>
              <a:ext cx="533400" cy="533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544767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078167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611567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1433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76767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8210180" y="3851192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4" name="Rectangle 5"/>
          <p:cNvSpPr txBox="1">
            <a:spLocks noChangeArrowheads="1"/>
          </p:cNvSpPr>
          <p:nvPr/>
        </p:nvSpPr>
        <p:spPr>
          <a:xfrm>
            <a:off x="0" y="0"/>
            <a:ext cx="916781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mtClean="0"/>
              <a:t>Turing Machine simulation in the TAM</a:t>
            </a:r>
            <a:endParaRPr lang="en-US" sz="4000" dirty="0" smtClean="0"/>
          </a:p>
        </p:txBody>
      </p:sp>
      <p:sp>
        <p:nvSpPr>
          <p:cNvPr id="65" name="TextBox 64"/>
          <p:cNvSpPr txBox="1"/>
          <p:nvPr/>
        </p:nvSpPr>
        <p:spPr>
          <a:xfrm>
            <a:off x="2348497" y="838200"/>
            <a:ext cx="320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Rothemund</a:t>
            </a:r>
            <a:r>
              <a:rPr lang="en-US" dirty="0" smtClean="0"/>
              <a:t>, </a:t>
            </a:r>
            <a:r>
              <a:rPr lang="en-US" dirty="0" err="1" smtClean="0"/>
              <a:t>Winfree</a:t>
            </a:r>
            <a:r>
              <a:rPr lang="en-US" dirty="0" smtClean="0"/>
              <a:t>, 2000]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46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7750" y="1295400"/>
            <a:ext cx="5791200" cy="95410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Goal: Fuel efficient, space efficient universal computation</a:t>
            </a:r>
            <a:endParaRPr lang="en-US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1047749" y="2572434"/>
            <a:ext cx="77519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Problem</a:t>
            </a:r>
            <a:r>
              <a:rPr lang="en-US" sz="2800" b="1" dirty="0" smtClean="0"/>
              <a:t>:  Assemblies only grow larger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047749" y="3516868"/>
            <a:ext cx="77519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Solution</a:t>
            </a:r>
            <a:r>
              <a:rPr lang="en-US" sz="2800" b="1" dirty="0" smtClean="0"/>
              <a:t>:  Negative strength glues</a:t>
            </a:r>
          </a:p>
        </p:txBody>
      </p:sp>
      <p:sp>
        <p:nvSpPr>
          <p:cNvPr id="7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Negative Glues</a:t>
            </a:r>
            <a:endParaRPr lang="en-US" sz="1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990600" y="4435733"/>
            <a:ext cx="7467600" cy="13849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Our Result</a:t>
            </a:r>
            <a:r>
              <a:rPr lang="en-US" sz="2800" b="1" dirty="0"/>
              <a:t>:  Tile assembly is capable of space efficient, fuel efficient universal </a:t>
            </a:r>
            <a:r>
              <a:rPr lang="en-US" sz="2800" b="1" dirty="0" err="1"/>
              <a:t>computaion</a:t>
            </a:r>
            <a:r>
              <a:rPr lang="en-US" sz="2800" b="1" dirty="0"/>
              <a:t> with the use of negative and positive strength glues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0961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431722" y="3856258"/>
            <a:ext cx="1143000" cy="1143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Negative Glues - Example</a:t>
            </a:r>
            <a:endParaRPr lang="en-US" sz="1800" b="1" dirty="0"/>
          </a:p>
        </p:txBody>
      </p:sp>
      <p:grpSp>
        <p:nvGrpSpPr>
          <p:cNvPr id="5" name="Group 56"/>
          <p:cNvGrpSpPr/>
          <p:nvPr/>
        </p:nvGrpSpPr>
        <p:grpSpPr>
          <a:xfrm>
            <a:off x="3273136" y="3856258"/>
            <a:ext cx="1143000" cy="1143000"/>
            <a:chOff x="533400" y="838200"/>
            <a:chExt cx="762000" cy="762000"/>
          </a:xfrm>
        </p:grpSpPr>
        <p:sp>
          <p:nvSpPr>
            <p:cNvPr id="6" name="Rectangle 5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4014354" y="4268916"/>
            <a:ext cx="706582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200</a:t>
            </a:r>
            <a:r>
              <a:rPr lang="en-US" sz="1400" b="1" dirty="0" smtClean="0"/>
              <a:t>%</a:t>
            </a:r>
            <a:endParaRPr lang="en-US" sz="1400" b="1" dirty="0"/>
          </a:p>
        </p:txBody>
      </p:sp>
      <p:sp>
        <p:nvSpPr>
          <p:cNvPr id="23" name="Rectangle 22"/>
          <p:cNvSpPr/>
          <p:nvPr/>
        </p:nvSpPr>
        <p:spPr>
          <a:xfrm>
            <a:off x="4416136" y="2713258"/>
            <a:ext cx="1143000" cy="1143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644736" y="3625425"/>
            <a:ext cx="76026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b="1" dirty="0" smtClean="0"/>
              <a:t>00</a:t>
            </a:r>
            <a:r>
              <a:rPr lang="en-US" sz="1600" b="1" dirty="0" smtClean="0"/>
              <a:t>%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318908" y="348660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100%</a:t>
            </a:r>
            <a:endParaRPr lang="en-US" b="1" dirty="0"/>
          </a:p>
        </p:txBody>
      </p:sp>
      <p:grpSp>
        <p:nvGrpSpPr>
          <p:cNvPr id="34" name="Group 33"/>
          <p:cNvGrpSpPr/>
          <p:nvPr/>
        </p:nvGrpSpPr>
        <p:grpSpPr>
          <a:xfrm>
            <a:off x="1828800" y="1425925"/>
            <a:ext cx="1143000" cy="1528373"/>
            <a:chOff x="1752600" y="1371600"/>
            <a:chExt cx="1143000" cy="1528373"/>
          </a:xfrm>
        </p:grpSpPr>
        <p:sp>
          <p:nvSpPr>
            <p:cNvPr id="29" name="Rectangle 28"/>
            <p:cNvSpPr/>
            <p:nvPr/>
          </p:nvSpPr>
          <p:spPr>
            <a:xfrm>
              <a:off x="1752600" y="1371600"/>
              <a:ext cx="1143000" cy="1143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984664" y="2514600"/>
              <a:ext cx="5715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905000" y="2530641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100%</a:t>
              </a:r>
              <a:endParaRPr lang="en-US" b="1" dirty="0"/>
            </a:p>
          </p:txBody>
        </p:sp>
      </p:grpSp>
      <p:cxnSp>
        <p:nvCxnSpPr>
          <p:cNvPr id="3" name="Straight Arrow Connector 2"/>
          <p:cNvCxnSpPr/>
          <p:nvPr/>
        </p:nvCxnSpPr>
        <p:spPr>
          <a:xfrm>
            <a:off x="3124200" y="2713258"/>
            <a:ext cx="898747" cy="773347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736529" y="1219200"/>
            <a:ext cx="340747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Negative glues previously</a:t>
            </a:r>
          </a:p>
          <a:p>
            <a:r>
              <a:rPr lang="en-US" dirty="0" smtClean="0"/>
              <a:t>considered in: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Reif</a:t>
            </a:r>
            <a:r>
              <a:rPr lang="en-US" dirty="0" smtClean="0"/>
              <a:t>, </a:t>
            </a:r>
            <a:r>
              <a:rPr lang="en-US" dirty="0" err="1" smtClean="0"/>
              <a:t>Sahu</a:t>
            </a:r>
            <a:r>
              <a:rPr lang="en-US" dirty="0" smtClean="0"/>
              <a:t>, Yin 2005]</a:t>
            </a:r>
          </a:p>
          <a:p>
            <a:r>
              <a:rPr lang="en-US" dirty="0" smtClean="0"/>
              <a:t>[Doty, Kari, Masson 2010]</a:t>
            </a:r>
          </a:p>
          <a:p>
            <a:r>
              <a:rPr lang="en-US" dirty="0" smtClean="0"/>
              <a:t>[</a:t>
            </a:r>
            <a:r>
              <a:rPr lang="en-US" dirty="0" err="1" smtClean="0"/>
              <a:t>Patitz</a:t>
            </a:r>
            <a:r>
              <a:rPr lang="en-US" dirty="0" smtClean="0"/>
              <a:t>, </a:t>
            </a:r>
            <a:r>
              <a:rPr lang="en-US" dirty="0" err="1" smtClean="0"/>
              <a:t>Schweller</a:t>
            </a:r>
            <a:r>
              <a:rPr lang="en-US" dirty="0" smtClean="0"/>
              <a:t>, Summers, 2011]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431722" y="3856258"/>
            <a:ext cx="1143000" cy="1143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Negative Glues - Example</a:t>
            </a:r>
            <a:endParaRPr lang="en-US" sz="1800" b="1" dirty="0"/>
          </a:p>
        </p:txBody>
      </p:sp>
      <p:grpSp>
        <p:nvGrpSpPr>
          <p:cNvPr id="5" name="Group 56"/>
          <p:cNvGrpSpPr/>
          <p:nvPr/>
        </p:nvGrpSpPr>
        <p:grpSpPr>
          <a:xfrm>
            <a:off x="3273136" y="3856258"/>
            <a:ext cx="1143000" cy="1143000"/>
            <a:chOff x="533400" y="838200"/>
            <a:chExt cx="762000" cy="762000"/>
          </a:xfrm>
        </p:grpSpPr>
        <p:sp>
          <p:nvSpPr>
            <p:cNvPr id="6" name="Rectangle 5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4014354" y="4268916"/>
            <a:ext cx="706582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200</a:t>
            </a:r>
            <a:r>
              <a:rPr lang="en-US" sz="1400" b="1" dirty="0" smtClean="0"/>
              <a:t>%</a:t>
            </a:r>
            <a:endParaRPr lang="en-US" sz="1400" b="1" dirty="0"/>
          </a:p>
        </p:txBody>
      </p:sp>
      <p:sp>
        <p:nvSpPr>
          <p:cNvPr id="23" name="Rectangle 22"/>
          <p:cNvSpPr/>
          <p:nvPr/>
        </p:nvSpPr>
        <p:spPr>
          <a:xfrm>
            <a:off x="4416136" y="2713258"/>
            <a:ext cx="1143000" cy="1143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644736" y="3625425"/>
            <a:ext cx="76026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b="1" dirty="0" smtClean="0"/>
              <a:t>00</a:t>
            </a:r>
            <a:r>
              <a:rPr lang="en-US" sz="1600" b="1" dirty="0" smtClean="0"/>
              <a:t>%</a:t>
            </a:r>
            <a:endParaRPr lang="en-US" sz="1600" b="1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4419600" y="2971800"/>
            <a:ext cx="0" cy="577425"/>
          </a:xfrm>
          <a:prstGeom prst="line">
            <a:avLst/>
          </a:prstGeom>
          <a:ln w="152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4953" y="2895600"/>
            <a:ext cx="81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-50%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18908" y="348660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100%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1752600" y="1371600"/>
            <a:ext cx="114300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>
            <a:off x="2038350" y="2514600"/>
            <a:ext cx="571500" cy="0"/>
          </a:xfrm>
          <a:prstGeom prst="line">
            <a:avLst/>
          </a:prstGeom>
          <a:ln w="152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881745" y="1654387"/>
            <a:ext cx="0" cy="577425"/>
          </a:xfrm>
          <a:prstGeom prst="line">
            <a:avLst/>
          </a:prstGeom>
          <a:ln w="152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19153" y="1671935"/>
            <a:ext cx="81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-50%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72080" y="2530641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100%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124200" y="2715308"/>
            <a:ext cx="377536" cy="4111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 flipV="1">
            <a:off x="3124200" y="2715308"/>
            <a:ext cx="377536" cy="41112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02669" y="5486400"/>
            <a:ext cx="5469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-Negative glues can prevent attachments.</a:t>
            </a:r>
          </a:p>
          <a:p>
            <a:r>
              <a:rPr lang="en-US" sz="2400" b="1" dirty="0" smtClean="0"/>
              <a:t>-Can they do anything deeper?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3739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431722" y="3856258"/>
            <a:ext cx="1143000" cy="1143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Negative Glues - Example</a:t>
            </a:r>
            <a:endParaRPr lang="en-US" sz="1800" b="1" dirty="0"/>
          </a:p>
        </p:txBody>
      </p:sp>
      <p:grpSp>
        <p:nvGrpSpPr>
          <p:cNvPr id="5" name="Group 56"/>
          <p:cNvGrpSpPr/>
          <p:nvPr/>
        </p:nvGrpSpPr>
        <p:grpSpPr>
          <a:xfrm>
            <a:off x="3273136" y="3856258"/>
            <a:ext cx="1143000" cy="1143000"/>
            <a:chOff x="533400" y="838200"/>
            <a:chExt cx="762000" cy="762000"/>
          </a:xfrm>
        </p:grpSpPr>
        <p:sp>
          <p:nvSpPr>
            <p:cNvPr id="6" name="Rectangle 5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4014354" y="4268916"/>
            <a:ext cx="706582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200</a:t>
            </a:r>
            <a:r>
              <a:rPr lang="en-US" sz="1400" b="1" dirty="0" smtClean="0"/>
              <a:t>%</a:t>
            </a:r>
            <a:endParaRPr lang="en-US" sz="1400" b="1" dirty="0"/>
          </a:p>
        </p:txBody>
      </p:sp>
      <p:sp>
        <p:nvSpPr>
          <p:cNvPr id="23" name="Rectangle 22"/>
          <p:cNvSpPr/>
          <p:nvPr/>
        </p:nvSpPr>
        <p:spPr>
          <a:xfrm>
            <a:off x="4416136" y="2713258"/>
            <a:ext cx="1143000" cy="1143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644736" y="3625425"/>
            <a:ext cx="76026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b="1" dirty="0" smtClean="0"/>
              <a:t>00</a:t>
            </a:r>
            <a:r>
              <a:rPr lang="en-US" sz="1600" b="1" dirty="0" smtClean="0"/>
              <a:t>%</a:t>
            </a:r>
            <a:endParaRPr lang="en-US" sz="1600" b="1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4419600" y="2971800"/>
            <a:ext cx="0" cy="577425"/>
          </a:xfrm>
          <a:prstGeom prst="line">
            <a:avLst/>
          </a:prstGeom>
          <a:ln w="152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49463" y="2895600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-100%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18908" y="348660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r>
              <a:rPr lang="en-US" b="1" dirty="0" smtClean="0"/>
              <a:t>00%</a:t>
            </a:r>
            <a:endParaRPr lang="en-US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1752600" y="1371600"/>
            <a:ext cx="2136690" cy="1528373"/>
            <a:chOff x="1752600" y="1371600"/>
            <a:chExt cx="2136690" cy="1528373"/>
          </a:xfrm>
        </p:grpSpPr>
        <p:sp>
          <p:nvSpPr>
            <p:cNvPr id="29" name="Rectangle 28"/>
            <p:cNvSpPr/>
            <p:nvPr/>
          </p:nvSpPr>
          <p:spPr>
            <a:xfrm>
              <a:off x="1752600" y="1371600"/>
              <a:ext cx="1143000" cy="1143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2038350" y="2514600"/>
              <a:ext cx="5715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881745" y="1654387"/>
              <a:ext cx="0" cy="577425"/>
            </a:xfrm>
            <a:prstGeom prst="line">
              <a:avLst/>
            </a:prstGeom>
            <a:ln w="152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919153" y="1671935"/>
              <a:ext cx="970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FF0000"/>
                  </a:solidFill>
                </a:rPr>
                <a:t>-100%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972080" y="2530641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</a:t>
              </a:r>
              <a:r>
                <a:rPr lang="en-US" b="1" dirty="0" smtClean="0"/>
                <a:t>00%</a:t>
              </a:r>
              <a:endParaRPr lang="en-US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85800" y="2133600"/>
            <a:ext cx="2718422" cy="1753115"/>
            <a:chOff x="685800" y="2133600"/>
            <a:chExt cx="2718422" cy="1753115"/>
          </a:xfrm>
        </p:grpSpPr>
        <p:sp>
          <p:nvSpPr>
            <p:cNvPr id="2" name="TextBox 1"/>
            <p:cNvSpPr txBox="1"/>
            <p:nvPr/>
          </p:nvSpPr>
          <p:spPr>
            <a:xfrm>
              <a:off x="685800" y="3486605"/>
              <a:ext cx="20240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Increase strength</a:t>
              </a:r>
              <a:endParaRPr lang="en-US" sz="2000" b="1" dirty="0"/>
            </a:p>
          </p:txBody>
        </p:sp>
        <p:cxnSp>
          <p:nvCxnSpPr>
            <p:cNvPr id="9" name="Straight Arrow Connector 8"/>
            <p:cNvCxnSpPr>
              <a:endCxn id="33" idx="2"/>
            </p:cNvCxnSpPr>
            <p:nvPr/>
          </p:nvCxnSpPr>
          <p:spPr>
            <a:xfrm flipV="1">
              <a:off x="2038350" y="2899973"/>
              <a:ext cx="285750" cy="457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32" idx="2"/>
            </p:cNvCxnSpPr>
            <p:nvPr/>
          </p:nvCxnSpPr>
          <p:spPr>
            <a:xfrm flipV="1">
              <a:off x="2324099" y="2133600"/>
              <a:ext cx="1080123" cy="12236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041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59259E-6 L 0.16649 0.188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16" y="942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385830" y="2711071"/>
            <a:ext cx="1176770" cy="1143000"/>
            <a:chOff x="5638800" y="1614329"/>
            <a:chExt cx="1176770" cy="1143000"/>
          </a:xfrm>
        </p:grpSpPr>
        <p:sp>
          <p:nvSpPr>
            <p:cNvPr id="23" name="Rectangle 22"/>
            <p:cNvSpPr/>
            <p:nvPr/>
          </p:nvSpPr>
          <p:spPr>
            <a:xfrm>
              <a:off x="5672570" y="1614329"/>
              <a:ext cx="1143000" cy="1143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5638800" y="1875058"/>
              <a:ext cx="0" cy="577425"/>
            </a:xfrm>
            <a:prstGeom prst="line">
              <a:avLst/>
            </a:prstGeom>
            <a:ln w="152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000750" y="2711071"/>
              <a:ext cx="571500" cy="0"/>
            </a:xfrm>
            <a:prstGeom prst="line">
              <a:avLst/>
            </a:prstGeom>
            <a:ln w="152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4431722" y="3856258"/>
            <a:ext cx="1143000" cy="1143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Negative Glues - Example</a:t>
            </a:r>
            <a:endParaRPr lang="en-US" sz="1800" b="1" dirty="0"/>
          </a:p>
        </p:txBody>
      </p:sp>
      <p:grpSp>
        <p:nvGrpSpPr>
          <p:cNvPr id="5" name="Group 56"/>
          <p:cNvGrpSpPr/>
          <p:nvPr/>
        </p:nvGrpSpPr>
        <p:grpSpPr>
          <a:xfrm>
            <a:off x="3273136" y="3856258"/>
            <a:ext cx="1143000" cy="1143000"/>
            <a:chOff x="533400" y="838200"/>
            <a:chExt cx="762000" cy="762000"/>
          </a:xfrm>
        </p:grpSpPr>
        <p:sp>
          <p:nvSpPr>
            <p:cNvPr id="6" name="Rectangle 5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4014354" y="4268916"/>
            <a:ext cx="706582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200</a:t>
            </a:r>
            <a:r>
              <a:rPr lang="en-US" sz="1400" b="1" dirty="0" smtClean="0"/>
              <a:t>%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644736" y="3625425"/>
            <a:ext cx="76026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</a:t>
            </a:r>
            <a:r>
              <a:rPr lang="en-US" sz="2000" b="1" dirty="0" smtClean="0"/>
              <a:t>00</a:t>
            </a:r>
            <a:r>
              <a:rPr lang="en-US" sz="1600" b="1" dirty="0" smtClean="0"/>
              <a:t>%</a:t>
            </a:r>
            <a:endParaRPr lang="en-US" sz="16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3273136" y="2711071"/>
            <a:ext cx="2137064" cy="1528373"/>
            <a:chOff x="1752600" y="1371600"/>
            <a:chExt cx="2137064" cy="1528373"/>
          </a:xfrm>
        </p:grpSpPr>
        <p:sp>
          <p:nvSpPr>
            <p:cNvPr id="29" name="Rectangle 28"/>
            <p:cNvSpPr/>
            <p:nvPr/>
          </p:nvSpPr>
          <p:spPr>
            <a:xfrm>
              <a:off x="1752600" y="1371600"/>
              <a:ext cx="1143000" cy="1143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2038350" y="2514600"/>
              <a:ext cx="571500" cy="0"/>
            </a:xfrm>
            <a:prstGeom prst="line">
              <a:avLst/>
            </a:prstGeom>
            <a:ln w="1524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895600" y="1614054"/>
              <a:ext cx="0" cy="577425"/>
            </a:xfrm>
            <a:prstGeom prst="line">
              <a:avLst/>
            </a:prstGeom>
            <a:ln w="152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919527" y="1627864"/>
              <a:ext cx="970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FF0000"/>
                  </a:solidFill>
                </a:rPr>
                <a:t>-100%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972080" y="2530641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</a:t>
              </a:r>
              <a:r>
                <a:rPr lang="en-US" b="1" dirty="0" smtClean="0"/>
                <a:t>00%</a:t>
              </a:r>
              <a:endParaRPr lang="en-US" b="1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85330" y="914400"/>
            <a:ext cx="4648200" cy="156966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Key Idea:  </a:t>
            </a:r>
          </a:p>
          <a:p>
            <a:r>
              <a:rPr lang="en-US" sz="2400" b="1" dirty="0" smtClean="0"/>
              <a:t>-Stable assemblies can combine to form unstable assemblies</a:t>
            </a:r>
          </a:p>
          <a:p>
            <a:r>
              <a:rPr lang="en-US" sz="2400" b="1" dirty="0" smtClean="0"/>
              <a:t>-Allows “</a:t>
            </a:r>
            <a:r>
              <a:rPr lang="en-US" sz="2400" b="1" dirty="0" err="1" smtClean="0"/>
              <a:t>diss</a:t>
            </a:r>
            <a:r>
              <a:rPr lang="en-US" sz="2400" b="1" dirty="0" smtClean="0"/>
              <a:t>-assembly”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0922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7037E-6 L 0.16441 -0.234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12" y="-1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84" y="-234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High Level Sketch of Universal Computation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30923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629508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62950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8092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2028092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2028092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2426677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2426677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2426677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282526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282526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3223846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16" name="Rectangle 15"/>
          <p:cNvSpPr/>
          <p:nvPr/>
        </p:nvSpPr>
        <p:spPr>
          <a:xfrm>
            <a:off x="3223846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3223846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3622431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362243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Rectangle 19"/>
          <p:cNvSpPr/>
          <p:nvPr/>
        </p:nvSpPr>
        <p:spPr>
          <a:xfrm>
            <a:off x="402101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4419600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22" name="Rectangle 21"/>
          <p:cNvSpPr/>
          <p:nvPr/>
        </p:nvSpPr>
        <p:spPr>
          <a:xfrm>
            <a:off x="4419600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481818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24" name="Rectangle 23"/>
          <p:cNvSpPr/>
          <p:nvPr/>
        </p:nvSpPr>
        <p:spPr>
          <a:xfrm>
            <a:off x="481818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4818185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Rectangle 25"/>
          <p:cNvSpPr/>
          <p:nvPr/>
        </p:nvSpPr>
        <p:spPr>
          <a:xfrm>
            <a:off x="5216769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Rectangle 26"/>
          <p:cNvSpPr/>
          <p:nvPr/>
        </p:nvSpPr>
        <p:spPr>
          <a:xfrm>
            <a:off x="5216769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Rectangle 27"/>
          <p:cNvSpPr/>
          <p:nvPr/>
        </p:nvSpPr>
        <p:spPr>
          <a:xfrm>
            <a:off x="5615354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601393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" name="Rectangle 29"/>
          <p:cNvSpPr/>
          <p:nvPr/>
        </p:nvSpPr>
        <p:spPr>
          <a:xfrm>
            <a:off x="4818185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5216769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32" name="Rectangle 31"/>
          <p:cNvSpPr/>
          <p:nvPr/>
        </p:nvSpPr>
        <p:spPr>
          <a:xfrm>
            <a:off x="5216769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5216769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Rectangle 33"/>
          <p:cNvSpPr/>
          <p:nvPr/>
        </p:nvSpPr>
        <p:spPr>
          <a:xfrm>
            <a:off x="5615354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Rectangle 34"/>
          <p:cNvSpPr/>
          <p:nvPr/>
        </p:nvSpPr>
        <p:spPr>
          <a:xfrm>
            <a:off x="5615354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36" name="Rectangle 35"/>
          <p:cNvSpPr/>
          <p:nvPr/>
        </p:nvSpPr>
        <p:spPr>
          <a:xfrm>
            <a:off x="3223846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7" name="Rectangle 36"/>
          <p:cNvSpPr/>
          <p:nvPr/>
        </p:nvSpPr>
        <p:spPr>
          <a:xfrm>
            <a:off x="362243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8" name="Rectangle 37"/>
          <p:cNvSpPr/>
          <p:nvPr/>
        </p:nvSpPr>
        <p:spPr>
          <a:xfrm>
            <a:off x="3622431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43" name="Rectangle 42"/>
          <p:cNvSpPr/>
          <p:nvPr/>
        </p:nvSpPr>
        <p:spPr>
          <a:xfrm>
            <a:off x="402101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796811" y="2162165"/>
            <a:ext cx="1212362" cy="1572127"/>
            <a:chOff x="3597519" y="1913021"/>
            <a:chExt cx="1212362" cy="1572127"/>
          </a:xfrm>
        </p:grpSpPr>
        <p:sp>
          <p:nvSpPr>
            <p:cNvPr id="39" name="Rectangle 38"/>
            <p:cNvSpPr/>
            <p:nvPr/>
          </p:nvSpPr>
          <p:spPr>
            <a:xfrm>
              <a:off x="3597519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97519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711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02992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029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79496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402992" y="2699084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11296" y="3092116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82818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84" y="-234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High Level Sketch of Universal Computation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30923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629508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62950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8092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2028092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2028092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2426677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2426677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2426677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282526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282526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3223846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16" name="Rectangle 15"/>
          <p:cNvSpPr/>
          <p:nvPr/>
        </p:nvSpPr>
        <p:spPr>
          <a:xfrm>
            <a:off x="3223846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3223846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3622431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362243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Rectangle 19"/>
          <p:cNvSpPr/>
          <p:nvPr/>
        </p:nvSpPr>
        <p:spPr>
          <a:xfrm>
            <a:off x="402101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4419600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22" name="Rectangle 21"/>
          <p:cNvSpPr/>
          <p:nvPr/>
        </p:nvSpPr>
        <p:spPr>
          <a:xfrm>
            <a:off x="4419600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481818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24" name="Rectangle 23"/>
          <p:cNvSpPr/>
          <p:nvPr/>
        </p:nvSpPr>
        <p:spPr>
          <a:xfrm>
            <a:off x="481818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4818185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Rectangle 25"/>
          <p:cNvSpPr/>
          <p:nvPr/>
        </p:nvSpPr>
        <p:spPr>
          <a:xfrm>
            <a:off x="5216769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Rectangle 26"/>
          <p:cNvSpPr/>
          <p:nvPr/>
        </p:nvSpPr>
        <p:spPr>
          <a:xfrm>
            <a:off x="5216769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Rectangle 27"/>
          <p:cNvSpPr/>
          <p:nvPr/>
        </p:nvSpPr>
        <p:spPr>
          <a:xfrm>
            <a:off x="5615354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601393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" name="Rectangle 29"/>
          <p:cNvSpPr/>
          <p:nvPr/>
        </p:nvSpPr>
        <p:spPr>
          <a:xfrm>
            <a:off x="4818185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5216769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32" name="Rectangle 31"/>
          <p:cNvSpPr/>
          <p:nvPr/>
        </p:nvSpPr>
        <p:spPr>
          <a:xfrm>
            <a:off x="5216769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5216769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Rectangle 33"/>
          <p:cNvSpPr/>
          <p:nvPr/>
        </p:nvSpPr>
        <p:spPr>
          <a:xfrm>
            <a:off x="5615354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Rectangle 34"/>
          <p:cNvSpPr/>
          <p:nvPr/>
        </p:nvSpPr>
        <p:spPr>
          <a:xfrm>
            <a:off x="5615354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36" name="Rectangle 35"/>
          <p:cNvSpPr/>
          <p:nvPr/>
        </p:nvSpPr>
        <p:spPr>
          <a:xfrm>
            <a:off x="3223846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7" name="Rectangle 36"/>
          <p:cNvSpPr/>
          <p:nvPr/>
        </p:nvSpPr>
        <p:spPr>
          <a:xfrm>
            <a:off x="362243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8" name="Rectangle 37"/>
          <p:cNvSpPr/>
          <p:nvPr/>
        </p:nvSpPr>
        <p:spPr>
          <a:xfrm>
            <a:off x="3622431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43" name="Rectangle 42"/>
          <p:cNvSpPr/>
          <p:nvPr/>
        </p:nvSpPr>
        <p:spPr>
          <a:xfrm>
            <a:off x="402101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190630" y="2895599"/>
            <a:ext cx="1212362" cy="1572127"/>
            <a:chOff x="3597519" y="1913021"/>
            <a:chExt cx="1212362" cy="1572127"/>
          </a:xfrm>
        </p:grpSpPr>
        <p:sp>
          <p:nvSpPr>
            <p:cNvPr id="39" name="Rectangle 38"/>
            <p:cNvSpPr/>
            <p:nvPr/>
          </p:nvSpPr>
          <p:spPr>
            <a:xfrm>
              <a:off x="3597519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97519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711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02992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029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79496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402992" y="2699084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11296" y="3092116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863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84" y="-234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High Level Sketch of Universal Computation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30923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629508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62950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8092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2028092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2028092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2426677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2426677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2426677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282526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282526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3223846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16" name="Rectangle 15"/>
          <p:cNvSpPr/>
          <p:nvPr/>
        </p:nvSpPr>
        <p:spPr>
          <a:xfrm>
            <a:off x="3223846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3223846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3622431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362243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Rectangle 19"/>
          <p:cNvSpPr/>
          <p:nvPr/>
        </p:nvSpPr>
        <p:spPr>
          <a:xfrm>
            <a:off x="402101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4419600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22" name="Rectangle 21"/>
          <p:cNvSpPr/>
          <p:nvPr/>
        </p:nvSpPr>
        <p:spPr>
          <a:xfrm>
            <a:off x="4419600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481818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24" name="Rectangle 23"/>
          <p:cNvSpPr/>
          <p:nvPr/>
        </p:nvSpPr>
        <p:spPr>
          <a:xfrm>
            <a:off x="481818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4818185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Rectangle 25"/>
          <p:cNvSpPr/>
          <p:nvPr/>
        </p:nvSpPr>
        <p:spPr>
          <a:xfrm>
            <a:off x="5216769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Rectangle 26"/>
          <p:cNvSpPr/>
          <p:nvPr/>
        </p:nvSpPr>
        <p:spPr>
          <a:xfrm>
            <a:off x="5216769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Rectangle 27"/>
          <p:cNvSpPr/>
          <p:nvPr/>
        </p:nvSpPr>
        <p:spPr>
          <a:xfrm>
            <a:off x="5615354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601393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" name="Rectangle 29"/>
          <p:cNvSpPr/>
          <p:nvPr/>
        </p:nvSpPr>
        <p:spPr>
          <a:xfrm>
            <a:off x="4818185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5216769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32" name="Rectangle 31"/>
          <p:cNvSpPr/>
          <p:nvPr/>
        </p:nvSpPr>
        <p:spPr>
          <a:xfrm>
            <a:off x="5216769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5216769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Rectangle 33"/>
          <p:cNvSpPr/>
          <p:nvPr/>
        </p:nvSpPr>
        <p:spPr>
          <a:xfrm>
            <a:off x="5615354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Rectangle 34"/>
          <p:cNvSpPr/>
          <p:nvPr/>
        </p:nvSpPr>
        <p:spPr>
          <a:xfrm>
            <a:off x="5615354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36" name="Rectangle 35"/>
          <p:cNvSpPr/>
          <p:nvPr/>
        </p:nvSpPr>
        <p:spPr>
          <a:xfrm>
            <a:off x="3223846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7" name="Rectangle 36"/>
          <p:cNvSpPr/>
          <p:nvPr/>
        </p:nvSpPr>
        <p:spPr>
          <a:xfrm>
            <a:off x="362243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3" name="Rectangle 42"/>
          <p:cNvSpPr/>
          <p:nvPr/>
        </p:nvSpPr>
        <p:spPr>
          <a:xfrm>
            <a:off x="402101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190630" y="2895599"/>
            <a:ext cx="1212362" cy="1572127"/>
            <a:chOff x="3597519" y="1913021"/>
            <a:chExt cx="1212362" cy="1572127"/>
          </a:xfrm>
        </p:grpSpPr>
        <p:sp>
          <p:nvSpPr>
            <p:cNvPr id="39" name="Rectangle 38"/>
            <p:cNvSpPr/>
            <p:nvPr/>
          </p:nvSpPr>
          <p:spPr>
            <a:xfrm>
              <a:off x="3597519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97519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711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02992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029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79496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402992" y="2699084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11296" y="3092116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958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84" y="-234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High Level Sketch of Universal Computation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30923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629508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62950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8092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2028092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2028092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2426677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2426677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2426677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282526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282526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3223846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16" name="Rectangle 15"/>
          <p:cNvSpPr/>
          <p:nvPr/>
        </p:nvSpPr>
        <p:spPr>
          <a:xfrm>
            <a:off x="3223846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3223846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3622431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362243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Rectangle 19"/>
          <p:cNvSpPr/>
          <p:nvPr/>
        </p:nvSpPr>
        <p:spPr>
          <a:xfrm>
            <a:off x="402101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4419600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22" name="Rectangle 21"/>
          <p:cNvSpPr/>
          <p:nvPr/>
        </p:nvSpPr>
        <p:spPr>
          <a:xfrm>
            <a:off x="4419600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481818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24" name="Rectangle 23"/>
          <p:cNvSpPr/>
          <p:nvPr/>
        </p:nvSpPr>
        <p:spPr>
          <a:xfrm>
            <a:off x="481818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4818185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Rectangle 25"/>
          <p:cNvSpPr/>
          <p:nvPr/>
        </p:nvSpPr>
        <p:spPr>
          <a:xfrm>
            <a:off x="5216769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Rectangle 26"/>
          <p:cNvSpPr/>
          <p:nvPr/>
        </p:nvSpPr>
        <p:spPr>
          <a:xfrm>
            <a:off x="5216769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Rectangle 27"/>
          <p:cNvSpPr/>
          <p:nvPr/>
        </p:nvSpPr>
        <p:spPr>
          <a:xfrm>
            <a:off x="5615354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601393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" name="Rectangle 29"/>
          <p:cNvSpPr/>
          <p:nvPr/>
        </p:nvSpPr>
        <p:spPr>
          <a:xfrm>
            <a:off x="4818185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5216769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32" name="Rectangle 31"/>
          <p:cNvSpPr/>
          <p:nvPr/>
        </p:nvSpPr>
        <p:spPr>
          <a:xfrm>
            <a:off x="5216769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5216769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Rectangle 33"/>
          <p:cNvSpPr/>
          <p:nvPr/>
        </p:nvSpPr>
        <p:spPr>
          <a:xfrm>
            <a:off x="5615354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Rectangle 34"/>
          <p:cNvSpPr/>
          <p:nvPr/>
        </p:nvSpPr>
        <p:spPr>
          <a:xfrm>
            <a:off x="5615354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36" name="Rectangle 35"/>
          <p:cNvSpPr/>
          <p:nvPr/>
        </p:nvSpPr>
        <p:spPr>
          <a:xfrm>
            <a:off x="3223846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7" name="Rectangle 36"/>
          <p:cNvSpPr/>
          <p:nvPr/>
        </p:nvSpPr>
        <p:spPr>
          <a:xfrm>
            <a:off x="362243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3" name="Rectangle 42"/>
          <p:cNvSpPr/>
          <p:nvPr/>
        </p:nvSpPr>
        <p:spPr>
          <a:xfrm>
            <a:off x="402101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190630" y="2895599"/>
            <a:ext cx="1212362" cy="1572127"/>
            <a:chOff x="3597519" y="1913021"/>
            <a:chExt cx="1212362" cy="1572127"/>
          </a:xfrm>
        </p:grpSpPr>
        <p:sp>
          <p:nvSpPr>
            <p:cNvPr id="39" name="Rectangle 38"/>
            <p:cNvSpPr/>
            <p:nvPr/>
          </p:nvSpPr>
          <p:spPr>
            <a:xfrm>
              <a:off x="3597519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97519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711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02992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029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79496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402992" y="2699084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11296" y="3092116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587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84" y="-234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High Level Sketch of Universal Computation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30923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629508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62950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8092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2028092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2028092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2426677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2426677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2426677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282526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282526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3223846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16" name="Rectangle 15"/>
          <p:cNvSpPr/>
          <p:nvPr/>
        </p:nvSpPr>
        <p:spPr>
          <a:xfrm>
            <a:off x="3223846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3223846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3622431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362243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Rectangle 19"/>
          <p:cNvSpPr/>
          <p:nvPr/>
        </p:nvSpPr>
        <p:spPr>
          <a:xfrm>
            <a:off x="402101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4419600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22" name="Rectangle 21"/>
          <p:cNvSpPr/>
          <p:nvPr/>
        </p:nvSpPr>
        <p:spPr>
          <a:xfrm>
            <a:off x="4419600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481818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24" name="Rectangle 23"/>
          <p:cNvSpPr/>
          <p:nvPr/>
        </p:nvSpPr>
        <p:spPr>
          <a:xfrm>
            <a:off x="481818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4818185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Rectangle 25"/>
          <p:cNvSpPr/>
          <p:nvPr/>
        </p:nvSpPr>
        <p:spPr>
          <a:xfrm>
            <a:off x="5216769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Rectangle 26"/>
          <p:cNvSpPr/>
          <p:nvPr/>
        </p:nvSpPr>
        <p:spPr>
          <a:xfrm>
            <a:off x="5216769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Rectangle 27"/>
          <p:cNvSpPr/>
          <p:nvPr/>
        </p:nvSpPr>
        <p:spPr>
          <a:xfrm>
            <a:off x="5615354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601393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" name="Rectangle 29"/>
          <p:cNvSpPr/>
          <p:nvPr/>
        </p:nvSpPr>
        <p:spPr>
          <a:xfrm>
            <a:off x="4818185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5216769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32" name="Rectangle 31"/>
          <p:cNvSpPr/>
          <p:nvPr/>
        </p:nvSpPr>
        <p:spPr>
          <a:xfrm>
            <a:off x="5216769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5216769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Rectangle 33"/>
          <p:cNvSpPr/>
          <p:nvPr/>
        </p:nvSpPr>
        <p:spPr>
          <a:xfrm>
            <a:off x="5615354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Rectangle 34"/>
          <p:cNvSpPr/>
          <p:nvPr/>
        </p:nvSpPr>
        <p:spPr>
          <a:xfrm>
            <a:off x="5615354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36" name="Rectangle 35"/>
          <p:cNvSpPr/>
          <p:nvPr/>
        </p:nvSpPr>
        <p:spPr>
          <a:xfrm>
            <a:off x="3223846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7" name="Rectangle 36"/>
          <p:cNvSpPr/>
          <p:nvPr/>
        </p:nvSpPr>
        <p:spPr>
          <a:xfrm>
            <a:off x="362243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3" name="Rectangle 42"/>
          <p:cNvSpPr/>
          <p:nvPr/>
        </p:nvSpPr>
        <p:spPr>
          <a:xfrm>
            <a:off x="402101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190630" y="2895599"/>
            <a:ext cx="1212362" cy="1572127"/>
            <a:chOff x="3597519" y="1913021"/>
            <a:chExt cx="1212362" cy="1572127"/>
          </a:xfrm>
        </p:grpSpPr>
        <p:sp>
          <p:nvSpPr>
            <p:cNvPr id="39" name="Rectangle 38"/>
            <p:cNvSpPr/>
            <p:nvPr/>
          </p:nvSpPr>
          <p:spPr>
            <a:xfrm>
              <a:off x="3597519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97519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711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02992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029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79496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402992" y="2699084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11296" y="3092116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3622431" y="3681662"/>
            <a:ext cx="398585" cy="393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0587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84" y="-234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High Level Sketch of Universal Computation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30923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629508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62950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8092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8" name="Rectangle 7"/>
          <p:cNvSpPr/>
          <p:nvPr/>
        </p:nvSpPr>
        <p:spPr>
          <a:xfrm>
            <a:off x="2028092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2028092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0" name="Rectangle 9"/>
          <p:cNvSpPr/>
          <p:nvPr/>
        </p:nvSpPr>
        <p:spPr>
          <a:xfrm>
            <a:off x="2426677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2426677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2426677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282526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4" name="Rectangle 13"/>
          <p:cNvSpPr/>
          <p:nvPr/>
        </p:nvSpPr>
        <p:spPr>
          <a:xfrm>
            <a:off x="282526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5" name="Rectangle 14"/>
          <p:cNvSpPr/>
          <p:nvPr/>
        </p:nvSpPr>
        <p:spPr>
          <a:xfrm>
            <a:off x="3223846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16" name="Rectangle 15"/>
          <p:cNvSpPr/>
          <p:nvPr/>
        </p:nvSpPr>
        <p:spPr>
          <a:xfrm>
            <a:off x="3223846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3223846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3622431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3622431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0" name="Rectangle 19"/>
          <p:cNvSpPr/>
          <p:nvPr/>
        </p:nvSpPr>
        <p:spPr>
          <a:xfrm>
            <a:off x="402101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1" name="Rectangle 20"/>
          <p:cNvSpPr/>
          <p:nvPr/>
        </p:nvSpPr>
        <p:spPr>
          <a:xfrm>
            <a:off x="4419600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sp>
        <p:nvSpPr>
          <p:cNvPr id="22" name="Rectangle 21"/>
          <p:cNvSpPr/>
          <p:nvPr/>
        </p:nvSpPr>
        <p:spPr>
          <a:xfrm>
            <a:off x="4419600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" name="Rectangle 22"/>
          <p:cNvSpPr/>
          <p:nvPr/>
        </p:nvSpPr>
        <p:spPr>
          <a:xfrm>
            <a:off x="481818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24" name="Rectangle 23"/>
          <p:cNvSpPr/>
          <p:nvPr/>
        </p:nvSpPr>
        <p:spPr>
          <a:xfrm>
            <a:off x="4818185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4818185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6" name="Rectangle 25"/>
          <p:cNvSpPr/>
          <p:nvPr/>
        </p:nvSpPr>
        <p:spPr>
          <a:xfrm>
            <a:off x="5216769" y="5253789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7" name="Rectangle 26"/>
          <p:cNvSpPr/>
          <p:nvPr/>
        </p:nvSpPr>
        <p:spPr>
          <a:xfrm>
            <a:off x="5216769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8" name="Rectangle 27"/>
          <p:cNvSpPr/>
          <p:nvPr/>
        </p:nvSpPr>
        <p:spPr>
          <a:xfrm>
            <a:off x="5615354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9" name="Rectangle 28"/>
          <p:cNvSpPr/>
          <p:nvPr/>
        </p:nvSpPr>
        <p:spPr>
          <a:xfrm>
            <a:off x="6013938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0" name="Rectangle 29"/>
          <p:cNvSpPr/>
          <p:nvPr/>
        </p:nvSpPr>
        <p:spPr>
          <a:xfrm>
            <a:off x="4818185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5216769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sp>
        <p:nvSpPr>
          <p:cNvPr id="32" name="Rectangle 31"/>
          <p:cNvSpPr/>
          <p:nvPr/>
        </p:nvSpPr>
        <p:spPr>
          <a:xfrm>
            <a:off x="5216769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5216769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4" name="Rectangle 33"/>
          <p:cNvSpPr/>
          <p:nvPr/>
        </p:nvSpPr>
        <p:spPr>
          <a:xfrm>
            <a:off x="5615354" y="4467726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5" name="Rectangle 34"/>
          <p:cNvSpPr/>
          <p:nvPr/>
        </p:nvSpPr>
        <p:spPr>
          <a:xfrm>
            <a:off x="5615354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0</a:t>
            </a:r>
            <a:endParaRPr lang="en-US" sz="3600" dirty="0"/>
          </a:p>
        </p:txBody>
      </p:sp>
      <p:sp>
        <p:nvSpPr>
          <p:cNvPr id="36" name="Rectangle 35"/>
          <p:cNvSpPr/>
          <p:nvPr/>
        </p:nvSpPr>
        <p:spPr>
          <a:xfrm>
            <a:off x="3223846" y="3681663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37" name="Rectangle 36"/>
          <p:cNvSpPr/>
          <p:nvPr/>
        </p:nvSpPr>
        <p:spPr>
          <a:xfrm>
            <a:off x="3622431" y="4074695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3" name="Rectangle 42"/>
          <p:cNvSpPr/>
          <p:nvPr/>
        </p:nvSpPr>
        <p:spPr>
          <a:xfrm>
            <a:off x="4021015" y="4860758"/>
            <a:ext cx="398585" cy="39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48" name="Rectangle 47"/>
          <p:cNvSpPr/>
          <p:nvPr/>
        </p:nvSpPr>
        <p:spPr>
          <a:xfrm>
            <a:off x="3622431" y="3681662"/>
            <a:ext cx="398585" cy="393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sz="3600" dirty="0"/>
          </a:p>
        </p:txBody>
      </p:sp>
      <p:grpSp>
        <p:nvGrpSpPr>
          <p:cNvPr id="50" name="Group 49"/>
          <p:cNvGrpSpPr/>
          <p:nvPr/>
        </p:nvGrpSpPr>
        <p:grpSpPr>
          <a:xfrm>
            <a:off x="3796811" y="2035989"/>
            <a:ext cx="1212362" cy="1572127"/>
            <a:chOff x="3597519" y="1913021"/>
            <a:chExt cx="1212362" cy="1572127"/>
          </a:xfrm>
        </p:grpSpPr>
        <p:sp>
          <p:nvSpPr>
            <p:cNvPr id="51" name="Rectangle 50"/>
            <p:cNvSpPr/>
            <p:nvPr/>
          </p:nvSpPr>
          <p:spPr>
            <a:xfrm>
              <a:off x="3597519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597519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711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402992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402992" y="1913021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79496" y="2306053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402992" y="2699084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411296" y="3092116"/>
              <a:ext cx="398585" cy="3930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843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2" name="Group 129"/>
          <p:cNvGrpSpPr/>
          <p:nvPr/>
        </p:nvGrpSpPr>
        <p:grpSpPr>
          <a:xfrm>
            <a:off x="4572000" y="1981200"/>
            <a:ext cx="1371600" cy="762000"/>
            <a:chOff x="1066800" y="3429000"/>
            <a:chExt cx="1371600" cy="762000"/>
          </a:xfrm>
        </p:grpSpPr>
        <p:sp>
          <p:nvSpPr>
            <p:cNvPr id="55" name="TextBox 54"/>
            <p:cNvSpPr txBox="1"/>
            <p:nvPr/>
          </p:nvSpPr>
          <p:spPr>
            <a:xfrm>
              <a:off x="1780848" y="3593068"/>
              <a:ext cx="657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-30%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3" name="Group 56"/>
            <p:cNvGrpSpPr/>
            <p:nvPr/>
          </p:nvGrpSpPr>
          <p:grpSpPr>
            <a:xfrm>
              <a:off x="1066800" y="3429000"/>
              <a:ext cx="762000" cy="762000"/>
              <a:chOff x="533400" y="838200"/>
              <a:chExt cx="762000" cy="762000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Connector 50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295400" y="990600"/>
                <a:ext cx="0" cy="38100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56"/>
          <p:cNvGrpSpPr/>
          <p:nvPr/>
        </p:nvGrpSpPr>
        <p:grpSpPr>
          <a:xfrm>
            <a:off x="5486400" y="838200"/>
            <a:ext cx="762000" cy="762000"/>
            <a:chOff x="533400" y="838200"/>
            <a:chExt cx="762000" cy="762000"/>
          </a:xfrm>
        </p:grpSpPr>
        <p:sp>
          <p:nvSpPr>
            <p:cNvPr id="65" name="Rectangle 64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85800" y="1600200"/>
              <a:ext cx="381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295400" y="990600"/>
              <a:ext cx="0" cy="381000"/>
            </a:xfrm>
            <a:prstGeom prst="line">
              <a:avLst/>
            </a:prstGeom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7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8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10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2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87"/>
          <p:cNvGrpSpPr/>
          <p:nvPr/>
        </p:nvGrpSpPr>
        <p:grpSpPr>
          <a:xfrm>
            <a:off x="152400" y="609600"/>
            <a:ext cx="4572000" cy="1893332"/>
            <a:chOff x="152400" y="609600"/>
            <a:chExt cx="4572000" cy="1893332"/>
          </a:xfrm>
        </p:grpSpPr>
        <p:grpSp>
          <p:nvGrpSpPr>
            <p:cNvPr id="14" name="Group 128"/>
            <p:cNvGrpSpPr/>
            <p:nvPr/>
          </p:nvGrpSpPr>
          <p:grpSpPr>
            <a:xfrm>
              <a:off x="152400" y="609600"/>
              <a:ext cx="4572000" cy="1893332"/>
              <a:chOff x="152400" y="609600"/>
              <a:chExt cx="4572000" cy="1893332"/>
            </a:xfrm>
          </p:grpSpPr>
          <p:grpSp>
            <p:nvGrpSpPr>
              <p:cNvPr id="15" name="Group 112"/>
              <p:cNvGrpSpPr/>
              <p:nvPr/>
            </p:nvGrpSpPr>
            <p:grpSpPr>
              <a:xfrm>
                <a:off x="152400" y="609600"/>
                <a:ext cx="4572000" cy="1893332"/>
                <a:chOff x="2362200" y="3810000"/>
                <a:chExt cx="4572000" cy="1893332"/>
              </a:xfrm>
            </p:grpSpPr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276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41"/>
                <p:cNvGrpSpPr/>
                <p:nvPr/>
              </p:nvGrpSpPr>
              <p:grpSpPr>
                <a:xfrm>
                  <a:off x="2362200" y="3810000"/>
                  <a:ext cx="4572000" cy="1893332"/>
                  <a:chOff x="3048000" y="1600200"/>
                  <a:chExt cx="4572000" cy="1893332"/>
                </a:xfrm>
              </p:grpSpPr>
              <p:sp>
                <p:nvSpPr>
                  <p:cNvPr id="93" name="Rectangle 92"/>
                  <p:cNvSpPr/>
                  <p:nvPr/>
                </p:nvSpPr>
                <p:spPr>
                  <a:xfrm>
                    <a:off x="5334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" name="Rectangle 139"/>
                  <p:cNvSpPr/>
                  <p:nvPr/>
                </p:nvSpPr>
                <p:spPr>
                  <a:xfrm>
                    <a:off x="6096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Rectangle 140"/>
                  <p:cNvSpPr/>
                  <p:nvPr/>
                </p:nvSpPr>
                <p:spPr>
                  <a:xfrm>
                    <a:off x="685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Rectangle 141"/>
                  <p:cNvSpPr/>
                  <p:nvPr/>
                </p:nvSpPr>
                <p:spPr>
                  <a:xfrm>
                    <a:off x="4572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3810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Rectangle 143"/>
                  <p:cNvSpPr/>
                  <p:nvPr/>
                </p:nvSpPr>
                <p:spPr>
                  <a:xfrm>
                    <a:off x="304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3048000" y="2362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7" name="Straight Connector 146"/>
                  <p:cNvCxnSpPr/>
                  <p:nvPr/>
                </p:nvCxnSpPr>
                <p:spPr>
                  <a:xfrm>
                    <a:off x="3939820" y="2350532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/>
                  <p:cNvCxnSpPr/>
                  <p:nvPr/>
                </p:nvCxnSpPr>
                <p:spPr>
                  <a:xfrm>
                    <a:off x="4774814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/>
                  <p:cNvCxnSpPr/>
                  <p:nvPr/>
                </p:nvCxnSpPr>
                <p:spPr>
                  <a:xfrm>
                    <a:off x="5562600" y="2362200"/>
                    <a:ext cx="355214" cy="0"/>
                  </a:xfrm>
                  <a:prstGeom prst="line">
                    <a:avLst/>
                  </a:prstGeom>
                  <a:ln w="76200"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>
                    <a:off x="6302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/>
                  <p:cNvCxnSpPr/>
                  <p:nvPr/>
                </p:nvCxnSpPr>
                <p:spPr>
                  <a:xfrm>
                    <a:off x="7064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" name="TextBox 155"/>
                  <p:cNvSpPr txBox="1"/>
                  <p:nvPr/>
                </p:nvSpPr>
                <p:spPr>
                  <a:xfrm>
                    <a:off x="3124200" y="3124200"/>
                    <a:ext cx="5838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 smtClean="0"/>
                      <a:t>75%</a:t>
                    </a:r>
                    <a:endParaRPr lang="en-US" b="1" dirty="0"/>
                  </a:p>
                </p:txBody>
              </p:sp>
              <p:cxnSp>
                <p:nvCxnSpPr>
                  <p:cNvPr id="157" name="Straight Connector 156"/>
                  <p:cNvCxnSpPr/>
                  <p:nvPr/>
                </p:nvCxnSpPr>
                <p:spPr>
                  <a:xfrm>
                    <a:off x="3200400" y="3124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3" name="Straight Connector 162"/>
                <p:cNvCxnSpPr/>
                <p:nvPr/>
              </p:nvCxnSpPr>
              <p:spPr>
                <a:xfrm>
                  <a:off x="5562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6324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TextBox 93"/>
              <p:cNvSpPr txBox="1"/>
              <p:nvPr/>
            </p:nvSpPr>
            <p:spPr>
              <a:xfrm>
                <a:off x="2616586" y="1371600"/>
                <a:ext cx="583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25%</a:t>
                </a:r>
                <a:endParaRPr lang="en-US" b="1" dirty="0"/>
              </a:p>
            </p:txBody>
          </p:sp>
        </p:grpSp>
        <p:grpSp>
          <p:nvGrpSpPr>
            <p:cNvPr id="17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67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68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69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0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1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2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Group 186"/>
          <p:cNvGrpSpPr/>
          <p:nvPr/>
        </p:nvGrpSpPr>
        <p:grpSpPr>
          <a:xfrm>
            <a:off x="2362200" y="5181600"/>
            <a:ext cx="4572000" cy="1524000"/>
            <a:chOff x="2362200" y="5181600"/>
            <a:chExt cx="4572000" cy="1524000"/>
          </a:xfrm>
        </p:grpSpPr>
        <p:grpSp>
          <p:nvGrpSpPr>
            <p:cNvPr id="24" name="Group 127"/>
            <p:cNvGrpSpPr/>
            <p:nvPr/>
          </p:nvGrpSpPr>
          <p:grpSpPr>
            <a:xfrm>
              <a:off x="2362200" y="5181600"/>
              <a:ext cx="4572000" cy="1524000"/>
              <a:chOff x="2209800" y="4495800"/>
              <a:chExt cx="4572000" cy="1524000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4495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5257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4495800" y="44958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0</a:t>
                </a:r>
                <a:endParaRPr lang="en-US" sz="1400" b="1" dirty="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3733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6019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733800" y="4495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2971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2209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Connector 115"/>
              <p:cNvCxnSpPr/>
              <p:nvPr/>
            </p:nvCxnSpPr>
            <p:spPr>
              <a:xfrm>
                <a:off x="4648200" y="4495800"/>
                <a:ext cx="381000" cy="0"/>
              </a:xfrm>
              <a:prstGeom prst="line">
                <a:avLst/>
              </a:prstGeom>
              <a:ln w="762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6200448" y="52578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/>
              <p:cNvSpPr txBox="1"/>
              <p:nvPr/>
            </p:nvSpPr>
            <p:spPr>
              <a:xfrm>
                <a:off x="3152448" y="4724400"/>
                <a:ext cx="657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-30%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1" name="Straight Connector 120"/>
              <p:cNvCxnSpPr/>
              <p:nvPr/>
            </p:nvCxnSpPr>
            <p:spPr>
              <a:xfrm>
                <a:off x="3733800" y="4636532"/>
                <a:ext cx="0" cy="38100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3124200" y="5257800"/>
                <a:ext cx="381000" cy="0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2362200" y="5257800"/>
                <a:ext cx="381000" cy="0"/>
              </a:xfrm>
              <a:prstGeom prst="line">
                <a:avLst/>
              </a:prstGeom>
              <a:ln w="76200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Box 123"/>
              <p:cNvSpPr txBox="1"/>
              <p:nvPr/>
            </p:nvSpPr>
            <p:spPr>
              <a:xfrm>
                <a:off x="3962400" y="5105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90</a:t>
                </a:r>
                <a:endParaRPr lang="en-US" sz="1200" b="1" dirty="0"/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4292986" y="4724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30</a:t>
                </a:r>
                <a:endParaRPr lang="en-US" sz="1200" b="1" dirty="0"/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673986" y="5105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70</a:t>
                </a:r>
                <a:endParaRPr lang="en-US" sz="1200" b="1" dirty="0"/>
              </a:p>
            </p:txBody>
          </p:sp>
        </p:grpSp>
        <p:grpSp>
          <p:nvGrpSpPr>
            <p:cNvPr id="25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4" name="Object 17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3" name="Equation" r:id="rId13" imgW="152280" imgH="126720" progId="Equation.3">
                      <p:embed/>
                    </p:oleObj>
                  </mc:Choice>
                  <mc:Fallback>
                    <p:oleObj name="Equation" r:id="rId13" imgW="152280" imgH="12672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76" name="Rectangle 17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7" name="Object 17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4" name="Equation" r:id="rId14" imgW="152280" imgH="126720" progId="Equation.3">
                      <p:embed/>
                    </p:oleObj>
                  </mc:Choice>
                  <mc:Fallback>
                    <p:oleObj name="Equation" r:id="rId14" imgW="152280" imgH="12672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79" name="Rectangle 17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0" name="Object 17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5" name="Equation" r:id="rId15" imgW="152280" imgH="126720" progId="Equation.3">
                      <p:embed/>
                    </p:oleObj>
                  </mc:Choice>
                  <mc:Fallback>
                    <p:oleObj name="Equation" r:id="rId15" imgW="152280" imgH="12672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3" name="Object 18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6" name="Equation" r:id="rId16" imgW="152280" imgH="126720" progId="Equation.3">
                      <p:embed/>
                    </p:oleObj>
                  </mc:Choice>
                  <mc:Fallback>
                    <p:oleObj name="Equation" r:id="rId16" imgW="152280" imgH="12672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85" name="Rectangle 18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6" name="Object 18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7" name="Equation" r:id="rId17" imgW="152280" imgH="126720" progId="Equation.3">
                      <p:embed/>
                    </p:oleObj>
                  </mc:Choice>
                  <mc:Fallback>
                    <p:oleObj name="Equation" r:id="rId17" imgW="152280" imgH="12672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14 0.062 C -0.0007 0.16771 0.01892 0.27343 0.0559 0.33172 C 0.09288 0.39001 0.17031 0.37752 0.20156 0.41199 C 0.23281 0.44645 0.2375 0.51562 0.24375 0.53875 C 0.25 0.56188 0.24444 0.55587 0.23889 0.55009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00" y="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2" name="Group 129"/>
          <p:cNvGrpSpPr/>
          <p:nvPr/>
        </p:nvGrpSpPr>
        <p:grpSpPr>
          <a:xfrm>
            <a:off x="4572000" y="1981200"/>
            <a:ext cx="1371600" cy="762000"/>
            <a:chOff x="1066800" y="3429000"/>
            <a:chExt cx="1371600" cy="762000"/>
          </a:xfrm>
        </p:grpSpPr>
        <p:sp>
          <p:nvSpPr>
            <p:cNvPr id="55" name="TextBox 54"/>
            <p:cNvSpPr txBox="1"/>
            <p:nvPr/>
          </p:nvSpPr>
          <p:spPr>
            <a:xfrm>
              <a:off x="1780848" y="3593068"/>
              <a:ext cx="657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-30%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3" name="Group 56"/>
            <p:cNvGrpSpPr/>
            <p:nvPr/>
          </p:nvGrpSpPr>
          <p:grpSpPr>
            <a:xfrm>
              <a:off x="1066800" y="3429000"/>
              <a:ext cx="762000" cy="762000"/>
              <a:chOff x="533400" y="838200"/>
              <a:chExt cx="762000" cy="762000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Connector 50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295400" y="990600"/>
                <a:ext cx="0" cy="38100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56"/>
          <p:cNvGrpSpPr/>
          <p:nvPr/>
        </p:nvGrpSpPr>
        <p:grpSpPr>
          <a:xfrm>
            <a:off x="5486400" y="838200"/>
            <a:ext cx="762000" cy="762000"/>
            <a:chOff x="533400" y="838200"/>
            <a:chExt cx="762000" cy="762000"/>
          </a:xfrm>
        </p:grpSpPr>
        <p:sp>
          <p:nvSpPr>
            <p:cNvPr id="65" name="Rectangle 64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85800" y="1600200"/>
              <a:ext cx="381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295400" y="990600"/>
              <a:ext cx="0" cy="381000"/>
            </a:xfrm>
            <a:prstGeom prst="line">
              <a:avLst/>
            </a:prstGeom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7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8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10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2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14" name="Group 128"/>
            <p:cNvGrpSpPr/>
            <p:nvPr/>
          </p:nvGrpSpPr>
          <p:grpSpPr>
            <a:xfrm>
              <a:off x="152400" y="609600"/>
              <a:ext cx="4572000" cy="1524000"/>
              <a:chOff x="152400" y="609600"/>
              <a:chExt cx="4572000" cy="1524000"/>
            </a:xfrm>
          </p:grpSpPr>
          <p:grpSp>
            <p:nvGrpSpPr>
              <p:cNvPr id="15" name="Group 112"/>
              <p:cNvGrpSpPr/>
              <p:nvPr/>
            </p:nvGrpSpPr>
            <p:grpSpPr>
              <a:xfrm>
                <a:off x="152400" y="609600"/>
                <a:ext cx="4572000" cy="1524000"/>
                <a:chOff x="2362200" y="3810000"/>
                <a:chExt cx="4572000" cy="1524000"/>
              </a:xfrm>
            </p:grpSpPr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276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41"/>
                <p:cNvGrpSpPr/>
                <p:nvPr/>
              </p:nvGrpSpPr>
              <p:grpSpPr>
                <a:xfrm>
                  <a:off x="2362200" y="3810000"/>
                  <a:ext cx="4572000" cy="1524000"/>
                  <a:chOff x="3048000" y="1600200"/>
                  <a:chExt cx="4572000" cy="1524000"/>
                </a:xfrm>
              </p:grpSpPr>
              <p:cxnSp>
                <p:nvCxnSpPr>
                  <p:cNvPr id="148" name="Straight Connector 147"/>
                  <p:cNvCxnSpPr/>
                  <p:nvPr/>
                </p:nvCxnSpPr>
                <p:spPr>
                  <a:xfrm>
                    <a:off x="4774814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Rectangle 92"/>
                  <p:cNvSpPr/>
                  <p:nvPr/>
                </p:nvSpPr>
                <p:spPr>
                  <a:xfrm>
                    <a:off x="5334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" name="Rectangle 139"/>
                  <p:cNvSpPr/>
                  <p:nvPr/>
                </p:nvSpPr>
                <p:spPr>
                  <a:xfrm>
                    <a:off x="6096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Rectangle 140"/>
                  <p:cNvSpPr/>
                  <p:nvPr/>
                </p:nvSpPr>
                <p:spPr>
                  <a:xfrm>
                    <a:off x="685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Rectangle 141"/>
                  <p:cNvSpPr/>
                  <p:nvPr/>
                </p:nvSpPr>
                <p:spPr>
                  <a:xfrm>
                    <a:off x="4572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3810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Rectangle 143"/>
                  <p:cNvSpPr/>
                  <p:nvPr/>
                </p:nvSpPr>
                <p:spPr>
                  <a:xfrm>
                    <a:off x="304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3048000" y="2362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7" name="Straight Connector 146"/>
                  <p:cNvCxnSpPr/>
                  <p:nvPr/>
                </p:nvCxnSpPr>
                <p:spPr>
                  <a:xfrm>
                    <a:off x="3939820" y="2350532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/>
                  <p:cNvCxnSpPr/>
                  <p:nvPr/>
                </p:nvCxnSpPr>
                <p:spPr>
                  <a:xfrm>
                    <a:off x="5562600" y="2362200"/>
                    <a:ext cx="355214" cy="0"/>
                  </a:xfrm>
                  <a:prstGeom prst="line">
                    <a:avLst/>
                  </a:prstGeom>
                  <a:ln w="76200"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>
                    <a:off x="6302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/>
                  <p:cNvCxnSpPr/>
                  <p:nvPr/>
                </p:nvCxnSpPr>
                <p:spPr>
                  <a:xfrm>
                    <a:off x="7064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3" name="Straight Connector 162"/>
                <p:cNvCxnSpPr/>
                <p:nvPr/>
              </p:nvCxnSpPr>
              <p:spPr>
                <a:xfrm>
                  <a:off x="5562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6324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TextBox 93"/>
              <p:cNvSpPr txBox="1"/>
              <p:nvPr/>
            </p:nvSpPr>
            <p:spPr>
              <a:xfrm>
                <a:off x="2616586" y="1371600"/>
                <a:ext cx="583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25%</a:t>
                </a:r>
                <a:endParaRPr lang="en-US" b="1" dirty="0"/>
              </a:p>
            </p:txBody>
          </p:sp>
        </p:grpSp>
        <p:grpSp>
          <p:nvGrpSpPr>
            <p:cNvPr id="17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0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1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2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3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4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5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Group 186"/>
          <p:cNvGrpSpPr/>
          <p:nvPr/>
        </p:nvGrpSpPr>
        <p:grpSpPr>
          <a:xfrm>
            <a:off x="2362200" y="5181600"/>
            <a:ext cx="4572000" cy="1524000"/>
            <a:chOff x="2362200" y="5181600"/>
            <a:chExt cx="4572000" cy="1524000"/>
          </a:xfrm>
        </p:grpSpPr>
        <p:grpSp>
          <p:nvGrpSpPr>
            <p:cNvPr id="24" name="Group 127"/>
            <p:cNvGrpSpPr/>
            <p:nvPr/>
          </p:nvGrpSpPr>
          <p:grpSpPr>
            <a:xfrm>
              <a:off x="2362200" y="5181600"/>
              <a:ext cx="4572000" cy="1524000"/>
              <a:chOff x="2209800" y="4495800"/>
              <a:chExt cx="4572000" cy="1524000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4495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5257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4495800" y="44958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0</a:t>
                </a:r>
                <a:endParaRPr lang="en-US" sz="1400" b="1" dirty="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3733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6019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733800" y="4495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2971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2209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Connector 115"/>
              <p:cNvCxnSpPr/>
              <p:nvPr/>
            </p:nvCxnSpPr>
            <p:spPr>
              <a:xfrm>
                <a:off x="4648200" y="4495800"/>
                <a:ext cx="381000" cy="0"/>
              </a:xfrm>
              <a:prstGeom prst="line">
                <a:avLst/>
              </a:prstGeom>
              <a:ln w="762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6200448" y="52578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/>
              <p:cNvSpPr txBox="1"/>
              <p:nvPr/>
            </p:nvSpPr>
            <p:spPr>
              <a:xfrm>
                <a:off x="3152448" y="4724400"/>
                <a:ext cx="657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-30%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1" name="Straight Connector 120"/>
              <p:cNvCxnSpPr/>
              <p:nvPr/>
            </p:nvCxnSpPr>
            <p:spPr>
              <a:xfrm>
                <a:off x="3733800" y="4636532"/>
                <a:ext cx="0" cy="38100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3124200" y="5257800"/>
                <a:ext cx="381000" cy="0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Box 123"/>
              <p:cNvSpPr txBox="1"/>
              <p:nvPr/>
            </p:nvSpPr>
            <p:spPr>
              <a:xfrm>
                <a:off x="3962400" y="5105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90</a:t>
                </a:r>
                <a:endParaRPr lang="en-US" sz="1200" b="1" dirty="0"/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4292986" y="4724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30</a:t>
                </a:r>
                <a:endParaRPr lang="en-US" sz="1200" b="1" dirty="0"/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673986" y="5105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70</a:t>
                </a:r>
                <a:endParaRPr lang="en-US" sz="1200" b="1" dirty="0"/>
              </a:p>
            </p:txBody>
          </p:sp>
        </p:grpSp>
        <p:grpSp>
          <p:nvGrpSpPr>
            <p:cNvPr id="25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4" name="Object 17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6" name="Equation" r:id="rId13" imgW="152280" imgH="126720" progId="Equation.3">
                      <p:embed/>
                    </p:oleObj>
                  </mc:Choice>
                  <mc:Fallback>
                    <p:oleObj name="Equation" r:id="rId13" imgW="152280" imgH="12672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76" name="Rectangle 17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7" name="Object 17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7" name="Equation" r:id="rId14" imgW="152280" imgH="126720" progId="Equation.3">
                      <p:embed/>
                    </p:oleObj>
                  </mc:Choice>
                  <mc:Fallback>
                    <p:oleObj name="Equation" r:id="rId14" imgW="152280" imgH="12672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79" name="Rectangle 17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0" name="Object 17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8" name="Equation" r:id="rId15" imgW="152280" imgH="126720" progId="Equation.3">
                      <p:embed/>
                    </p:oleObj>
                  </mc:Choice>
                  <mc:Fallback>
                    <p:oleObj name="Equation" r:id="rId15" imgW="152280" imgH="12672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3" name="Object 18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89" name="Equation" r:id="rId16" imgW="152280" imgH="126720" progId="Equation.3">
                      <p:embed/>
                    </p:oleObj>
                  </mc:Choice>
                  <mc:Fallback>
                    <p:oleObj name="Equation" r:id="rId16" imgW="152280" imgH="12672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85" name="Rectangle 18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6" name="Object 18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0" name="Equation" r:id="rId17" imgW="152280" imgH="126720" progId="Equation.3">
                      <p:embed/>
                    </p:oleObj>
                  </mc:Choice>
                  <mc:Fallback>
                    <p:oleObj name="Equation" r:id="rId17" imgW="152280" imgH="12672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12" name="TextBox 111"/>
          <p:cNvSpPr txBox="1"/>
          <p:nvPr/>
        </p:nvSpPr>
        <p:spPr>
          <a:xfrm>
            <a:off x="48263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25</a:t>
            </a:r>
            <a:endParaRPr lang="en-US" sz="1200" b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5" name="Group 56"/>
          <p:cNvGrpSpPr/>
          <p:nvPr/>
        </p:nvGrpSpPr>
        <p:grpSpPr>
          <a:xfrm>
            <a:off x="5486400" y="838200"/>
            <a:ext cx="762000" cy="762000"/>
            <a:chOff x="533400" y="838200"/>
            <a:chExt cx="762000" cy="762000"/>
          </a:xfrm>
        </p:grpSpPr>
        <p:sp>
          <p:nvSpPr>
            <p:cNvPr id="65" name="Rectangle 64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85800" y="1600200"/>
              <a:ext cx="381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295400" y="990600"/>
              <a:ext cx="0" cy="381000"/>
            </a:xfrm>
            <a:prstGeom prst="line">
              <a:avLst/>
            </a:prstGeom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7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8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10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2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14" name="Group 128"/>
            <p:cNvGrpSpPr/>
            <p:nvPr/>
          </p:nvGrpSpPr>
          <p:grpSpPr>
            <a:xfrm>
              <a:off x="152400" y="609600"/>
              <a:ext cx="4572000" cy="1524000"/>
              <a:chOff x="152400" y="609600"/>
              <a:chExt cx="4572000" cy="1524000"/>
            </a:xfrm>
          </p:grpSpPr>
          <p:grpSp>
            <p:nvGrpSpPr>
              <p:cNvPr id="15" name="Group 112"/>
              <p:cNvGrpSpPr/>
              <p:nvPr/>
            </p:nvGrpSpPr>
            <p:grpSpPr>
              <a:xfrm>
                <a:off x="152400" y="609600"/>
                <a:ext cx="4572000" cy="1524000"/>
                <a:chOff x="2362200" y="3810000"/>
                <a:chExt cx="4572000" cy="1524000"/>
              </a:xfrm>
            </p:grpSpPr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276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41"/>
                <p:cNvGrpSpPr/>
                <p:nvPr/>
              </p:nvGrpSpPr>
              <p:grpSpPr>
                <a:xfrm>
                  <a:off x="2362200" y="3810000"/>
                  <a:ext cx="4572000" cy="1524000"/>
                  <a:chOff x="3048000" y="1600200"/>
                  <a:chExt cx="4572000" cy="1524000"/>
                </a:xfrm>
              </p:grpSpPr>
              <p:cxnSp>
                <p:nvCxnSpPr>
                  <p:cNvPr id="148" name="Straight Connector 147"/>
                  <p:cNvCxnSpPr/>
                  <p:nvPr/>
                </p:nvCxnSpPr>
                <p:spPr>
                  <a:xfrm>
                    <a:off x="4774814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Rectangle 92"/>
                  <p:cNvSpPr/>
                  <p:nvPr/>
                </p:nvSpPr>
                <p:spPr>
                  <a:xfrm>
                    <a:off x="5334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" name="Rectangle 139"/>
                  <p:cNvSpPr/>
                  <p:nvPr/>
                </p:nvSpPr>
                <p:spPr>
                  <a:xfrm>
                    <a:off x="6096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Rectangle 140"/>
                  <p:cNvSpPr/>
                  <p:nvPr/>
                </p:nvSpPr>
                <p:spPr>
                  <a:xfrm>
                    <a:off x="685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Rectangle 141"/>
                  <p:cNvSpPr/>
                  <p:nvPr/>
                </p:nvSpPr>
                <p:spPr>
                  <a:xfrm>
                    <a:off x="4572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3810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Rectangle 143"/>
                  <p:cNvSpPr/>
                  <p:nvPr/>
                </p:nvSpPr>
                <p:spPr>
                  <a:xfrm>
                    <a:off x="304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3048000" y="2362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7" name="Straight Connector 146"/>
                  <p:cNvCxnSpPr/>
                  <p:nvPr/>
                </p:nvCxnSpPr>
                <p:spPr>
                  <a:xfrm>
                    <a:off x="3939820" y="2350532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/>
                  <p:cNvCxnSpPr/>
                  <p:nvPr/>
                </p:nvCxnSpPr>
                <p:spPr>
                  <a:xfrm>
                    <a:off x="5562600" y="2362200"/>
                    <a:ext cx="355214" cy="0"/>
                  </a:xfrm>
                  <a:prstGeom prst="line">
                    <a:avLst/>
                  </a:prstGeom>
                  <a:ln w="76200"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>
                    <a:off x="6302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/>
                  <p:cNvCxnSpPr/>
                  <p:nvPr/>
                </p:nvCxnSpPr>
                <p:spPr>
                  <a:xfrm>
                    <a:off x="7064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3" name="Straight Connector 162"/>
                <p:cNvCxnSpPr/>
                <p:nvPr/>
              </p:nvCxnSpPr>
              <p:spPr>
                <a:xfrm>
                  <a:off x="5562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6324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TextBox 93"/>
              <p:cNvSpPr txBox="1"/>
              <p:nvPr/>
            </p:nvSpPr>
            <p:spPr>
              <a:xfrm>
                <a:off x="2616586" y="1371600"/>
                <a:ext cx="583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25%</a:t>
                </a:r>
                <a:endParaRPr lang="en-US" b="1" dirty="0"/>
              </a:p>
            </p:txBody>
          </p:sp>
        </p:grpSp>
        <p:grpSp>
          <p:nvGrpSpPr>
            <p:cNvPr id="17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28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29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0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1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2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3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Group 186"/>
          <p:cNvGrpSpPr/>
          <p:nvPr/>
        </p:nvGrpSpPr>
        <p:grpSpPr>
          <a:xfrm>
            <a:off x="2362200" y="5181600"/>
            <a:ext cx="4572000" cy="1524000"/>
            <a:chOff x="2362200" y="5181600"/>
            <a:chExt cx="4572000" cy="1524000"/>
          </a:xfrm>
        </p:grpSpPr>
        <p:grpSp>
          <p:nvGrpSpPr>
            <p:cNvPr id="24" name="Group 127"/>
            <p:cNvGrpSpPr/>
            <p:nvPr/>
          </p:nvGrpSpPr>
          <p:grpSpPr>
            <a:xfrm>
              <a:off x="2362200" y="5181600"/>
              <a:ext cx="4572000" cy="1524000"/>
              <a:chOff x="2209800" y="4495800"/>
              <a:chExt cx="4572000" cy="1524000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4495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5257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4495800" y="44958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0</a:t>
                </a:r>
                <a:endParaRPr lang="en-US" sz="1400" b="1" dirty="0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3733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6019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733800" y="4495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2971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2209800" y="52578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Connector 115"/>
              <p:cNvCxnSpPr/>
              <p:nvPr/>
            </p:nvCxnSpPr>
            <p:spPr>
              <a:xfrm>
                <a:off x="4648200" y="4495800"/>
                <a:ext cx="381000" cy="0"/>
              </a:xfrm>
              <a:prstGeom prst="line">
                <a:avLst/>
              </a:prstGeom>
              <a:ln w="762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6200448" y="52578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/>
              <p:cNvSpPr txBox="1"/>
              <p:nvPr/>
            </p:nvSpPr>
            <p:spPr>
              <a:xfrm>
                <a:off x="3152448" y="4724400"/>
                <a:ext cx="657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-30%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1" name="Straight Connector 120"/>
              <p:cNvCxnSpPr/>
              <p:nvPr/>
            </p:nvCxnSpPr>
            <p:spPr>
              <a:xfrm>
                <a:off x="3733800" y="4636532"/>
                <a:ext cx="0" cy="38100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3124200" y="5257800"/>
                <a:ext cx="381000" cy="0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Box 123"/>
              <p:cNvSpPr txBox="1"/>
              <p:nvPr/>
            </p:nvSpPr>
            <p:spPr>
              <a:xfrm>
                <a:off x="3962400" y="5105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90</a:t>
                </a:r>
                <a:endParaRPr lang="en-US" sz="1200" b="1" dirty="0"/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4292986" y="4724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30</a:t>
                </a:r>
                <a:endParaRPr lang="en-US" sz="1200" b="1" dirty="0"/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673986" y="51054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70</a:t>
                </a:r>
                <a:endParaRPr lang="en-US" sz="1200" b="1" dirty="0"/>
              </a:p>
            </p:txBody>
          </p:sp>
        </p:grpSp>
        <p:grpSp>
          <p:nvGrpSpPr>
            <p:cNvPr id="25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4" name="Object 17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4" name="Equation" r:id="rId13" imgW="152280" imgH="126720" progId="Equation.3">
                      <p:embed/>
                    </p:oleObj>
                  </mc:Choice>
                  <mc:Fallback>
                    <p:oleObj name="Equation" r:id="rId13" imgW="152280" imgH="12672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76" name="Rectangle 17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7" name="Object 17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5" name="Equation" r:id="rId14" imgW="152280" imgH="126720" progId="Equation.3">
                      <p:embed/>
                    </p:oleObj>
                  </mc:Choice>
                  <mc:Fallback>
                    <p:oleObj name="Equation" r:id="rId14" imgW="152280" imgH="12672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79" name="Rectangle 17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0" name="Object 17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6" name="Equation" r:id="rId15" imgW="152280" imgH="126720" progId="Equation.3">
                      <p:embed/>
                    </p:oleObj>
                  </mc:Choice>
                  <mc:Fallback>
                    <p:oleObj name="Equation" r:id="rId15" imgW="152280" imgH="12672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3" name="Object 18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7" name="Equation" r:id="rId16" imgW="152280" imgH="126720" progId="Equation.3">
                      <p:embed/>
                    </p:oleObj>
                  </mc:Choice>
                  <mc:Fallback>
                    <p:oleObj name="Equation" r:id="rId16" imgW="152280" imgH="12672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85" name="Rectangle 18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6" name="Object 18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38" name="Equation" r:id="rId17" imgW="152280" imgH="126720" progId="Equation.3">
                      <p:embed/>
                    </p:oleObj>
                  </mc:Choice>
                  <mc:Fallback>
                    <p:oleObj name="Equation" r:id="rId17" imgW="152280" imgH="12672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11" name="TextBox 110"/>
          <p:cNvSpPr txBox="1"/>
          <p:nvPr/>
        </p:nvSpPr>
        <p:spPr>
          <a:xfrm>
            <a:off x="48263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25</a:t>
            </a:r>
            <a:endParaRPr lang="en-US" sz="1200" b="1" dirty="0"/>
          </a:p>
        </p:txBody>
      </p:sp>
      <p:grpSp>
        <p:nvGrpSpPr>
          <p:cNvPr id="117" name="Group 116"/>
          <p:cNvGrpSpPr/>
          <p:nvPr/>
        </p:nvGrpSpPr>
        <p:grpSpPr>
          <a:xfrm>
            <a:off x="4572000" y="1676400"/>
            <a:ext cx="1371600" cy="1436132"/>
            <a:chOff x="4572000" y="1676400"/>
            <a:chExt cx="1371600" cy="1436132"/>
          </a:xfrm>
        </p:grpSpPr>
        <p:grpSp>
          <p:nvGrpSpPr>
            <p:cNvPr id="2" name="Group 129"/>
            <p:cNvGrpSpPr/>
            <p:nvPr/>
          </p:nvGrpSpPr>
          <p:grpSpPr>
            <a:xfrm>
              <a:off x="4572000" y="1981200"/>
              <a:ext cx="1371600" cy="762000"/>
              <a:chOff x="1066800" y="3429000"/>
              <a:chExt cx="1371600" cy="762000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1780848" y="3593068"/>
                <a:ext cx="657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-30%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3" name="Group 56"/>
              <p:cNvGrpSpPr/>
              <p:nvPr/>
            </p:nvGrpSpPr>
            <p:grpSpPr>
              <a:xfrm>
                <a:off x="1066800" y="3429000"/>
                <a:ext cx="762000" cy="762000"/>
                <a:chOff x="533400" y="838200"/>
                <a:chExt cx="762000" cy="762000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533400" y="838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685800" y="838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1295400" y="990600"/>
                  <a:ext cx="0" cy="38100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2" name="TextBox 111"/>
            <p:cNvSpPr txBox="1"/>
            <p:nvPr/>
          </p:nvSpPr>
          <p:spPr>
            <a:xfrm>
              <a:off x="4648200" y="2743200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40%</a:t>
              </a:r>
              <a:endParaRPr lang="en-US" b="1" dirty="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648200" y="1676400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90%</a:t>
              </a:r>
              <a:endParaRPr lang="en-US" b="1" dirty="0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2975E-6 L -0.15833 0.472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00" y="2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2" name="Group 56"/>
          <p:cNvGrpSpPr/>
          <p:nvPr/>
        </p:nvGrpSpPr>
        <p:grpSpPr>
          <a:xfrm>
            <a:off x="5486400" y="838200"/>
            <a:ext cx="762000" cy="762000"/>
            <a:chOff x="533400" y="838200"/>
            <a:chExt cx="762000" cy="762000"/>
          </a:xfrm>
        </p:grpSpPr>
        <p:sp>
          <p:nvSpPr>
            <p:cNvPr id="65" name="Rectangle 64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85800" y="1600200"/>
              <a:ext cx="381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295400" y="990600"/>
              <a:ext cx="0" cy="381000"/>
            </a:xfrm>
            <a:prstGeom prst="line">
              <a:avLst/>
            </a:prstGeom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5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6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8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0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12" name="Group 128"/>
            <p:cNvGrpSpPr/>
            <p:nvPr/>
          </p:nvGrpSpPr>
          <p:grpSpPr>
            <a:xfrm>
              <a:off x="152400" y="609600"/>
              <a:ext cx="4572000" cy="1524000"/>
              <a:chOff x="152400" y="609600"/>
              <a:chExt cx="4572000" cy="1524000"/>
            </a:xfrm>
          </p:grpSpPr>
          <p:grpSp>
            <p:nvGrpSpPr>
              <p:cNvPr id="13" name="Group 112"/>
              <p:cNvGrpSpPr/>
              <p:nvPr/>
            </p:nvGrpSpPr>
            <p:grpSpPr>
              <a:xfrm>
                <a:off x="152400" y="609600"/>
                <a:ext cx="4572000" cy="1524000"/>
                <a:chOff x="2362200" y="3810000"/>
                <a:chExt cx="4572000" cy="1524000"/>
              </a:xfrm>
            </p:grpSpPr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276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Group 41"/>
                <p:cNvGrpSpPr/>
                <p:nvPr/>
              </p:nvGrpSpPr>
              <p:grpSpPr>
                <a:xfrm>
                  <a:off x="2362200" y="3810000"/>
                  <a:ext cx="4572000" cy="1524000"/>
                  <a:chOff x="3048000" y="1600200"/>
                  <a:chExt cx="4572000" cy="1524000"/>
                </a:xfrm>
              </p:grpSpPr>
              <p:cxnSp>
                <p:nvCxnSpPr>
                  <p:cNvPr id="148" name="Straight Connector 147"/>
                  <p:cNvCxnSpPr/>
                  <p:nvPr/>
                </p:nvCxnSpPr>
                <p:spPr>
                  <a:xfrm>
                    <a:off x="4774814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Rectangle 92"/>
                  <p:cNvSpPr/>
                  <p:nvPr/>
                </p:nvSpPr>
                <p:spPr>
                  <a:xfrm>
                    <a:off x="5334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" name="Rectangle 139"/>
                  <p:cNvSpPr/>
                  <p:nvPr/>
                </p:nvSpPr>
                <p:spPr>
                  <a:xfrm>
                    <a:off x="6096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Rectangle 140"/>
                  <p:cNvSpPr/>
                  <p:nvPr/>
                </p:nvSpPr>
                <p:spPr>
                  <a:xfrm>
                    <a:off x="685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Rectangle 141"/>
                  <p:cNvSpPr/>
                  <p:nvPr/>
                </p:nvSpPr>
                <p:spPr>
                  <a:xfrm>
                    <a:off x="4572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3810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Rectangle 143"/>
                  <p:cNvSpPr/>
                  <p:nvPr/>
                </p:nvSpPr>
                <p:spPr>
                  <a:xfrm>
                    <a:off x="304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3048000" y="2362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9" name="Straight Connector 148"/>
                  <p:cNvCxnSpPr/>
                  <p:nvPr/>
                </p:nvCxnSpPr>
                <p:spPr>
                  <a:xfrm>
                    <a:off x="5562600" y="2362200"/>
                    <a:ext cx="355214" cy="0"/>
                  </a:xfrm>
                  <a:prstGeom prst="line">
                    <a:avLst/>
                  </a:prstGeom>
                  <a:ln w="76200"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>
                    <a:off x="6302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/>
                  <p:cNvCxnSpPr/>
                  <p:nvPr/>
                </p:nvCxnSpPr>
                <p:spPr>
                  <a:xfrm>
                    <a:off x="7064020" y="2362200"/>
                    <a:ext cx="381000" cy="0"/>
                  </a:xfrm>
                  <a:prstGeom prst="line">
                    <a:avLst/>
                  </a:prstGeom>
                  <a:ln w="7620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3" name="Straight Connector 162"/>
                <p:cNvCxnSpPr/>
                <p:nvPr/>
              </p:nvCxnSpPr>
              <p:spPr>
                <a:xfrm>
                  <a:off x="5562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6324600" y="45720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TextBox 93"/>
              <p:cNvSpPr txBox="1"/>
              <p:nvPr/>
            </p:nvSpPr>
            <p:spPr>
              <a:xfrm>
                <a:off x="2616586" y="1371600"/>
                <a:ext cx="583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25%</a:t>
                </a:r>
                <a:endParaRPr lang="en-US" b="1" dirty="0"/>
              </a:p>
            </p:txBody>
          </p:sp>
        </p:grpSp>
        <p:grpSp>
          <p:nvGrpSpPr>
            <p:cNvPr id="15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52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53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54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55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56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57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8" name="Rectangle 97"/>
          <p:cNvSpPr/>
          <p:nvPr/>
        </p:nvSpPr>
        <p:spPr>
          <a:xfrm>
            <a:off x="4648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/>
          <p:cNvSpPr/>
          <p:nvPr/>
        </p:nvSpPr>
        <p:spPr>
          <a:xfrm>
            <a:off x="5410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1" name="Rectangle 100"/>
          <p:cNvSpPr/>
          <p:nvPr/>
        </p:nvSpPr>
        <p:spPr>
          <a:xfrm>
            <a:off x="4648200" y="5181600"/>
            <a:ext cx="762000" cy="76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0</a:t>
            </a:r>
            <a:endParaRPr lang="en-US" sz="1400" b="1" dirty="0"/>
          </a:p>
        </p:txBody>
      </p:sp>
      <p:sp>
        <p:nvSpPr>
          <p:cNvPr id="102" name="Rectangle 101"/>
          <p:cNvSpPr/>
          <p:nvPr/>
        </p:nvSpPr>
        <p:spPr>
          <a:xfrm>
            <a:off x="3886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17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24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36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4800600" y="5181600"/>
            <a:ext cx="381000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6352848" y="59436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3276600" y="5943600"/>
            <a:ext cx="3810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4826386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70</a:t>
            </a:r>
            <a:endParaRPr lang="en-US" sz="1200" b="1" dirty="0"/>
          </a:p>
        </p:txBody>
      </p:sp>
      <p:grpSp>
        <p:nvGrpSpPr>
          <p:cNvPr id="23" name="Group 171"/>
          <p:cNvGrpSpPr/>
          <p:nvPr/>
        </p:nvGrpSpPr>
        <p:grpSpPr>
          <a:xfrm>
            <a:off x="2971800" y="6248400"/>
            <a:ext cx="304800" cy="228600"/>
            <a:chOff x="2895600" y="3200400"/>
            <a:chExt cx="304800" cy="228600"/>
          </a:xfrm>
        </p:grpSpPr>
        <p:sp>
          <p:nvSpPr>
            <p:cNvPr id="173" name="Rectangle 17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4" name="Object 17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58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74"/>
          <p:cNvGrpSpPr/>
          <p:nvPr/>
        </p:nvGrpSpPr>
        <p:grpSpPr>
          <a:xfrm>
            <a:off x="3733800" y="6248400"/>
            <a:ext cx="304800" cy="228600"/>
            <a:chOff x="2895600" y="3200400"/>
            <a:chExt cx="304800" cy="228600"/>
          </a:xfrm>
        </p:grpSpPr>
        <p:sp>
          <p:nvSpPr>
            <p:cNvPr id="176" name="Rectangle 17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7" name="Object 17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59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77"/>
          <p:cNvGrpSpPr/>
          <p:nvPr/>
        </p:nvGrpSpPr>
        <p:grpSpPr>
          <a:xfrm>
            <a:off x="4495800" y="6248400"/>
            <a:ext cx="304800" cy="228600"/>
            <a:chOff x="2895600" y="3200400"/>
            <a:chExt cx="304800" cy="228600"/>
          </a:xfrm>
        </p:grpSpPr>
        <p:sp>
          <p:nvSpPr>
            <p:cNvPr id="179" name="Rectangle 1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0" name="Object 1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60" name="Equation" r:id="rId15" imgW="152280" imgH="126720" progId="Equation.3">
                    <p:embed/>
                  </p:oleObj>
                </mc:Choice>
                <mc:Fallback>
                  <p:oleObj name="Equation" r:id="rId15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180"/>
          <p:cNvGrpSpPr/>
          <p:nvPr/>
        </p:nvGrpSpPr>
        <p:grpSpPr>
          <a:xfrm>
            <a:off x="5257800" y="6248400"/>
            <a:ext cx="304800" cy="228600"/>
            <a:chOff x="2895600" y="3200400"/>
            <a:chExt cx="304800" cy="228600"/>
          </a:xfrm>
        </p:grpSpPr>
        <p:sp>
          <p:nvSpPr>
            <p:cNvPr id="182" name="Rectangle 18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3" name="Object 18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61" name="Equation" r:id="rId16" imgW="152280" imgH="126720" progId="Equation.3">
                    <p:embed/>
                  </p:oleObj>
                </mc:Choice>
                <mc:Fallback>
                  <p:oleObj name="Equation" r:id="rId16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183"/>
          <p:cNvGrpSpPr/>
          <p:nvPr/>
        </p:nvGrpSpPr>
        <p:grpSpPr>
          <a:xfrm>
            <a:off x="6019800" y="6248400"/>
            <a:ext cx="304800" cy="228600"/>
            <a:chOff x="2895600" y="3200400"/>
            <a:chExt cx="304800" cy="228600"/>
          </a:xfrm>
        </p:grpSpPr>
        <p:sp>
          <p:nvSpPr>
            <p:cNvPr id="185" name="Rectangle 1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6" name="Object 1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62" name="Equation" r:id="rId17" imgW="152280" imgH="126720" progId="Equation.3">
                    <p:embed/>
                  </p:oleObj>
                </mc:Choice>
                <mc:Fallback>
                  <p:oleObj name="Equation" r:id="rId17" imgW="152280" imgH="1267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" name="Group 111"/>
          <p:cNvGrpSpPr/>
          <p:nvPr/>
        </p:nvGrpSpPr>
        <p:grpSpPr>
          <a:xfrm>
            <a:off x="3124200" y="5181600"/>
            <a:ext cx="762000" cy="762000"/>
            <a:chOff x="457200" y="1066800"/>
            <a:chExt cx="762000" cy="762000"/>
          </a:xfrm>
        </p:grpSpPr>
        <p:sp>
          <p:nvSpPr>
            <p:cNvPr id="48" name="Rectangle 47"/>
            <p:cNvSpPr/>
            <p:nvPr/>
          </p:nvSpPr>
          <p:spPr>
            <a:xfrm>
              <a:off x="457200" y="10668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/>
            <p:cNvCxnSpPr/>
            <p:nvPr/>
          </p:nvCxnSpPr>
          <p:spPr>
            <a:xfrm>
              <a:off x="1219200" y="12192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/>
          <p:cNvGrpSpPr/>
          <p:nvPr/>
        </p:nvGrpSpPr>
        <p:grpSpPr>
          <a:xfrm>
            <a:off x="3886200" y="5181600"/>
            <a:ext cx="762000" cy="762000"/>
            <a:chOff x="3657600" y="2819400"/>
            <a:chExt cx="762000" cy="762000"/>
          </a:xfrm>
        </p:grpSpPr>
        <p:sp>
          <p:nvSpPr>
            <p:cNvPr id="106" name="Rectangle 105"/>
            <p:cNvSpPr/>
            <p:nvPr/>
          </p:nvSpPr>
          <p:spPr>
            <a:xfrm>
              <a:off x="3657600" y="28194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7" name="Straight Connector 116"/>
            <p:cNvCxnSpPr/>
            <p:nvPr/>
          </p:nvCxnSpPr>
          <p:spPr>
            <a:xfrm>
              <a:off x="3657600" y="29718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/>
          <p:cNvSpPr txBox="1"/>
          <p:nvPr/>
        </p:nvSpPr>
        <p:spPr>
          <a:xfrm>
            <a:off x="4114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25" name="TextBox 124"/>
          <p:cNvSpPr txBox="1"/>
          <p:nvPr/>
        </p:nvSpPr>
        <p:spPr>
          <a:xfrm>
            <a:off x="4445386" y="5410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30</a:t>
            </a:r>
            <a:endParaRPr lang="en-US" sz="1200" b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3838248" y="5334000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-30%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8263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25</a:t>
            </a:r>
            <a:endParaRPr lang="en-US" sz="1200" b="1" dirty="0"/>
          </a:p>
        </p:txBody>
      </p:sp>
      <p:sp>
        <p:nvSpPr>
          <p:cNvPr id="129" name="TextBox 128"/>
          <p:cNvSpPr txBox="1"/>
          <p:nvPr/>
        </p:nvSpPr>
        <p:spPr>
          <a:xfrm>
            <a:off x="33528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30" name="TextBox 129"/>
          <p:cNvSpPr txBox="1"/>
          <p:nvPr/>
        </p:nvSpPr>
        <p:spPr>
          <a:xfrm>
            <a:off x="3352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40</a:t>
            </a:r>
            <a:endParaRPr lang="en-US" sz="1200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7696E-6 L -0.19167 -0.410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00" y="-2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2" name="Group 56"/>
          <p:cNvGrpSpPr/>
          <p:nvPr/>
        </p:nvGrpSpPr>
        <p:grpSpPr>
          <a:xfrm>
            <a:off x="5486400" y="838200"/>
            <a:ext cx="762000" cy="762000"/>
            <a:chOff x="533400" y="838200"/>
            <a:chExt cx="762000" cy="762000"/>
          </a:xfrm>
        </p:grpSpPr>
        <p:sp>
          <p:nvSpPr>
            <p:cNvPr id="65" name="Rectangle 64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/>
            <p:cNvCxnSpPr/>
            <p:nvPr/>
          </p:nvCxnSpPr>
          <p:spPr>
            <a:xfrm>
              <a:off x="685800" y="838200"/>
              <a:ext cx="381000" cy="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85800" y="1600200"/>
              <a:ext cx="381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295400" y="990600"/>
              <a:ext cx="0" cy="381000"/>
            </a:xfrm>
            <a:prstGeom prst="line">
              <a:avLst/>
            </a:prstGeom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5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6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8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0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13" name="Group 112"/>
            <p:cNvGrpSpPr/>
            <p:nvPr/>
          </p:nvGrpSpPr>
          <p:grpSpPr>
            <a:xfrm>
              <a:off x="152400" y="609600"/>
              <a:ext cx="4572000" cy="1524000"/>
              <a:chOff x="2362200" y="3810000"/>
              <a:chExt cx="4572000" cy="1524000"/>
            </a:xfrm>
          </p:grpSpPr>
          <p:grpSp>
            <p:nvGrpSpPr>
              <p:cNvPr id="14" name="Group 41"/>
              <p:cNvGrpSpPr/>
              <p:nvPr/>
            </p:nvGrpSpPr>
            <p:grpSpPr>
              <a:xfrm>
                <a:off x="2362200" y="38100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8" name="Straight Connector 147"/>
                <p:cNvCxnSpPr/>
                <p:nvPr/>
              </p:nvCxnSpPr>
              <p:spPr>
                <a:xfrm>
                  <a:off x="4774814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Rectangle 92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9" name="Straight Connector 148"/>
                <p:cNvCxnSpPr/>
                <p:nvPr/>
              </p:nvCxnSpPr>
              <p:spPr>
                <a:xfrm>
                  <a:off x="5562600" y="2362200"/>
                  <a:ext cx="355214" cy="0"/>
                </a:xfrm>
                <a:prstGeom prst="line">
                  <a:avLst/>
                </a:prstGeom>
                <a:ln w="762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6302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7064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Straight Connector 162"/>
              <p:cNvCxnSpPr/>
              <p:nvPr/>
            </p:nvCxnSpPr>
            <p:spPr>
              <a:xfrm>
                <a:off x="5562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>
                <a:off x="6324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0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1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2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3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4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905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8" name="Rectangle 97"/>
          <p:cNvSpPr/>
          <p:nvPr/>
        </p:nvSpPr>
        <p:spPr>
          <a:xfrm>
            <a:off x="4648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/>
          <p:cNvSpPr/>
          <p:nvPr/>
        </p:nvSpPr>
        <p:spPr>
          <a:xfrm>
            <a:off x="5410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2" name="Rectangle 101"/>
          <p:cNvSpPr/>
          <p:nvPr/>
        </p:nvSpPr>
        <p:spPr>
          <a:xfrm>
            <a:off x="3886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17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24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36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4800600" y="5181600"/>
            <a:ext cx="381000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6352848" y="59436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3276600" y="5943600"/>
            <a:ext cx="3810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171"/>
          <p:cNvGrpSpPr/>
          <p:nvPr/>
        </p:nvGrpSpPr>
        <p:grpSpPr>
          <a:xfrm>
            <a:off x="2971800" y="6248400"/>
            <a:ext cx="304800" cy="228600"/>
            <a:chOff x="2895600" y="3200400"/>
            <a:chExt cx="304800" cy="228600"/>
          </a:xfrm>
        </p:grpSpPr>
        <p:sp>
          <p:nvSpPr>
            <p:cNvPr id="173" name="Rectangle 17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4" name="Object 17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6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174"/>
          <p:cNvGrpSpPr/>
          <p:nvPr/>
        </p:nvGrpSpPr>
        <p:grpSpPr>
          <a:xfrm>
            <a:off x="3733800" y="6248400"/>
            <a:ext cx="304800" cy="228600"/>
            <a:chOff x="2895600" y="3200400"/>
            <a:chExt cx="304800" cy="228600"/>
          </a:xfrm>
        </p:grpSpPr>
        <p:sp>
          <p:nvSpPr>
            <p:cNvPr id="176" name="Rectangle 17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7" name="Object 17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7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177"/>
          <p:cNvGrpSpPr/>
          <p:nvPr/>
        </p:nvGrpSpPr>
        <p:grpSpPr>
          <a:xfrm>
            <a:off x="4495800" y="6248400"/>
            <a:ext cx="304800" cy="228600"/>
            <a:chOff x="2895600" y="3200400"/>
            <a:chExt cx="304800" cy="228600"/>
          </a:xfrm>
        </p:grpSpPr>
        <p:sp>
          <p:nvSpPr>
            <p:cNvPr id="179" name="Rectangle 1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0" name="Object 1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8" name="Equation" r:id="rId15" imgW="152280" imgH="126720" progId="Equation.3">
                    <p:embed/>
                  </p:oleObj>
                </mc:Choice>
                <mc:Fallback>
                  <p:oleObj name="Equation" r:id="rId15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80"/>
          <p:cNvGrpSpPr/>
          <p:nvPr/>
        </p:nvGrpSpPr>
        <p:grpSpPr>
          <a:xfrm>
            <a:off x="5257800" y="6248400"/>
            <a:ext cx="304800" cy="228600"/>
            <a:chOff x="2895600" y="3200400"/>
            <a:chExt cx="304800" cy="228600"/>
          </a:xfrm>
        </p:grpSpPr>
        <p:sp>
          <p:nvSpPr>
            <p:cNvPr id="182" name="Rectangle 18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3" name="Object 18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09" name="Equation" r:id="rId16" imgW="152280" imgH="126720" progId="Equation.3">
                    <p:embed/>
                  </p:oleObj>
                </mc:Choice>
                <mc:Fallback>
                  <p:oleObj name="Equation" r:id="rId16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83"/>
          <p:cNvGrpSpPr/>
          <p:nvPr/>
        </p:nvGrpSpPr>
        <p:grpSpPr>
          <a:xfrm>
            <a:off x="6019800" y="6248400"/>
            <a:ext cx="304800" cy="228600"/>
            <a:chOff x="2895600" y="3200400"/>
            <a:chExt cx="304800" cy="228600"/>
          </a:xfrm>
        </p:grpSpPr>
        <p:sp>
          <p:nvSpPr>
            <p:cNvPr id="185" name="Rectangle 1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6" name="Object 1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10" name="Equation" r:id="rId17" imgW="152280" imgH="126720" progId="Equation.3">
                    <p:embed/>
                  </p:oleObj>
                </mc:Choice>
                <mc:Fallback>
                  <p:oleObj name="Equation" r:id="rId17" imgW="152280" imgH="1267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111"/>
          <p:cNvGrpSpPr/>
          <p:nvPr/>
        </p:nvGrpSpPr>
        <p:grpSpPr>
          <a:xfrm>
            <a:off x="3124200" y="5181600"/>
            <a:ext cx="762000" cy="762000"/>
            <a:chOff x="457200" y="1066800"/>
            <a:chExt cx="762000" cy="762000"/>
          </a:xfrm>
        </p:grpSpPr>
        <p:sp>
          <p:nvSpPr>
            <p:cNvPr id="48" name="Rectangle 47"/>
            <p:cNvSpPr/>
            <p:nvPr/>
          </p:nvSpPr>
          <p:spPr>
            <a:xfrm>
              <a:off x="457200" y="10668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/>
            <p:cNvCxnSpPr/>
            <p:nvPr/>
          </p:nvCxnSpPr>
          <p:spPr>
            <a:xfrm>
              <a:off x="1219200" y="12192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119"/>
          <p:cNvGrpSpPr/>
          <p:nvPr/>
        </p:nvGrpSpPr>
        <p:grpSpPr>
          <a:xfrm>
            <a:off x="4648200" y="5181600"/>
            <a:ext cx="762000" cy="762000"/>
            <a:chOff x="3810000" y="2667000"/>
            <a:chExt cx="762000" cy="762000"/>
          </a:xfrm>
        </p:grpSpPr>
        <p:sp>
          <p:nvSpPr>
            <p:cNvPr id="101" name="Rectangle 100"/>
            <p:cNvSpPr/>
            <p:nvPr/>
          </p:nvSpPr>
          <p:spPr>
            <a:xfrm>
              <a:off x="3810000" y="26670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0</a:t>
              </a:r>
              <a:endParaRPr lang="en-US" sz="1400" b="1" dirty="0"/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3962400" y="2667000"/>
              <a:ext cx="381000" cy="0"/>
            </a:xfrm>
            <a:prstGeom prst="line">
              <a:avLst/>
            </a:prstGeom>
            <a:ln w="762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3962400" y="3429000"/>
              <a:ext cx="381000" cy="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3810000" y="28194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" name="Straight Connector 116"/>
          <p:cNvCxnSpPr/>
          <p:nvPr/>
        </p:nvCxnSpPr>
        <p:spPr>
          <a:xfrm>
            <a:off x="4800600" y="5943600"/>
            <a:ext cx="381000" cy="0"/>
          </a:xfrm>
          <a:prstGeom prst="line">
            <a:avLst/>
          </a:prstGeom>
          <a:solidFill>
            <a:srgbClr val="00B0F0"/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4038600" y="5943600"/>
            <a:ext cx="3810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3528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3352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40</a:t>
            </a:r>
            <a:endParaRPr lang="en-US" sz="1200" b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4826386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70</a:t>
            </a:r>
            <a:endParaRPr lang="en-US" sz="1200" b="1" dirty="0"/>
          </a:p>
        </p:txBody>
      </p:sp>
      <p:sp>
        <p:nvSpPr>
          <p:cNvPr id="129" name="TextBox 128"/>
          <p:cNvSpPr txBox="1"/>
          <p:nvPr/>
        </p:nvSpPr>
        <p:spPr>
          <a:xfrm>
            <a:off x="48263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25</a:t>
            </a:r>
            <a:endParaRPr lang="en-US" sz="1200" b="1" dirty="0"/>
          </a:p>
        </p:txBody>
      </p:sp>
      <p:sp>
        <p:nvSpPr>
          <p:cNvPr id="130" name="TextBox 129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7696E-6 L -0.275 -0.410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0" y="-2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12" name="Group 112"/>
            <p:cNvGrpSpPr/>
            <p:nvPr/>
          </p:nvGrpSpPr>
          <p:grpSpPr>
            <a:xfrm>
              <a:off x="152400" y="609600"/>
              <a:ext cx="4572000" cy="1524000"/>
              <a:chOff x="2362200" y="3810000"/>
              <a:chExt cx="4572000" cy="1524000"/>
            </a:xfrm>
          </p:grpSpPr>
          <p:grpSp>
            <p:nvGrpSpPr>
              <p:cNvPr id="13" name="Group 41"/>
              <p:cNvGrpSpPr/>
              <p:nvPr/>
            </p:nvGrpSpPr>
            <p:grpSpPr>
              <a:xfrm>
                <a:off x="2362200" y="38100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8" name="Straight Connector 147"/>
                <p:cNvCxnSpPr/>
                <p:nvPr/>
              </p:nvCxnSpPr>
              <p:spPr>
                <a:xfrm>
                  <a:off x="4774814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Rectangle 92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9" name="Straight Connector 148"/>
                <p:cNvCxnSpPr/>
                <p:nvPr/>
              </p:nvCxnSpPr>
              <p:spPr>
                <a:xfrm>
                  <a:off x="5562600" y="2362200"/>
                  <a:ext cx="355214" cy="0"/>
                </a:xfrm>
                <a:prstGeom prst="line">
                  <a:avLst/>
                </a:prstGeom>
                <a:ln w="762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6302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7064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Straight Connector 162"/>
              <p:cNvCxnSpPr/>
              <p:nvPr/>
            </p:nvCxnSpPr>
            <p:spPr>
              <a:xfrm>
                <a:off x="5562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>
                <a:off x="6324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4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5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6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7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8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29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27" name="Group 126"/>
          <p:cNvGrpSpPr/>
          <p:nvPr/>
        </p:nvGrpSpPr>
        <p:grpSpPr>
          <a:xfrm>
            <a:off x="5486400" y="838200"/>
            <a:ext cx="1295400" cy="762000"/>
            <a:chOff x="5486400" y="838200"/>
            <a:chExt cx="1295400" cy="762000"/>
          </a:xfrm>
        </p:grpSpPr>
        <p:grpSp>
          <p:nvGrpSpPr>
            <p:cNvPr id="2" name="Group 56"/>
            <p:cNvGrpSpPr/>
            <p:nvPr/>
          </p:nvGrpSpPr>
          <p:grpSpPr>
            <a:xfrm>
              <a:off x="5486400" y="838200"/>
              <a:ext cx="762000" cy="762000"/>
              <a:chOff x="533400" y="838200"/>
              <a:chExt cx="762000" cy="762000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Connector 65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1295400" y="990600"/>
                <a:ext cx="0" cy="381000"/>
              </a:xfrm>
              <a:prstGeom prst="line">
                <a:avLst/>
              </a:prstGeom>
              <a:ln w="7620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6" name="TextBox 125"/>
            <p:cNvSpPr txBox="1"/>
            <p:nvPr/>
          </p:nvSpPr>
          <p:spPr>
            <a:xfrm>
              <a:off x="6194780" y="990600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30%</a:t>
              </a:r>
              <a:endParaRPr lang="en-US" b="1" dirty="0"/>
            </a:p>
          </p:txBody>
        </p:sp>
      </p:grp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3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5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6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8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0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/>
          <p:cNvSpPr/>
          <p:nvPr/>
        </p:nvSpPr>
        <p:spPr>
          <a:xfrm>
            <a:off x="4648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/>
          <p:cNvSpPr/>
          <p:nvPr/>
        </p:nvSpPr>
        <p:spPr>
          <a:xfrm>
            <a:off x="5410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2" name="Rectangle 101"/>
          <p:cNvSpPr/>
          <p:nvPr/>
        </p:nvSpPr>
        <p:spPr>
          <a:xfrm>
            <a:off x="3886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17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24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36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4800600" y="5181600"/>
            <a:ext cx="381000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6352848" y="59436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3276600" y="5943600"/>
            <a:ext cx="3810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71"/>
          <p:cNvGrpSpPr/>
          <p:nvPr/>
        </p:nvGrpSpPr>
        <p:grpSpPr>
          <a:xfrm>
            <a:off x="2971800" y="6248400"/>
            <a:ext cx="304800" cy="228600"/>
            <a:chOff x="2895600" y="3200400"/>
            <a:chExt cx="304800" cy="228600"/>
          </a:xfrm>
        </p:grpSpPr>
        <p:sp>
          <p:nvSpPr>
            <p:cNvPr id="173" name="Rectangle 17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4" name="Object 17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30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174"/>
          <p:cNvGrpSpPr/>
          <p:nvPr/>
        </p:nvGrpSpPr>
        <p:grpSpPr>
          <a:xfrm>
            <a:off x="3733800" y="6248400"/>
            <a:ext cx="304800" cy="228600"/>
            <a:chOff x="2895600" y="3200400"/>
            <a:chExt cx="304800" cy="228600"/>
          </a:xfrm>
        </p:grpSpPr>
        <p:sp>
          <p:nvSpPr>
            <p:cNvPr id="176" name="Rectangle 17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7" name="Object 17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31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177"/>
          <p:cNvGrpSpPr/>
          <p:nvPr/>
        </p:nvGrpSpPr>
        <p:grpSpPr>
          <a:xfrm>
            <a:off x="4495800" y="6248400"/>
            <a:ext cx="304800" cy="228600"/>
            <a:chOff x="2895600" y="3200400"/>
            <a:chExt cx="304800" cy="228600"/>
          </a:xfrm>
        </p:grpSpPr>
        <p:sp>
          <p:nvSpPr>
            <p:cNvPr id="179" name="Rectangle 1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0" name="Object 1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32" name="Equation" r:id="rId15" imgW="152280" imgH="126720" progId="Equation.3">
                    <p:embed/>
                  </p:oleObj>
                </mc:Choice>
                <mc:Fallback>
                  <p:oleObj name="Equation" r:id="rId15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180"/>
          <p:cNvGrpSpPr/>
          <p:nvPr/>
        </p:nvGrpSpPr>
        <p:grpSpPr>
          <a:xfrm>
            <a:off x="5257800" y="6248400"/>
            <a:ext cx="304800" cy="228600"/>
            <a:chOff x="2895600" y="3200400"/>
            <a:chExt cx="304800" cy="228600"/>
          </a:xfrm>
        </p:grpSpPr>
        <p:sp>
          <p:nvSpPr>
            <p:cNvPr id="182" name="Rectangle 18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3" name="Object 18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33" name="Equation" r:id="rId16" imgW="152280" imgH="126720" progId="Equation.3">
                    <p:embed/>
                  </p:oleObj>
                </mc:Choice>
                <mc:Fallback>
                  <p:oleObj name="Equation" r:id="rId16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83"/>
          <p:cNvGrpSpPr/>
          <p:nvPr/>
        </p:nvGrpSpPr>
        <p:grpSpPr>
          <a:xfrm>
            <a:off x="6019800" y="6248400"/>
            <a:ext cx="304800" cy="228600"/>
            <a:chOff x="2895600" y="3200400"/>
            <a:chExt cx="304800" cy="228600"/>
          </a:xfrm>
        </p:grpSpPr>
        <p:sp>
          <p:nvSpPr>
            <p:cNvPr id="185" name="Rectangle 1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6" name="Object 1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34" name="Equation" r:id="rId17" imgW="152280" imgH="126720" progId="Equation.3">
                    <p:embed/>
                  </p:oleObj>
                </mc:Choice>
                <mc:Fallback>
                  <p:oleObj name="Equation" r:id="rId17" imgW="152280" imgH="1267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Rectangle 47"/>
          <p:cNvSpPr/>
          <p:nvPr/>
        </p:nvSpPr>
        <p:spPr>
          <a:xfrm>
            <a:off x="3124200" y="5181600"/>
            <a:ext cx="762000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>
            <a:off x="4800600" y="5943600"/>
            <a:ext cx="381000" cy="0"/>
          </a:xfrm>
          <a:prstGeom prst="line">
            <a:avLst/>
          </a:prstGeom>
          <a:solidFill>
            <a:srgbClr val="00B0F0"/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4038600" y="5943600"/>
            <a:ext cx="381000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038600" y="51054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15%</a:t>
            </a:r>
            <a:endParaRPr lang="en-US" b="1" dirty="0"/>
          </a:p>
        </p:txBody>
      </p:sp>
      <p:sp>
        <p:nvSpPr>
          <p:cNvPr id="124" name="TextBox 123"/>
          <p:cNvSpPr txBox="1"/>
          <p:nvPr/>
        </p:nvSpPr>
        <p:spPr>
          <a:xfrm>
            <a:off x="4800600" y="56388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70%</a:t>
            </a:r>
            <a:endParaRPr lang="en-US" b="1" dirty="0"/>
          </a:p>
        </p:txBody>
      </p:sp>
      <p:sp>
        <p:nvSpPr>
          <p:cNvPr id="125" name="TextBox 124"/>
          <p:cNvSpPr txBox="1"/>
          <p:nvPr/>
        </p:nvSpPr>
        <p:spPr>
          <a:xfrm>
            <a:off x="4038600" y="56388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90%</a:t>
            </a:r>
            <a:endParaRPr lang="en-US" b="1" dirty="0"/>
          </a:p>
        </p:txBody>
      </p:sp>
      <p:cxnSp>
        <p:nvCxnSpPr>
          <p:cNvPr id="128" name="Straight Connector 127"/>
          <p:cNvCxnSpPr/>
          <p:nvPr/>
        </p:nvCxnSpPr>
        <p:spPr>
          <a:xfrm>
            <a:off x="3886200" y="5334000"/>
            <a:ext cx="0" cy="3810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  <p:sp>
        <p:nvSpPr>
          <p:cNvPr id="130" name="TextBox 129"/>
          <p:cNvSpPr txBox="1"/>
          <p:nvPr/>
        </p:nvSpPr>
        <p:spPr>
          <a:xfrm>
            <a:off x="33528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31" name="TextBox 130"/>
          <p:cNvSpPr txBox="1"/>
          <p:nvPr/>
        </p:nvSpPr>
        <p:spPr>
          <a:xfrm>
            <a:off x="3352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40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4.40666E-6 L -0.175 0.632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00" y="31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3" name="Group 112"/>
            <p:cNvGrpSpPr/>
            <p:nvPr/>
          </p:nvGrpSpPr>
          <p:grpSpPr>
            <a:xfrm>
              <a:off x="152400" y="609600"/>
              <a:ext cx="4572000" cy="1524000"/>
              <a:chOff x="2362200" y="3810000"/>
              <a:chExt cx="4572000" cy="1524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276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" name="Group 41"/>
              <p:cNvGrpSpPr/>
              <p:nvPr/>
            </p:nvGrpSpPr>
            <p:grpSpPr>
              <a:xfrm>
                <a:off x="2362200" y="38100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9" name="Straight Connector 148"/>
                <p:cNvCxnSpPr/>
                <p:nvPr/>
              </p:nvCxnSpPr>
              <p:spPr>
                <a:xfrm>
                  <a:off x="5562600" y="2362200"/>
                  <a:ext cx="355214" cy="0"/>
                </a:xfrm>
                <a:prstGeom prst="line">
                  <a:avLst/>
                </a:prstGeom>
                <a:ln w="762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6302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7064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Straight Connector 162"/>
              <p:cNvCxnSpPr/>
              <p:nvPr/>
            </p:nvCxnSpPr>
            <p:spPr>
              <a:xfrm>
                <a:off x="5562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>
                <a:off x="6324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48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49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50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51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52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53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12" name="Group 56"/>
          <p:cNvGrpSpPr/>
          <p:nvPr/>
        </p:nvGrpSpPr>
        <p:grpSpPr>
          <a:xfrm>
            <a:off x="3886200" y="5181600"/>
            <a:ext cx="762000" cy="762000"/>
            <a:chOff x="533400" y="838200"/>
            <a:chExt cx="762000" cy="762000"/>
          </a:xfrm>
        </p:grpSpPr>
        <p:sp>
          <p:nvSpPr>
            <p:cNvPr id="65" name="Rectangle 64"/>
            <p:cNvSpPr/>
            <p:nvPr/>
          </p:nvSpPr>
          <p:spPr>
            <a:xfrm>
              <a:off x="533400" y="8382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/>
            <p:cNvCxnSpPr/>
            <p:nvPr/>
          </p:nvCxnSpPr>
          <p:spPr>
            <a:xfrm>
              <a:off x="1295400" y="990600"/>
              <a:ext cx="0" cy="381000"/>
            </a:xfrm>
            <a:prstGeom prst="line">
              <a:avLst/>
            </a:prstGeom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17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9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/>
          <p:cNvSpPr/>
          <p:nvPr/>
        </p:nvSpPr>
        <p:spPr>
          <a:xfrm>
            <a:off x="4648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/>
          <p:cNvSpPr/>
          <p:nvPr/>
        </p:nvSpPr>
        <p:spPr>
          <a:xfrm>
            <a:off x="5410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2" name="Rectangle 101"/>
          <p:cNvSpPr/>
          <p:nvPr/>
        </p:nvSpPr>
        <p:spPr>
          <a:xfrm>
            <a:off x="3886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17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24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36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>
            <a:off x="4800600" y="5181600"/>
            <a:ext cx="381000" cy="0"/>
          </a:xfrm>
          <a:prstGeom prst="line">
            <a:avLst/>
          </a:prstGeom>
          <a:ln w="762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6352848" y="59436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3276600" y="5943600"/>
            <a:ext cx="3810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71"/>
          <p:cNvGrpSpPr/>
          <p:nvPr/>
        </p:nvGrpSpPr>
        <p:grpSpPr>
          <a:xfrm>
            <a:off x="2971800" y="6248400"/>
            <a:ext cx="304800" cy="228600"/>
            <a:chOff x="2895600" y="3200400"/>
            <a:chExt cx="304800" cy="228600"/>
          </a:xfrm>
        </p:grpSpPr>
        <p:sp>
          <p:nvSpPr>
            <p:cNvPr id="173" name="Rectangle 17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4" name="Object 17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4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174"/>
          <p:cNvGrpSpPr/>
          <p:nvPr/>
        </p:nvGrpSpPr>
        <p:grpSpPr>
          <a:xfrm>
            <a:off x="3733800" y="6248400"/>
            <a:ext cx="304800" cy="228600"/>
            <a:chOff x="2895600" y="3200400"/>
            <a:chExt cx="304800" cy="228600"/>
          </a:xfrm>
        </p:grpSpPr>
        <p:sp>
          <p:nvSpPr>
            <p:cNvPr id="176" name="Rectangle 17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7" name="Object 17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5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177"/>
          <p:cNvGrpSpPr/>
          <p:nvPr/>
        </p:nvGrpSpPr>
        <p:grpSpPr>
          <a:xfrm>
            <a:off x="4495800" y="6248400"/>
            <a:ext cx="304800" cy="228600"/>
            <a:chOff x="2895600" y="3200400"/>
            <a:chExt cx="304800" cy="228600"/>
          </a:xfrm>
        </p:grpSpPr>
        <p:sp>
          <p:nvSpPr>
            <p:cNvPr id="179" name="Rectangle 1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0" name="Object 1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6" name="Equation" r:id="rId15" imgW="152280" imgH="126720" progId="Equation.3">
                    <p:embed/>
                  </p:oleObj>
                </mc:Choice>
                <mc:Fallback>
                  <p:oleObj name="Equation" r:id="rId15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180"/>
          <p:cNvGrpSpPr/>
          <p:nvPr/>
        </p:nvGrpSpPr>
        <p:grpSpPr>
          <a:xfrm>
            <a:off x="5257800" y="6248400"/>
            <a:ext cx="304800" cy="228600"/>
            <a:chOff x="2895600" y="3200400"/>
            <a:chExt cx="304800" cy="228600"/>
          </a:xfrm>
        </p:grpSpPr>
        <p:sp>
          <p:nvSpPr>
            <p:cNvPr id="182" name="Rectangle 18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3" name="Object 18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7" name="Equation" r:id="rId16" imgW="152280" imgH="126720" progId="Equation.3">
                    <p:embed/>
                  </p:oleObj>
                </mc:Choice>
                <mc:Fallback>
                  <p:oleObj name="Equation" r:id="rId16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83"/>
          <p:cNvGrpSpPr/>
          <p:nvPr/>
        </p:nvGrpSpPr>
        <p:grpSpPr>
          <a:xfrm>
            <a:off x="6019800" y="6248400"/>
            <a:ext cx="304800" cy="228600"/>
            <a:chOff x="2895600" y="3200400"/>
            <a:chExt cx="304800" cy="228600"/>
          </a:xfrm>
        </p:grpSpPr>
        <p:sp>
          <p:nvSpPr>
            <p:cNvPr id="185" name="Rectangle 1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6" name="Object 1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8" name="Equation" r:id="rId17" imgW="152280" imgH="126720" progId="Equation.3">
                    <p:embed/>
                  </p:oleObj>
                </mc:Choice>
                <mc:Fallback>
                  <p:oleObj name="Equation" r:id="rId17" imgW="152280" imgH="1267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Rectangle 47"/>
          <p:cNvSpPr/>
          <p:nvPr/>
        </p:nvSpPr>
        <p:spPr>
          <a:xfrm>
            <a:off x="3124200" y="5181600"/>
            <a:ext cx="762000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>
            <a:off x="4800600" y="5943600"/>
            <a:ext cx="381000" cy="0"/>
          </a:xfrm>
          <a:prstGeom prst="line">
            <a:avLst/>
          </a:prstGeom>
          <a:solidFill>
            <a:srgbClr val="00B0F0"/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14"/>
          <p:cNvGrpSpPr/>
          <p:nvPr/>
        </p:nvGrpSpPr>
        <p:grpSpPr>
          <a:xfrm>
            <a:off x="7315200" y="838200"/>
            <a:ext cx="762000" cy="762000"/>
            <a:chOff x="4267200" y="838200"/>
            <a:chExt cx="762000" cy="762000"/>
          </a:xfrm>
        </p:grpSpPr>
        <p:grpSp>
          <p:nvGrpSpPr>
            <p:cNvPr id="14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grpSp>
            <p:nvGrpSpPr>
              <p:cNvPr id="15" name="Group 70"/>
              <p:cNvGrpSpPr/>
              <p:nvPr/>
            </p:nvGrpSpPr>
            <p:grpSpPr>
              <a:xfrm>
                <a:off x="4191000" y="1066800"/>
                <a:ext cx="533400" cy="609600"/>
                <a:chOff x="533400" y="990600"/>
                <a:chExt cx="533400" cy="609600"/>
              </a:xfrm>
              <a:solidFill>
                <a:srgbClr val="00B0F0"/>
              </a:solidFill>
            </p:grpSpPr>
            <p:cxnSp>
              <p:nvCxnSpPr>
                <p:cNvPr id="74" name="Straight Connector 73"/>
                <p:cNvCxnSpPr/>
                <p:nvPr/>
              </p:nvCxnSpPr>
              <p:spPr>
                <a:xfrm>
                  <a:off x="685800" y="1600200"/>
                  <a:ext cx="381000" cy="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533400" y="990600"/>
                  <a:ext cx="0" cy="381000"/>
                </a:xfrm>
                <a:prstGeom prst="line">
                  <a:avLst/>
                </a:prstGeom>
                <a:grpFill/>
                <a:ln w="76200">
                  <a:solidFill>
                    <a:schemeClr val="bg2">
                      <a:lumMod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/>
          <p:cNvSpPr txBox="1"/>
          <p:nvPr/>
        </p:nvSpPr>
        <p:spPr>
          <a:xfrm>
            <a:off x="4800600" y="56388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70%</a:t>
            </a:r>
            <a:endParaRPr lang="en-US" b="1" dirty="0"/>
          </a:p>
        </p:txBody>
      </p:sp>
      <p:sp>
        <p:nvSpPr>
          <p:cNvPr id="112" name="TextBox 111"/>
          <p:cNvSpPr txBox="1"/>
          <p:nvPr/>
        </p:nvSpPr>
        <p:spPr>
          <a:xfrm>
            <a:off x="4648200" y="53340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30%</a:t>
            </a:r>
            <a:endParaRPr lang="en-US" b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33528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3352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40</a:t>
            </a:r>
            <a:endParaRPr lang="en-US" sz="1200" b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4114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41405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15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0666E-6 L -0.29167 0.632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00" y="31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3" name="Group 112"/>
            <p:cNvGrpSpPr/>
            <p:nvPr/>
          </p:nvGrpSpPr>
          <p:grpSpPr>
            <a:xfrm>
              <a:off x="152400" y="609600"/>
              <a:ext cx="4572000" cy="1524000"/>
              <a:chOff x="2362200" y="3810000"/>
              <a:chExt cx="4572000" cy="1524000"/>
            </a:xfrm>
          </p:grpSpPr>
          <p:grpSp>
            <p:nvGrpSpPr>
              <p:cNvPr id="5" name="Group 41"/>
              <p:cNvGrpSpPr/>
              <p:nvPr/>
            </p:nvGrpSpPr>
            <p:grpSpPr>
              <a:xfrm>
                <a:off x="2362200" y="38100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6302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7064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Straight Connector 162"/>
              <p:cNvCxnSpPr/>
              <p:nvPr/>
            </p:nvCxnSpPr>
            <p:spPr>
              <a:xfrm>
                <a:off x="5562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>
                <a:off x="6324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96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97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98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99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00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01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sp>
        <p:nvSpPr>
          <p:cNvPr id="65" name="Rectangle 64"/>
          <p:cNvSpPr/>
          <p:nvPr/>
        </p:nvSpPr>
        <p:spPr>
          <a:xfrm>
            <a:off x="3886200" y="5181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12"/>
          <p:cNvGrpSpPr/>
          <p:nvPr/>
        </p:nvGrpSpPr>
        <p:grpSpPr>
          <a:xfrm>
            <a:off x="6477000" y="1981200"/>
            <a:ext cx="762000" cy="762000"/>
            <a:chOff x="6248400" y="838200"/>
            <a:chExt cx="762000" cy="762000"/>
          </a:xfrm>
        </p:grpSpPr>
        <p:grpSp>
          <p:nvGrpSpPr>
            <p:cNvPr id="14" name="Group 56"/>
            <p:cNvGrpSpPr/>
            <p:nvPr/>
          </p:nvGrpSpPr>
          <p:grpSpPr>
            <a:xfrm>
              <a:off x="6248400" y="838200"/>
              <a:ext cx="762000" cy="762000"/>
              <a:chOff x="533400" y="838200"/>
              <a:chExt cx="762000" cy="762000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9" name="Straight Connector 98"/>
              <p:cNvCxnSpPr/>
              <p:nvPr/>
            </p:nvCxnSpPr>
            <p:spPr>
              <a:xfrm>
                <a:off x="685800" y="838200"/>
                <a:ext cx="381000" cy="0"/>
              </a:xfrm>
              <a:prstGeom prst="line">
                <a:avLst/>
              </a:prstGeom>
              <a:ln w="762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Straight Connector 106"/>
            <p:cNvCxnSpPr/>
            <p:nvPr/>
          </p:nvCxnSpPr>
          <p:spPr>
            <a:xfrm>
              <a:off x="6248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6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/>
          <p:cNvSpPr/>
          <p:nvPr/>
        </p:nvSpPr>
        <p:spPr>
          <a:xfrm>
            <a:off x="4648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/>
          <p:cNvSpPr/>
          <p:nvPr/>
        </p:nvSpPr>
        <p:spPr>
          <a:xfrm>
            <a:off x="5410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2" name="Rectangle 101"/>
          <p:cNvSpPr/>
          <p:nvPr/>
        </p:nvSpPr>
        <p:spPr>
          <a:xfrm>
            <a:off x="3886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17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24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36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/>
          <p:cNvCxnSpPr/>
          <p:nvPr/>
        </p:nvCxnSpPr>
        <p:spPr>
          <a:xfrm>
            <a:off x="6352848" y="59436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3276600" y="5943600"/>
            <a:ext cx="3810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71"/>
          <p:cNvGrpSpPr/>
          <p:nvPr/>
        </p:nvGrpSpPr>
        <p:grpSpPr>
          <a:xfrm>
            <a:off x="2971800" y="6248400"/>
            <a:ext cx="304800" cy="228600"/>
            <a:chOff x="2895600" y="3200400"/>
            <a:chExt cx="304800" cy="228600"/>
          </a:xfrm>
        </p:grpSpPr>
        <p:sp>
          <p:nvSpPr>
            <p:cNvPr id="173" name="Rectangle 17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4" name="Object 17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2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74"/>
          <p:cNvGrpSpPr/>
          <p:nvPr/>
        </p:nvGrpSpPr>
        <p:grpSpPr>
          <a:xfrm>
            <a:off x="3733800" y="6248400"/>
            <a:ext cx="304800" cy="228600"/>
            <a:chOff x="2895600" y="3200400"/>
            <a:chExt cx="304800" cy="228600"/>
          </a:xfrm>
        </p:grpSpPr>
        <p:sp>
          <p:nvSpPr>
            <p:cNvPr id="176" name="Rectangle 17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7" name="Object 17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3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77"/>
          <p:cNvGrpSpPr/>
          <p:nvPr/>
        </p:nvGrpSpPr>
        <p:grpSpPr>
          <a:xfrm>
            <a:off x="4495800" y="6248400"/>
            <a:ext cx="304800" cy="228600"/>
            <a:chOff x="2895600" y="3200400"/>
            <a:chExt cx="304800" cy="228600"/>
          </a:xfrm>
        </p:grpSpPr>
        <p:sp>
          <p:nvSpPr>
            <p:cNvPr id="179" name="Rectangle 1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0" name="Object 1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4" name="Equation" r:id="rId15" imgW="152280" imgH="126720" progId="Equation.3">
                    <p:embed/>
                  </p:oleObj>
                </mc:Choice>
                <mc:Fallback>
                  <p:oleObj name="Equation" r:id="rId15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180"/>
          <p:cNvGrpSpPr/>
          <p:nvPr/>
        </p:nvGrpSpPr>
        <p:grpSpPr>
          <a:xfrm>
            <a:off x="5257800" y="6248400"/>
            <a:ext cx="304800" cy="228600"/>
            <a:chOff x="2895600" y="3200400"/>
            <a:chExt cx="304800" cy="228600"/>
          </a:xfrm>
        </p:grpSpPr>
        <p:sp>
          <p:nvSpPr>
            <p:cNvPr id="182" name="Rectangle 18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3" name="Object 18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5" name="Equation" r:id="rId16" imgW="152280" imgH="126720" progId="Equation.3">
                    <p:embed/>
                  </p:oleObj>
                </mc:Choice>
                <mc:Fallback>
                  <p:oleObj name="Equation" r:id="rId16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183"/>
          <p:cNvGrpSpPr/>
          <p:nvPr/>
        </p:nvGrpSpPr>
        <p:grpSpPr>
          <a:xfrm>
            <a:off x="6019800" y="6248400"/>
            <a:ext cx="304800" cy="228600"/>
            <a:chOff x="2895600" y="3200400"/>
            <a:chExt cx="304800" cy="228600"/>
          </a:xfrm>
        </p:grpSpPr>
        <p:sp>
          <p:nvSpPr>
            <p:cNvPr id="185" name="Rectangle 1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6" name="Object 1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06" name="Equation" r:id="rId17" imgW="152280" imgH="126720" progId="Equation.3">
                    <p:embed/>
                  </p:oleObj>
                </mc:Choice>
                <mc:Fallback>
                  <p:oleObj name="Equation" r:id="rId17" imgW="152280" imgH="1267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Rectangle 47"/>
          <p:cNvSpPr/>
          <p:nvPr/>
        </p:nvSpPr>
        <p:spPr>
          <a:xfrm>
            <a:off x="3124200" y="5181600"/>
            <a:ext cx="762000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>
            <a:off x="4800600" y="5943600"/>
            <a:ext cx="381000" cy="0"/>
          </a:xfrm>
          <a:prstGeom prst="line">
            <a:avLst/>
          </a:prstGeom>
          <a:solidFill>
            <a:srgbClr val="00B0F0"/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114"/>
          <p:cNvGrpSpPr/>
          <p:nvPr/>
        </p:nvGrpSpPr>
        <p:grpSpPr>
          <a:xfrm>
            <a:off x="4648200" y="5181600"/>
            <a:ext cx="762000" cy="762000"/>
            <a:chOff x="4267200" y="838200"/>
            <a:chExt cx="762000" cy="762000"/>
          </a:xfrm>
        </p:grpSpPr>
        <p:grpSp>
          <p:nvGrpSpPr>
            <p:cNvPr id="25" name="Group 77"/>
            <p:cNvGrpSpPr/>
            <p:nvPr/>
          </p:nvGrpSpPr>
          <p:grpSpPr>
            <a:xfrm>
              <a:off x="4267200" y="838200"/>
              <a:ext cx="762000" cy="762000"/>
              <a:chOff x="4191000" y="914400"/>
              <a:chExt cx="762000" cy="76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4191000" y="9144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smtClean="0"/>
                  <a:t>1</a:t>
                </a:r>
                <a:endParaRPr lang="en-US" sz="1400" b="1" dirty="0"/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>
                <a:off x="4343400" y="1676400"/>
                <a:ext cx="381000" cy="0"/>
              </a:xfrm>
              <a:prstGeom prst="line">
                <a:avLst/>
              </a:prstGeom>
              <a:solidFill>
                <a:srgbClr val="00B0F0"/>
              </a:solidFill>
              <a:ln w="762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Straight Connector 89"/>
            <p:cNvCxnSpPr/>
            <p:nvPr/>
          </p:nvCxnSpPr>
          <p:spPr>
            <a:xfrm>
              <a:off x="5029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/>
          <p:cNvSpPr txBox="1"/>
          <p:nvPr/>
        </p:nvSpPr>
        <p:spPr>
          <a:xfrm>
            <a:off x="4114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445386" y="5410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30</a:t>
            </a:r>
            <a:endParaRPr lang="en-US" sz="1200" b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4876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70</a:t>
            </a:r>
            <a:endParaRPr lang="en-US" sz="1200" b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356580" y="54102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10%</a:t>
            </a:r>
            <a:endParaRPr lang="en-US" b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5562600" y="51054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90%</a:t>
            </a:r>
            <a:endParaRPr lang="en-US" b="1" dirty="0"/>
          </a:p>
        </p:txBody>
      </p:sp>
      <p:sp>
        <p:nvSpPr>
          <p:cNvPr id="129" name="TextBox 128"/>
          <p:cNvSpPr txBox="1"/>
          <p:nvPr/>
        </p:nvSpPr>
        <p:spPr>
          <a:xfrm>
            <a:off x="6324600" y="51054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90%</a:t>
            </a:r>
            <a:endParaRPr lang="en-US" b="1" dirty="0"/>
          </a:p>
        </p:txBody>
      </p:sp>
      <p:sp>
        <p:nvSpPr>
          <p:cNvPr id="130" name="TextBox 129"/>
          <p:cNvSpPr txBox="1"/>
          <p:nvPr/>
        </p:nvSpPr>
        <p:spPr>
          <a:xfrm>
            <a:off x="6276648" y="565046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-60%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  <p:sp>
        <p:nvSpPr>
          <p:cNvPr id="134" name="TextBox 133"/>
          <p:cNvSpPr txBox="1"/>
          <p:nvPr/>
        </p:nvSpPr>
        <p:spPr>
          <a:xfrm>
            <a:off x="33528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3352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40</a:t>
            </a:r>
            <a:endParaRPr lang="en-US" sz="1200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41405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15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58709E-6 L -0.11667 0.46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2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7"/>
          <p:cNvGrpSpPr/>
          <p:nvPr/>
        </p:nvGrpSpPr>
        <p:grpSpPr>
          <a:xfrm>
            <a:off x="2362200" y="4419600"/>
            <a:ext cx="4572000" cy="1524000"/>
            <a:chOff x="152400" y="609600"/>
            <a:chExt cx="4572000" cy="1524000"/>
          </a:xfrm>
        </p:grpSpPr>
        <p:grpSp>
          <p:nvGrpSpPr>
            <p:cNvPr id="3" name="Group 112"/>
            <p:cNvGrpSpPr/>
            <p:nvPr/>
          </p:nvGrpSpPr>
          <p:grpSpPr>
            <a:xfrm>
              <a:off x="152400" y="609600"/>
              <a:ext cx="4572000" cy="1524000"/>
              <a:chOff x="2362200" y="3810000"/>
              <a:chExt cx="4572000" cy="1524000"/>
            </a:xfrm>
          </p:grpSpPr>
          <p:grpSp>
            <p:nvGrpSpPr>
              <p:cNvPr id="5" name="Group 41"/>
              <p:cNvGrpSpPr/>
              <p:nvPr/>
            </p:nvGrpSpPr>
            <p:grpSpPr>
              <a:xfrm>
                <a:off x="2362200" y="38100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7064020" y="2362200"/>
                  <a:ext cx="381000" cy="0"/>
                </a:xfrm>
                <a:prstGeom prst="line">
                  <a:avLst/>
                </a:prstGeom>
                <a:ln w="762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7" name="Straight Connector 166"/>
              <p:cNvCxnSpPr/>
              <p:nvPr/>
            </p:nvCxnSpPr>
            <p:spPr>
              <a:xfrm>
                <a:off x="6324600" y="4572000"/>
                <a:ext cx="381000" cy="0"/>
              </a:xfrm>
              <a:prstGeom prst="line">
                <a:avLst/>
              </a:prstGeom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0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53" name="Object 15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1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2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3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166" name="Rectangle 1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68" name="Object 16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4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1" name="Object 1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025" name="Equation" r:id="rId11" imgW="152280" imgH="126720" progId="Equation.3">
                      <p:embed/>
                    </p:oleObj>
                  </mc:Choice>
                  <mc:Fallback>
                    <p:oleObj name="Equation" r:id="rId11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sp>
        <p:nvSpPr>
          <p:cNvPr id="65" name="Rectangle 64"/>
          <p:cNvSpPr/>
          <p:nvPr/>
        </p:nvSpPr>
        <p:spPr>
          <a:xfrm>
            <a:off x="3886200" y="5181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12"/>
          <p:cNvGrpSpPr/>
          <p:nvPr/>
        </p:nvGrpSpPr>
        <p:grpSpPr>
          <a:xfrm>
            <a:off x="5410200" y="5181600"/>
            <a:ext cx="762000" cy="762000"/>
            <a:chOff x="6248400" y="838200"/>
            <a:chExt cx="762000" cy="762000"/>
          </a:xfrm>
        </p:grpSpPr>
        <p:sp>
          <p:nvSpPr>
            <p:cNvPr id="97" name="Rectangle 96"/>
            <p:cNvSpPr/>
            <p:nvPr/>
          </p:nvSpPr>
          <p:spPr>
            <a:xfrm>
              <a:off x="6248400" y="838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70104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13"/>
          <p:cNvGrpSpPr/>
          <p:nvPr/>
        </p:nvGrpSpPr>
        <p:grpSpPr>
          <a:xfrm>
            <a:off x="8153400" y="1981200"/>
            <a:ext cx="762000" cy="762000"/>
            <a:chOff x="7696200" y="838200"/>
            <a:chExt cx="762000" cy="762000"/>
          </a:xfrm>
        </p:grpSpPr>
        <p:grpSp>
          <p:nvGrpSpPr>
            <p:cNvPr id="16" name="Group 56"/>
            <p:cNvGrpSpPr/>
            <p:nvPr/>
          </p:nvGrpSpPr>
          <p:grpSpPr>
            <a:xfrm>
              <a:off x="7696200" y="838200"/>
              <a:ext cx="762000" cy="762000"/>
              <a:chOff x="533400" y="838200"/>
              <a:chExt cx="762000" cy="762000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533400" y="838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685800" y="1600200"/>
                <a:ext cx="38100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Straight Connector 108"/>
            <p:cNvCxnSpPr/>
            <p:nvPr/>
          </p:nvCxnSpPr>
          <p:spPr>
            <a:xfrm>
              <a:off x="7696200" y="990600"/>
              <a:ext cx="0" cy="38100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848600" y="838200"/>
              <a:ext cx="381000" cy="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/>
          <p:cNvSpPr/>
          <p:nvPr/>
        </p:nvSpPr>
        <p:spPr>
          <a:xfrm>
            <a:off x="4648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/>
          <p:cNvSpPr/>
          <p:nvPr/>
        </p:nvSpPr>
        <p:spPr>
          <a:xfrm>
            <a:off x="5410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2" name="Rectangle 101"/>
          <p:cNvSpPr/>
          <p:nvPr/>
        </p:nvSpPr>
        <p:spPr>
          <a:xfrm>
            <a:off x="3886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617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124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2362200" y="5943600"/>
            <a:ext cx="762000" cy="762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/>
          <p:cNvCxnSpPr/>
          <p:nvPr/>
        </p:nvCxnSpPr>
        <p:spPr>
          <a:xfrm>
            <a:off x="6352848" y="59436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71"/>
          <p:cNvGrpSpPr/>
          <p:nvPr/>
        </p:nvGrpSpPr>
        <p:grpSpPr>
          <a:xfrm>
            <a:off x="2971800" y="6248400"/>
            <a:ext cx="304800" cy="228600"/>
            <a:chOff x="2895600" y="3200400"/>
            <a:chExt cx="304800" cy="228600"/>
          </a:xfrm>
        </p:grpSpPr>
        <p:sp>
          <p:nvSpPr>
            <p:cNvPr id="173" name="Rectangle 17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4" name="Object 17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6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74"/>
          <p:cNvGrpSpPr/>
          <p:nvPr/>
        </p:nvGrpSpPr>
        <p:grpSpPr>
          <a:xfrm>
            <a:off x="3733800" y="6248400"/>
            <a:ext cx="304800" cy="228600"/>
            <a:chOff x="2895600" y="3200400"/>
            <a:chExt cx="304800" cy="228600"/>
          </a:xfrm>
        </p:grpSpPr>
        <p:sp>
          <p:nvSpPr>
            <p:cNvPr id="176" name="Rectangle 17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77" name="Object 17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7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77"/>
          <p:cNvGrpSpPr/>
          <p:nvPr/>
        </p:nvGrpSpPr>
        <p:grpSpPr>
          <a:xfrm>
            <a:off x="4495800" y="6248400"/>
            <a:ext cx="304800" cy="228600"/>
            <a:chOff x="2895600" y="3200400"/>
            <a:chExt cx="304800" cy="228600"/>
          </a:xfrm>
        </p:grpSpPr>
        <p:sp>
          <p:nvSpPr>
            <p:cNvPr id="179" name="Rectangle 1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0" name="Object 1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8" name="Equation" r:id="rId15" imgW="152280" imgH="126720" progId="Equation.3">
                    <p:embed/>
                  </p:oleObj>
                </mc:Choice>
                <mc:Fallback>
                  <p:oleObj name="Equation" r:id="rId15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180"/>
          <p:cNvGrpSpPr/>
          <p:nvPr/>
        </p:nvGrpSpPr>
        <p:grpSpPr>
          <a:xfrm>
            <a:off x="5257800" y="6248400"/>
            <a:ext cx="304800" cy="228600"/>
            <a:chOff x="2895600" y="3200400"/>
            <a:chExt cx="304800" cy="228600"/>
          </a:xfrm>
        </p:grpSpPr>
        <p:sp>
          <p:nvSpPr>
            <p:cNvPr id="182" name="Rectangle 18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3" name="Object 18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29" name="Equation" r:id="rId16" imgW="152280" imgH="126720" progId="Equation.3">
                    <p:embed/>
                  </p:oleObj>
                </mc:Choice>
                <mc:Fallback>
                  <p:oleObj name="Equation" r:id="rId16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183"/>
          <p:cNvGrpSpPr/>
          <p:nvPr/>
        </p:nvGrpSpPr>
        <p:grpSpPr>
          <a:xfrm>
            <a:off x="6019800" y="6248400"/>
            <a:ext cx="304800" cy="228600"/>
            <a:chOff x="2895600" y="3200400"/>
            <a:chExt cx="304800" cy="228600"/>
          </a:xfrm>
        </p:grpSpPr>
        <p:sp>
          <p:nvSpPr>
            <p:cNvPr id="185" name="Rectangle 1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graphicFrame>
          <p:nvGraphicFramePr>
            <p:cNvPr id="186" name="Object 1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30" name="Equation" r:id="rId17" imgW="152280" imgH="126720" progId="Equation.3">
                    <p:embed/>
                  </p:oleObj>
                </mc:Choice>
                <mc:Fallback>
                  <p:oleObj name="Equation" r:id="rId17" imgW="152280" imgH="12672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Rectangle 47"/>
          <p:cNvSpPr/>
          <p:nvPr/>
        </p:nvSpPr>
        <p:spPr>
          <a:xfrm>
            <a:off x="3124200" y="5181600"/>
            <a:ext cx="762000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>
            <a:off x="4800600" y="5943600"/>
            <a:ext cx="381000" cy="0"/>
          </a:xfrm>
          <a:prstGeom prst="line">
            <a:avLst/>
          </a:prstGeom>
          <a:solidFill>
            <a:srgbClr val="00B0F0"/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77"/>
          <p:cNvGrpSpPr/>
          <p:nvPr/>
        </p:nvGrpSpPr>
        <p:grpSpPr>
          <a:xfrm>
            <a:off x="4648200" y="5181600"/>
            <a:ext cx="762000" cy="762000"/>
            <a:chOff x="4191000" y="914400"/>
            <a:chExt cx="762000" cy="762000"/>
          </a:xfrm>
        </p:grpSpPr>
        <p:sp>
          <p:nvSpPr>
            <p:cNvPr id="77" name="Rectangle 76"/>
            <p:cNvSpPr/>
            <p:nvPr/>
          </p:nvSpPr>
          <p:spPr>
            <a:xfrm>
              <a:off x="4191000" y="9144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1</a:t>
              </a:r>
              <a:endParaRPr lang="en-US" sz="1400" b="1" dirty="0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4343400" y="1676400"/>
              <a:ext cx="381000" cy="0"/>
            </a:xfrm>
            <a:prstGeom prst="line">
              <a:avLst/>
            </a:prstGeom>
            <a:solidFill>
              <a:srgbClr val="00B0F0"/>
            </a:solidFill>
            <a:ln w="762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/>
          <p:cNvSpPr txBox="1"/>
          <p:nvPr/>
        </p:nvSpPr>
        <p:spPr>
          <a:xfrm>
            <a:off x="4114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445386" y="5410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30</a:t>
            </a:r>
            <a:endParaRPr lang="en-US" sz="1200" b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4876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70</a:t>
            </a:r>
            <a:endParaRPr lang="en-US" sz="1200" b="1" dirty="0"/>
          </a:p>
        </p:txBody>
      </p:sp>
      <p:sp>
        <p:nvSpPr>
          <p:cNvPr id="129" name="TextBox 128"/>
          <p:cNvSpPr txBox="1"/>
          <p:nvPr/>
        </p:nvSpPr>
        <p:spPr>
          <a:xfrm>
            <a:off x="6324600" y="51054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90%</a:t>
            </a:r>
            <a:endParaRPr lang="en-US" b="1" dirty="0"/>
          </a:p>
        </p:txBody>
      </p:sp>
      <p:sp>
        <p:nvSpPr>
          <p:cNvPr id="130" name="TextBox 129"/>
          <p:cNvSpPr txBox="1"/>
          <p:nvPr/>
        </p:nvSpPr>
        <p:spPr>
          <a:xfrm>
            <a:off x="6276648" y="565046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-60%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5626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12" name="TextBox 111"/>
          <p:cNvSpPr txBox="1"/>
          <p:nvPr/>
        </p:nvSpPr>
        <p:spPr>
          <a:xfrm>
            <a:off x="5257800" y="5410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10</a:t>
            </a:r>
            <a:endParaRPr lang="en-US" sz="1200" b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6118580" y="5334000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90%</a:t>
            </a:r>
            <a:endParaRPr lang="en-US" b="1" dirty="0"/>
          </a:p>
        </p:txBody>
      </p:sp>
      <p:sp>
        <p:nvSpPr>
          <p:cNvPr id="121" name="TextBox 120"/>
          <p:cNvSpPr txBox="1"/>
          <p:nvPr/>
        </p:nvSpPr>
        <p:spPr>
          <a:xfrm>
            <a:off x="2590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75</a:t>
            </a:r>
            <a:endParaRPr lang="en-US" sz="1200" b="1" dirty="0"/>
          </a:p>
        </p:txBody>
      </p:sp>
      <p:sp>
        <p:nvSpPr>
          <p:cNvPr id="124" name="TextBox 123"/>
          <p:cNvSpPr txBox="1"/>
          <p:nvPr/>
        </p:nvSpPr>
        <p:spPr>
          <a:xfrm>
            <a:off x="3352800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90</a:t>
            </a:r>
            <a:endParaRPr lang="en-US" sz="1200" b="1" dirty="0"/>
          </a:p>
        </p:txBody>
      </p:sp>
      <p:sp>
        <p:nvSpPr>
          <p:cNvPr id="125" name="TextBox 124"/>
          <p:cNvSpPr txBox="1"/>
          <p:nvPr/>
        </p:nvSpPr>
        <p:spPr>
          <a:xfrm>
            <a:off x="3352800" y="5791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40</a:t>
            </a:r>
            <a:endParaRPr lang="en-US" sz="1200" b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4140586" y="5029200"/>
            <a:ext cx="35521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15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58709E-6 L -0.21666 0.46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0" y="2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Bit Flipping</a:t>
            </a:r>
            <a:endParaRPr lang="en-US" sz="1800" b="1" dirty="0"/>
          </a:p>
        </p:txBody>
      </p:sp>
      <p:grpSp>
        <p:nvGrpSpPr>
          <p:cNvPr id="76" name="Group 75"/>
          <p:cNvGrpSpPr/>
          <p:nvPr/>
        </p:nvGrpSpPr>
        <p:grpSpPr>
          <a:xfrm>
            <a:off x="2362200" y="5029200"/>
            <a:ext cx="4572000" cy="1676400"/>
            <a:chOff x="2362200" y="5029200"/>
            <a:chExt cx="4572000" cy="1676400"/>
          </a:xfrm>
        </p:grpSpPr>
        <p:sp>
          <p:nvSpPr>
            <p:cNvPr id="65" name="Rectangle 64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4" name="Object 17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068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76" name="Rectangle 17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77" name="Object 17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069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79" name="Rectangle 17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0" name="Object 17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070" name="Equation" r:id="rId7" imgW="152280" imgH="126720" progId="Equation.3">
                      <p:embed/>
                    </p:oleObj>
                  </mc:Choice>
                  <mc:Fallback>
                    <p:oleObj name="Equation" r:id="rId7" imgW="152280" imgH="12672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82" name="Rectangle 18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3" name="Object 18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071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85" name="Rectangle 18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1"/>
              </a:p>
            </p:txBody>
          </p:sp>
          <p:graphicFrame>
            <p:nvGraphicFramePr>
              <p:cNvPr id="186" name="Object 18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072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7" name="Rectangle 76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1</a:t>
              </a:r>
              <a:endParaRPr lang="en-US" sz="1400" b="1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114800" y="5791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90</a:t>
              </a:r>
              <a:endParaRPr lang="en-US" sz="1200" b="1" dirty="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445386" y="5410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30</a:t>
              </a:r>
              <a:endParaRPr lang="en-US" sz="1200" b="1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876800" y="5791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70</a:t>
              </a:r>
              <a:endParaRPr lang="en-US" sz="1200" b="1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140586" y="5029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15</a:t>
              </a:r>
              <a:endParaRPr lang="en-US" sz="1200" b="1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590800" y="5791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75</a:t>
              </a:r>
              <a:endParaRPr lang="en-US" sz="1200" b="1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140586" y="5029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15</a:t>
              </a:r>
              <a:endParaRPr lang="en-US" sz="1200" b="1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302386" y="5819001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40</a:t>
              </a:r>
              <a:endParaRPr lang="en-US" sz="1200" b="1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257800" y="5410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10</a:t>
              </a:r>
              <a:endParaRPr lang="en-US" sz="1200" b="1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324600" y="5757446"/>
              <a:ext cx="457200" cy="33855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FF0000"/>
                  </a:solidFill>
                </a:rPr>
                <a:t>-60</a:t>
              </a:r>
              <a:endParaRPr lang="en-US" sz="1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2362200" y="4419600"/>
            <a:ext cx="4572000" cy="1710154"/>
            <a:chOff x="2362200" y="2514600"/>
            <a:chExt cx="4572000" cy="1710154"/>
          </a:xfrm>
        </p:grpSpPr>
        <p:grpSp>
          <p:nvGrpSpPr>
            <p:cNvPr id="75" name="Group 74"/>
            <p:cNvGrpSpPr/>
            <p:nvPr/>
          </p:nvGrpSpPr>
          <p:grpSpPr>
            <a:xfrm>
              <a:off x="2362200" y="2514600"/>
              <a:ext cx="4572000" cy="1710154"/>
              <a:chOff x="2362200" y="2362200"/>
              <a:chExt cx="4572000" cy="1710154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2362200" y="2362200"/>
                <a:ext cx="4572000" cy="1710154"/>
                <a:chOff x="2362200" y="2362200"/>
                <a:chExt cx="4572000" cy="1710154"/>
              </a:xfrm>
            </p:grpSpPr>
            <p:grpSp>
              <p:nvGrpSpPr>
                <p:cNvPr id="2" name="Group 187"/>
                <p:cNvGrpSpPr/>
                <p:nvPr/>
              </p:nvGrpSpPr>
              <p:grpSpPr>
                <a:xfrm>
                  <a:off x="2362200" y="2362200"/>
                  <a:ext cx="4572000" cy="1524000"/>
                  <a:chOff x="152400" y="609600"/>
                  <a:chExt cx="4572000" cy="1524000"/>
                </a:xfrm>
              </p:grpSpPr>
              <p:grpSp>
                <p:nvGrpSpPr>
                  <p:cNvPr id="3" name="Group 41"/>
                  <p:cNvGrpSpPr/>
                  <p:nvPr/>
                </p:nvGrpSpPr>
                <p:grpSpPr>
                  <a:xfrm>
                    <a:off x="152400" y="609600"/>
                    <a:ext cx="4572000" cy="1524000"/>
                    <a:chOff x="3048000" y="1600200"/>
                    <a:chExt cx="4572000" cy="15240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4572000" y="1600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5334000" y="1600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0" name="Rectangle 139"/>
                    <p:cNvSpPr/>
                    <p:nvPr/>
                  </p:nvSpPr>
                  <p:spPr>
                    <a:xfrm>
                      <a:off x="6096000" y="1600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1" name="Rectangle 140"/>
                    <p:cNvSpPr/>
                    <p:nvPr/>
                  </p:nvSpPr>
                  <p:spPr>
                    <a:xfrm>
                      <a:off x="6858000" y="1600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3810000" y="1600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3048000" y="1600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3048000" y="2362200"/>
                      <a:ext cx="762000" cy="762000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" name="Group 135"/>
                  <p:cNvGrpSpPr/>
                  <p:nvPr/>
                </p:nvGrpSpPr>
                <p:grpSpPr>
                  <a:xfrm>
                    <a:off x="762000" y="838200"/>
                    <a:ext cx="304800" cy="228600"/>
                    <a:chOff x="2895600" y="3200400"/>
                    <a:chExt cx="304800" cy="2286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2895600" y="3200400"/>
                      <a:ext cx="304800" cy="228600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b="1"/>
                    </a:p>
                  </p:txBody>
                </p:sp>
                <p:graphicFrame>
                  <p:nvGraphicFramePr>
                    <p:cNvPr id="132" name="Object 131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895600" y="3200400"/>
                    <a:ext cx="304800" cy="2286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7073" name="Equation" r:id="rId10" imgW="152280" imgH="126720" progId="Equation.3">
                            <p:embed/>
                          </p:oleObj>
                        </mc:Choice>
                        <mc:Fallback>
                          <p:oleObj name="Equation" r:id="rId10" imgW="152280" imgH="126720" progId="Equation.3">
                            <p:embed/>
                            <p:pic>
                              <p:nvPicPr>
                                <p:cNvPr id="0" name="Picture 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1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95600" y="3200400"/>
                                  <a:ext cx="304800" cy="2286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6" name="Group 136"/>
                  <p:cNvGrpSpPr/>
                  <p:nvPr/>
                </p:nvGrpSpPr>
                <p:grpSpPr>
                  <a:xfrm>
                    <a:off x="1524000" y="838200"/>
                    <a:ext cx="304800" cy="228600"/>
                    <a:chOff x="2895600" y="3200400"/>
                    <a:chExt cx="304800" cy="2286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2895600" y="3200400"/>
                      <a:ext cx="304800" cy="228600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b="1"/>
                    </a:p>
                  </p:txBody>
                </p:sp>
                <p:graphicFrame>
                  <p:nvGraphicFramePr>
                    <p:cNvPr id="153" name="Object 152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895600" y="3200400"/>
                    <a:ext cx="304800" cy="2286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7074" name="Equation" r:id="rId12" imgW="152280" imgH="126720" progId="Equation.3">
                            <p:embed/>
                          </p:oleObj>
                        </mc:Choice>
                        <mc:Fallback>
                          <p:oleObj name="Equation" r:id="rId12" imgW="152280" imgH="126720" progId="Equation.3">
                            <p:embed/>
                            <p:pic>
                              <p:nvPicPr>
                                <p:cNvPr id="0" name="Picture 3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95600" y="3200400"/>
                                  <a:ext cx="304800" cy="2286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7" name="Group 157"/>
                  <p:cNvGrpSpPr/>
                  <p:nvPr/>
                </p:nvGrpSpPr>
                <p:grpSpPr>
                  <a:xfrm>
                    <a:off x="2286000" y="838200"/>
                    <a:ext cx="304800" cy="228600"/>
                    <a:chOff x="2895600" y="3200400"/>
                    <a:chExt cx="304800" cy="2286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2895600" y="3200400"/>
                      <a:ext cx="304800" cy="228600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b="1"/>
                    </a:p>
                  </p:txBody>
                </p:sp>
                <p:graphicFrame>
                  <p:nvGraphicFramePr>
                    <p:cNvPr id="160" name="Object 15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895600" y="3200400"/>
                    <a:ext cx="304800" cy="2286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7075" name="Equation" r:id="rId14" imgW="152280" imgH="126720" progId="Equation.3">
                            <p:embed/>
                          </p:oleObj>
                        </mc:Choice>
                        <mc:Fallback>
                          <p:oleObj name="Equation" r:id="rId14" imgW="152280" imgH="126720" progId="Equation.3">
                            <p:embed/>
                            <p:pic>
                              <p:nvPicPr>
                                <p:cNvPr id="0" name="Picture 4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95600" y="3200400"/>
                                  <a:ext cx="304800" cy="2286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8" name="Group 160"/>
                  <p:cNvGrpSpPr/>
                  <p:nvPr/>
                </p:nvGrpSpPr>
                <p:grpSpPr>
                  <a:xfrm>
                    <a:off x="3048000" y="838200"/>
                    <a:ext cx="304800" cy="228600"/>
                    <a:chOff x="2895600" y="3200400"/>
                    <a:chExt cx="304800" cy="228600"/>
                  </a:xfrm>
                </p:grpSpPr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2895600" y="3200400"/>
                      <a:ext cx="304800" cy="228600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b="1"/>
                    </a:p>
                  </p:txBody>
                </p:sp>
                <p:graphicFrame>
                  <p:nvGraphicFramePr>
                    <p:cNvPr id="164" name="Object 16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895600" y="3200400"/>
                    <a:ext cx="304800" cy="2286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7076" name="Equation" r:id="rId15" imgW="152280" imgH="126720" progId="Equation.3">
                            <p:embed/>
                          </p:oleObj>
                        </mc:Choice>
                        <mc:Fallback>
                          <p:oleObj name="Equation" r:id="rId15" imgW="152280" imgH="126720" progId="Equation.3">
                            <p:embed/>
                            <p:pic>
                              <p:nvPicPr>
                                <p:cNvPr id="0" name="Picture 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95600" y="3200400"/>
                                  <a:ext cx="304800" cy="2286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9" name="Group 164"/>
                  <p:cNvGrpSpPr/>
                  <p:nvPr/>
                </p:nvGrpSpPr>
                <p:grpSpPr>
                  <a:xfrm>
                    <a:off x="3810000" y="838200"/>
                    <a:ext cx="304800" cy="228600"/>
                    <a:chOff x="2895600" y="3200400"/>
                    <a:chExt cx="304800" cy="228600"/>
                  </a:xfrm>
                </p:grpSpPr>
                <p:sp>
                  <p:nvSpPr>
                    <p:cNvPr id="166" name="Rectangle 165"/>
                    <p:cNvSpPr/>
                    <p:nvPr/>
                  </p:nvSpPr>
                  <p:spPr>
                    <a:xfrm>
                      <a:off x="2895600" y="3200400"/>
                      <a:ext cx="304800" cy="228600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b="1"/>
                    </a:p>
                  </p:txBody>
                </p:sp>
                <p:graphicFrame>
                  <p:nvGraphicFramePr>
                    <p:cNvPr id="168" name="Object 16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895600" y="3200400"/>
                    <a:ext cx="304800" cy="2286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7077" name="Equation" r:id="rId16" imgW="152280" imgH="126720" progId="Equation.3">
                            <p:embed/>
                          </p:oleObj>
                        </mc:Choice>
                        <mc:Fallback>
                          <p:oleObj name="Equation" r:id="rId16" imgW="152280" imgH="126720" progId="Equation.3">
                            <p:embed/>
                            <p:pic>
                              <p:nvPicPr>
                                <p:cNvPr id="0" name="Picture 6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95600" y="3200400"/>
                                  <a:ext cx="304800" cy="2286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pSp>
                <p:nvGrpSpPr>
                  <p:cNvPr id="10" name="Group 168"/>
                  <p:cNvGrpSpPr/>
                  <p:nvPr/>
                </p:nvGrpSpPr>
                <p:grpSpPr>
                  <a:xfrm>
                    <a:off x="381000" y="1295400"/>
                    <a:ext cx="304800" cy="228600"/>
                    <a:chOff x="2895600" y="3200400"/>
                    <a:chExt cx="304800" cy="2286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2895600" y="3200400"/>
                      <a:ext cx="304800" cy="228600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b="1"/>
                    </a:p>
                  </p:txBody>
                </p:sp>
                <p:graphicFrame>
                  <p:nvGraphicFramePr>
                    <p:cNvPr id="171" name="Object 17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895600" y="3200400"/>
                    <a:ext cx="304800" cy="22860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7078" name="Equation" r:id="rId17" imgW="152280" imgH="126720" progId="Equation.3">
                            <p:embed/>
                          </p:oleObj>
                        </mc:Choice>
                        <mc:Fallback>
                          <p:oleObj name="Equation" r:id="rId17" imgW="152280" imgH="126720" progId="Equation.3">
                            <p:embed/>
                            <p:pic>
                              <p:nvPicPr>
                                <p:cNvPr id="0" name="Picture 7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95600" y="3200400"/>
                                  <a:ext cx="304800" cy="22860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  <p:sp>
              <p:nvSpPr>
                <p:cNvPr id="97" name="Rectangle 96"/>
                <p:cNvSpPr/>
                <p:nvPr/>
              </p:nvSpPr>
              <p:spPr>
                <a:xfrm>
                  <a:off x="5410200" y="3124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>
                  <a:off x="6172200" y="3124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3124200" y="3124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5562600" y="2971800"/>
                  <a:ext cx="355214" cy="27699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/>
                    <a:t>90</a:t>
                  </a:r>
                  <a:endParaRPr lang="en-US" sz="1200" b="1" dirty="0"/>
                </a:p>
              </p:txBody>
            </p:sp>
            <p:sp>
              <p:nvSpPr>
                <p:cNvPr id="112" name="TextBox 111"/>
                <p:cNvSpPr txBox="1"/>
                <p:nvPr/>
              </p:nvSpPr>
              <p:spPr>
                <a:xfrm>
                  <a:off x="5257800" y="3352800"/>
                  <a:ext cx="355214" cy="27699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/>
                    <a:t>10</a:t>
                  </a:r>
                  <a:endParaRPr lang="en-US" sz="1200" b="1" dirty="0"/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>
                  <a:off x="6400800" y="2971800"/>
                  <a:ext cx="355214" cy="27699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/>
                    <a:t>90</a:t>
                  </a:r>
                  <a:endParaRPr lang="en-US" sz="1200" b="1" dirty="0"/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5943600" y="3352800"/>
                  <a:ext cx="355214" cy="27699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/>
                    <a:t>90</a:t>
                  </a:r>
                  <a:endParaRPr lang="en-US" sz="1200" b="1" dirty="0"/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6324600" y="3733800"/>
                  <a:ext cx="457200" cy="33855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 smtClean="0">
                      <a:solidFill>
                        <a:srgbClr val="FF0000"/>
                      </a:solidFill>
                    </a:rPr>
                    <a:t>-60</a:t>
                  </a:r>
                  <a:endParaRPr lang="en-US" sz="16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9" name="TextBox 98"/>
                <p:cNvSpPr txBox="1"/>
                <p:nvPr/>
              </p:nvSpPr>
              <p:spPr>
                <a:xfrm>
                  <a:off x="3352800" y="2971800"/>
                  <a:ext cx="355214" cy="27699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/>
                    <a:t>90</a:t>
                  </a:r>
                  <a:endParaRPr lang="en-US" sz="1200" b="1" dirty="0"/>
                </a:p>
              </p:txBody>
            </p:sp>
            <p:sp>
              <p:nvSpPr>
                <p:cNvPr id="107" name="TextBox 106"/>
                <p:cNvSpPr txBox="1"/>
                <p:nvPr/>
              </p:nvSpPr>
              <p:spPr>
                <a:xfrm>
                  <a:off x="3352800" y="3733800"/>
                  <a:ext cx="355214" cy="27699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 smtClean="0"/>
                    <a:t>40</a:t>
                  </a:r>
                  <a:endParaRPr lang="en-US" sz="1200" b="1" dirty="0"/>
                </a:p>
              </p:txBody>
            </p:sp>
          </p:grpSp>
          <p:sp>
            <p:nvSpPr>
              <p:cNvPr id="74" name="TextBox 73"/>
              <p:cNvSpPr txBox="1"/>
              <p:nvPr/>
            </p:nvSpPr>
            <p:spPr>
              <a:xfrm>
                <a:off x="4140586" y="2971800"/>
                <a:ext cx="355214" cy="2769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 smtClean="0"/>
                  <a:t>15</a:t>
                </a:r>
                <a:endParaRPr lang="en-US" sz="1200" b="1" dirty="0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2590800" y="3886200"/>
              <a:ext cx="355214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75</a:t>
              </a:r>
              <a:endParaRPr lang="en-US" sz="12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Oscillator</a:t>
            </a:r>
            <a:endParaRPr lang="en-US" sz="18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1219200" y="2209800"/>
            <a:ext cx="2514600" cy="762000"/>
            <a:chOff x="2362200" y="5181600"/>
            <a:chExt cx="4572000" cy="1524000"/>
          </a:xfrm>
        </p:grpSpPr>
        <p:sp>
          <p:nvSpPr>
            <p:cNvPr id="5" name="Rectangle 4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2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6" name="Object 3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88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4" name="Object 3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89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2" name="Object 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0" name="Equation" r:id="rId7" imgW="152280" imgH="126720" progId="Equation.3">
                      <p:embed/>
                    </p:oleObj>
                  </mc:Choice>
                  <mc:Fallback>
                    <p:oleObj name="Equation" r:id="rId7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0" name="Object 2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1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8" name="Object 2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2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" name="Rectangle 16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0</a:t>
              </a:r>
              <a:endParaRPr lang="en-US" sz="1600" b="1" dirty="0"/>
            </a:p>
          </p:txBody>
        </p:sp>
      </p:grpSp>
      <p:grpSp>
        <p:nvGrpSpPr>
          <p:cNvPr id="42" name="Group 187"/>
          <p:cNvGrpSpPr/>
          <p:nvPr/>
        </p:nvGrpSpPr>
        <p:grpSpPr>
          <a:xfrm>
            <a:off x="990600" y="1447800"/>
            <a:ext cx="2514600" cy="762000"/>
            <a:chOff x="152400" y="609600"/>
            <a:chExt cx="4572000" cy="1524000"/>
          </a:xfrm>
        </p:grpSpPr>
        <p:grpSp>
          <p:nvGrpSpPr>
            <p:cNvPr id="53" name="Group 41"/>
            <p:cNvGrpSpPr/>
            <p:nvPr/>
          </p:nvGrpSpPr>
          <p:grpSpPr>
            <a:xfrm>
              <a:off x="152400" y="609600"/>
              <a:ext cx="4572000" cy="1524000"/>
              <a:chOff x="3048000" y="1600200"/>
              <a:chExt cx="4572000" cy="1524000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4572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5334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6096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6858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3810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048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3048000" y="2362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54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71" name="Object 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3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5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4" name="Equation" r:id="rId12" imgW="152280" imgH="126720" progId="Equation.3">
                      <p:embed/>
                    </p:oleObj>
                  </mc:Choice>
                  <mc:Fallback>
                    <p:oleObj name="Equation" r:id="rId12" imgW="152280" imgH="12672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6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7" name="Object 6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5" name="Equation" r:id="rId14" imgW="152280" imgH="126720" progId="Equation.3">
                      <p:embed/>
                    </p:oleObj>
                  </mc:Choice>
                  <mc:Fallback>
                    <p:oleObj name="Equation" r:id="rId14" imgW="152280" imgH="12672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7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5" name="Object 64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6" name="Equation" r:id="rId15" imgW="152280" imgH="126720" progId="Equation.3">
                      <p:embed/>
                    </p:oleObj>
                  </mc:Choice>
                  <mc:Fallback>
                    <p:oleObj name="Equation" r:id="rId15" imgW="152280" imgH="12672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8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3" name="Object 6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7" name="Equation" r:id="rId16" imgW="152280" imgH="126720" progId="Equation.3">
                      <p:embed/>
                    </p:oleObj>
                  </mc:Choice>
                  <mc:Fallback>
                    <p:oleObj name="Equation" r:id="rId16" imgW="152280" imgH="12672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9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1" name="Object 6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98" name="Equation" r:id="rId17" imgW="152280" imgH="126720" progId="Equation.3">
                      <p:embed/>
                    </p:oleObj>
                  </mc:Choice>
                  <mc:Fallback>
                    <p:oleObj name="Equation" r:id="rId17" imgW="152280" imgH="12672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81" name="Straight Arrow Connector 80"/>
          <p:cNvCxnSpPr/>
          <p:nvPr/>
        </p:nvCxnSpPr>
        <p:spPr>
          <a:xfrm>
            <a:off x="1600200" y="1981200"/>
            <a:ext cx="304800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68"/>
          <p:cNvGrpSpPr/>
          <p:nvPr/>
        </p:nvGrpSpPr>
        <p:grpSpPr>
          <a:xfrm>
            <a:off x="6172200" y="1295400"/>
            <a:ext cx="2514600" cy="762000"/>
            <a:chOff x="2362200" y="2362200"/>
            <a:chExt cx="4572000" cy="1524000"/>
          </a:xfrm>
        </p:grpSpPr>
        <p:grpSp>
          <p:nvGrpSpPr>
            <p:cNvPr id="83" name="Group 187"/>
            <p:cNvGrpSpPr/>
            <p:nvPr/>
          </p:nvGrpSpPr>
          <p:grpSpPr>
            <a:xfrm>
              <a:off x="2362200" y="2362200"/>
              <a:ext cx="4572000" cy="1524000"/>
              <a:chOff x="152400" y="609600"/>
              <a:chExt cx="4572000" cy="1524000"/>
            </a:xfrm>
          </p:grpSpPr>
          <p:grpSp>
            <p:nvGrpSpPr>
              <p:cNvPr id="87" name="Group 41"/>
              <p:cNvGrpSpPr/>
              <p:nvPr/>
            </p:nvGrpSpPr>
            <p:grpSpPr>
              <a:xfrm>
                <a:off x="152400" y="6096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06" name="Rectangle 105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grpSp>
            <p:nvGrpSpPr>
              <p:cNvPr id="88" name="Group 135"/>
              <p:cNvGrpSpPr/>
              <p:nvPr/>
            </p:nvGrpSpPr>
            <p:grpSpPr>
              <a:xfrm>
                <a:off x="762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4" name="Rectangle 10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105" name="Object 10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999" name="Equation" r:id="rId18" imgW="152280" imgH="126720" progId="Equation.3">
                        <p:embed/>
                      </p:oleObj>
                    </mc:Choice>
                    <mc:Fallback>
                      <p:oleObj name="Equation" r:id="rId18" imgW="152280" imgH="126720" progId="Equation.3">
                        <p:embed/>
                        <p:pic>
                          <p:nvPicPr>
                            <p:cNvPr id="0" name="Picture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89" name="Group 136"/>
              <p:cNvGrpSpPr/>
              <p:nvPr/>
            </p:nvGrpSpPr>
            <p:grpSpPr>
              <a:xfrm>
                <a:off x="1524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2" name="Rectangle 101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103" name="Object 102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000" name="Equation" r:id="rId19" imgW="152280" imgH="126720" progId="Equation.3">
                        <p:embed/>
                      </p:oleObj>
                    </mc:Choice>
                    <mc:Fallback>
                      <p:oleObj name="Equation" r:id="rId19" imgW="152280" imgH="126720" progId="Equation.3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0" name="Group 157"/>
              <p:cNvGrpSpPr/>
              <p:nvPr/>
            </p:nvGrpSpPr>
            <p:grpSpPr>
              <a:xfrm>
                <a:off x="2286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0" name="Rectangle 99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101" name="Object 100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001" name="Equation" r:id="rId20" imgW="152280" imgH="126720" progId="Equation.3">
                        <p:embed/>
                      </p:oleObj>
                    </mc:Choice>
                    <mc:Fallback>
                      <p:oleObj name="Equation" r:id="rId20" imgW="152280" imgH="126720" progId="Equation.3">
                        <p:embed/>
                        <p:pic>
                          <p:nvPicPr>
                            <p:cNvPr id="0" name="Picture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1" name="Group 160"/>
              <p:cNvGrpSpPr/>
              <p:nvPr/>
            </p:nvGrpSpPr>
            <p:grpSpPr>
              <a:xfrm>
                <a:off x="3048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98" name="Rectangle 97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99" name="Object 98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002" name="Equation" r:id="rId21" imgW="152280" imgH="126720" progId="Equation.3">
                        <p:embed/>
                      </p:oleObj>
                    </mc:Choice>
                    <mc:Fallback>
                      <p:oleObj name="Equation" r:id="rId21" imgW="152280" imgH="126720" progId="Equation.3">
                        <p:embed/>
                        <p:pic>
                          <p:nvPicPr>
                            <p:cNvPr id="0" name="Picture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2" name="Group 164"/>
              <p:cNvGrpSpPr/>
              <p:nvPr/>
            </p:nvGrpSpPr>
            <p:grpSpPr>
              <a:xfrm>
                <a:off x="3810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96" name="Rectangle 95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97" name="Object 96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003" name="Equation" r:id="rId22" imgW="152280" imgH="126720" progId="Equation.3">
                        <p:embed/>
                      </p:oleObj>
                    </mc:Choice>
                    <mc:Fallback>
                      <p:oleObj name="Equation" r:id="rId22" imgW="152280" imgH="126720" progId="Equation.3">
                        <p:embed/>
                        <p:pic>
                          <p:nvPicPr>
                            <p:cNvPr id="0" name="Picture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3" name="Group 168"/>
              <p:cNvGrpSpPr/>
              <p:nvPr/>
            </p:nvGrpSpPr>
            <p:grpSpPr>
              <a:xfrm>
                <a:off x="381000" y="1295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94" name="Rectangle 9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95" name="Object 9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004" name="Equation" r:id="rId23" imgW="152280" imgH="126720" progId="Equation.3">
                        <p:embed/>
                      </p:oleObj>
                    </mc:Choice>
                    <mc:Fallback>
                      <p:oleObj name="Equation" r:id="rId23" imgW="152280" imgH="126720" progId="Equation.3">
                        <p:embed/>
                        <p:pic>
                          <p:nvPicPr>
                            <p:cNvPr id="0" name="Picture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84" name="Rectangle 83"/>
            <p:cNvSpPr/>
            <p:nvPr/>
          </p:nvSpPr>
          <p:spPr>
            <a:xfrm>
              <a:off x="5410200" y="3124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72200" y="3124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124200" y="3124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953000" y="2209800"/>
            <a:ext cx="2514600" cy="762000"/>
            <a:chOff x="2362200" y="5181600"/>
            <a:chExt cx="4572000" cy="1524000"/>
          </a:xfrm>
        </p:grpSpPr>
        <p:sp>
          <p:nvSpPr>
            <p:cNvPr id="114" name="Rectangle 113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21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6" name="Object 13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05" name="Equation" r:id="rId24" imgW="152280" imgH="126720" progId="Equation.3">
                      <p:embed/>
                    </p:oleObj>
                  </mc:Choice>
                  <mc:Fallback>
                    <p:oleObj name="Equation" r:id="rId24" imgW="152280" imgH="126720" progId="Equation.3">
                      <p:embed/>
                      <p:pic>
                        <p:nvPicPr>
                          <p:cNvPr id="0" name="Picture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2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4" name="Object 13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06" name="Equation" r:id="rId25" imgW="152280" imgH="126720" progId="Equation.3">
                      <p:embed/>
                    </p:oleObj>
                  </mc:Choice>
                  <mc:Fallback>
                    <p:oleObj name="Equation" r:id="rId25" imgW="152280" imgH="126720" progId="Equation.3">
                      <p:embed/>
                      <p:pic>
                        <p:nvPicPr>
                          <p:cNvPr id="0" name="Picture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31" name="Rectangle 130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07" name="Equation" r:id="rId26" imgW="152280" imgH="126720" progId="Equation.3">
                      <p:embed/>
                    </p:oleObj>
                  </mc:Choice>
                  <mc:Fallback>
                    <p:oleObj name="Equation" r:id="rId26" imgW="152280" imgH="126720" progId="Equation.3">
                      <p:embed/>
                      <p:pic>
                        <p:nvPicPr>
                          <p:cNvPr id="0" name="Picture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4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0" name="Object 12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08" name="Equation" r:id="rId27" imgW="152280" imgH="126720" progId="Equation.3">
                      <p:embed/>
                    </p:oleObj>
                  </mc:Choice>
                  <mc:Fallback>
                    <p:oleObj name="Equation" r:id="rId27" imgW="152280" imgH="126720" progId="Equation.3">
                      <p:embed/>
                      <p:pic>
                        <p:nvPicPr>
                          <p:cNvPr id="0" name="Picture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5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28" name="Object 12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09" name="Equation" r:id="rId28" imgW="152280" imgH="126720" progId="Equation.3">
                      <p:embed/>
                    </p:oleObj>
                  </mc:Choice>
                  <mc:Fallback>
                    <p:oleObj name="Equation" r:id="rId28" imgW="152280" imgH="126720" progId="Equation.3">
                      <p:embed/>
                      <p:pic>
                        <p:nvPicPr>
                          <p:cNvPr id="0" name="Picture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6" name="Rectangle 125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1</a:t>
              </a:r>
              <a:endParaRPr lang="en-US" sz="1600" b="1" dirty="0"/>
            </a:p>
          </p:txBody>
        </p:sp>
      </p:grpSp>
      <p:cxnSp>
        <p:nvCxnSpPr>
          <p:cNvPr id="137" name="Straight Arrow Connector 136"/>
          <p:cNvCxnSpPr/>
          <p:nvPr/>
        </p:nvCxnSpPr>
        <p:spPr>
          <a:xfrm flipV="1">
            <a:off x="6858000" y="2133600"/>
            <a:ext cx="304800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ight Arrow 139"/>
          <p:cNvSpPr/>
          <p:nvPr/>
        </p:nvSpPr>
        <p:spPr>
          <a:xfrm>
            <a:off x="4038600" y="2590800"/>
            <a:ext cx="685800" cy="228600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640664" y="914400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Expended </a:t>
            </a:r>
            <a:r>
              <a:rPr lang="en-US" sz="2000" b="1" dirty="0" err="1" smtClean="0"/>
              <a:t>fueld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Oscillator</a:t>
            </a:r>
            <a:endParaRPr lang="en-US" sz="1800" b="1" dirty="0"/>
          </a:p>
        </p:txBody>
      </p:sp>
      <p:grpSp>
        <p:nvGrpSpPr>
          <p:cNvPr id="2" name="Group 2"/>
          <p:cNvGrpSpPr/>
          <p:nvPr/>
        </p:nvGrpSpPr>
        <p:grpSpPr>
          <a:xfrm>
            <a:off x="1219200" y="2209800"/>
            <a:ext cx="2514600" cy="762000"/>
            <a:chOff x="2362200" y="5181600"/>
            <a:chExt cx="4572000" cy="1524000"/>
          </a:xfrm>
        </p:grpSpPr>
        <p:sp>
          <p:nvSpPr>
            <p:cNvPr id="5" name="Rectangle 4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3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6" name="Object 3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74" name="Equation" r:id="rId4" imgW="152280" imgH="126720" progId="Equation.3">
                      <p:embed/>
                    </p:oleObj>
                  </mc:Choice>
                  <mc:Fallback>
                    <p:oleObj name="Equation" r:id="rId4" imgW="152280" imgH="12672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4" name="Object 3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75" name="Equation" r:id="rId6" imgW="152280" imgH="126720" progId="Equation.3">
                      <p:embed/>
                    </p:oleObj>
                  </mc:Choice>
                  <mc:Fallback>
                    <p:oleObj name="Equation" r:id="rId6" imgW="152280" imgH="12672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2" name="Object 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76" name="Equation" r:id="rId7" imgW="152280" imgH="126720" progId="Equation.3">
                      <p:embed/>
                    </p:oleObj>
                  </mc:Choice>
                  <mc:Fallback>
                    <p:oleObj name="Equation" r:id="rId7" imgW="152280" imgH="12672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30" name="Object 2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77" name="Equation" r:id="rId8" imgW="152280" imgH="126720" progId="Equation.3">
                      <p:embed/>
                    </p:oleObj>
                  </mc:Choice>
                  <mc:Fallback>
                    <p:oleObj name="Equation" r:id="rId8" imgW="152280" imgH="12672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8" name="Object 2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78" name="Equation" r:id="rId9" imgW="152280" imgH="126720" progId="Equation.3">
                      <p:embed/>
                    </p:oleObj>
                  </mc:Choice>
                  <mc:Fallback>
                    <p:oleObj name="Equation" r:id="rId9" imgW="152280" imgH="12672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" name="Rectangle 16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0</a:t>
              </a:r>
              <a:endParaRPr lang="en-US" sz="1600" b="1" dirty="0"/>
            </a:p>
          </p:txBody>
        </p:sp>
      </p:grpSp>
      <p:grpSp>
        <p:nvGrpSpPr>
          <p:cNvPr id="16" name="Group 187"/>
          <p:cNvGrpSpPr/>
          <p:nvPr/>
        </p:nvGrpSpPr>
        <p:grpSpPr>
          <a:xfrm>
            <a:off x="990600" y="1447800"/>
            <a:ext cx="2514600" cy="762000"/>
            <a:chOff x="152400" y="609600"/>
            <a:chExt cx="4572000" cy="1524000"/>
          </a:xfrm>
        </p:grpSpPr>
        <p:grpSp>
          <p:nvGrpSpPr>
            <p:cNvPr id="18" name="Group 41"/>
            <p:cNvGrpSpPr/>
            <p:nvPr/>
          </p:nvGrpSpPr>
          <p:grpSpPr>
            <a:xfrm>
              <a:off x="152400" y="609600"/>
              <a:ext cx="4572000" cy="1524000"/>
              <a:chOff x="3048000" y="1600200"/>
              <a:chExt cx="4572000" cy="1524000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4572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5334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6096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6858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3810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048000" y="1600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3048000" y="2362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19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71" name="Object 7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79" name="Equation" r:id="rId10" imgW="152280" imgH="126720" progId="Equation.3">
                      <p:embed/>
                    </p:oleObj>
                  </mc:Choice>
                  <mc:Fallback>
                    <p:oleObj name="Equation" r:id="rId10" imgW="152280" imgH="12672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80" name="Equation" r:id="rId12" imgW="152280" imgH="126720" progId="Equation.3">
                      <p:embed/>
                    </p:oleObj>
                  </mc:Choice>
                  <mc:Fallback>
                    <p:oleObj name="Equation" r:id="rId12" imgW="152280" imgH="12672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7" name="Object 6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81" name="Equation" r:id="rId14" imgW="152280" imgH="126720" progId="Equation.3">
                      <p:embed/>
                    </p:oleObj>
                  </mc:Choice>
                  <mc:Fallback>
                    <p:oleObj name="Equation" r:id="rId14" imgW="152280" imgH="12672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5" name="Object 64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82" name="Equation" r:id="rId15" imgW="152280" imgH="126720" progId="Equation.3">
                      <p:embed/>
                    </p:oleObj>
                  </mc:Choice>
                  <mc:Fallback>
                    <p:oleObj name="Equation" r:id="rId15" imgW="152280" imgH="12672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3" name="Object 6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83" name="Equation" r:id="rId16" imgW="152280" imgH="126720" progId="Equation.3">
                      <p:embed/>
                    </p:oleObj>
                  </mc:Choice>
                  <mc:Fallback>
                    <p:oleObj name="Equation" r:id="rId16" imgW="152280" imgH="12672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61" name="Object 6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84" name="Equation" r:id="rId17" imgW="152280" imgH="126720" progId="Equation.3">
                      <p:embed/>
                    </p:oleObj>
                  </mc:Choice>
                  <mc:Fallback>
                    <p:oleObj name="Equation" r:id="rId17" imgW="152280" imgH="12672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81" name="Straight Arrow Connector 80"/>
          <p:cNvCxnSpPr/>
          <p:nvPr/>
        </p:nvCxnSpPr>
        <p:spPr>
          <a:xfrm>
            <a:off x="1600200" y="1981200"/>
            <a:ext cx="304800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68"/>
          <p:cNvGrpSpPr/>
          <p:nvPr/>
        </p:nvGrpSpPr>
        <p:grpSpPr>
          <a:xfrm>
            <a:off x="6172200" y="1295400"/>
            <a:ext cx="2514600" cy="762000"/>
            <a:chOff x="2362200" y="2362200"/>
            <a:chExt cx="4572000" cy="1524000"/>
          </a:xfrm>
        </p:grpSpPr>
        <p:grpSp>
          <p:nvGrpSpPr>
            <p:cNvPr id="26" name="Group 187"/>
            <p:cNvGrpSpPr/>
            <p:nvPr/>
          </p:nvGrpSpPr>
          <p:grpSpPr>
            <a:xfrm>
              <a:off x="2362200" y="2362200"/>
              <a:ext cx="4572000" cy="1524000"/>
              <a:chOff x="152400" y="609600"/>
              <a:chExt cx="4572000" cy="1524000"/>
            </a:xfrm>
          </p:grpSpPr>
          <p:grpSp>
            <p:nvGrpSpPr>
              <p:cNvPr id="231" name="Group 41"/>
              <p:cNvGrpSpPr/>
              <p:nvPr/>
            </p:nvGrpSpPr>
            <p:grpSpPr>
              <a:xfrm>
                <a:off x="152400" y="6096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106" name="Rectangle 105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grpSp>
            <p:nvGrpSpPr>
              <p:cNvPr id="232" name="Group 135"/>
              <p:cNvGrpSpPr/>
              <p:nvPr/>
            </p:nvGrpSpPr>
            <p:grpSpPr>
              <a:xfrm>
                <a:off x="762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4" name="Rectangle 10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105" name="Object 10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385" name="Equation" r:id="rId18" imgW="152280" imgH="126720" progId="Equation.3">
                        <p:embed/>
                      </p:oleObj>
                    </mc:Choice>
                    <mc:Fallback>
                      <p:oleObj name="Equation" r:id="rId18" imgW="152280" imgH="126720" progId="Equation.3">
                        <p:embed/>
                        <p:pic>
                          <p:nvPicPr>
                            <p:cNvPr id="0" name="Picture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33" name="Group 136"/>
              <p:cNvGrpSpPr/>
              <p:nvPr/>
            </p:nvGrpSpPr>
            <p:grpSpPr>
              <a:xfrm>
                <a:off x="1524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2" name="Rectangle 101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103" name="Object 102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386" name="Equation" r:id="rId19" imgW="152280" imgH="126720" progId="Equation.3">
                        <p:embed/>
                      </p:oleObj>
                    </mc:Choice>
                    <mc:Fallback>
                      <p:oleObj name="Equation" r:id="rId19" imgW="152280" imgH="126720" progId="Equation.3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34" name="Group 157"/>
              <p:cNvGrpSpPr/>
              <p:nvPr/>
            </p:nvGrpSpPr>
            <p:grpSpPr>
              <a:xfrm>
                <a:off x="2286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0" name="Rectangle 99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101" name="Object 100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387" name="Equation" r:id="rId20" imgW="152280" imgH="126720" progId="Equation.3">
                        <p:embed/>
                      </p:oleObj>
                    </mc:Choice>
                    <mc:Fallback>
                      <p:oleObj name="Equation" r:id="rId20" imgW="152280" imgH="126720" progId="Equation.3">
                        <p:embed/>
                        <p:pic>
                          <p:nvPicPr>
                            <p:cNvPr id="0" name="Picture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35" name="Group 160"/>
              <p:cNvGrpSpPr/>
              <p:nvPr/>
            </p:nvGrpSpPr>
            <p:grpSpPr>
              <a:xfrm>
                <a:off x="3048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98" name="Rectangle 97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99" name="Object 98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388" name="Equation" r:id="rId21" imgW="152280" imgH="126720" progId="Equation.3">
                        <p:embed/>
                      </p:oleObj>
                    </mc:Choice>
                    <mc:Fallback>
                      <p:oleObj name="Equation" r:id="rId21" imgW="152280" imgH="126720" progId="Equation.3">
                        <p:embed/>
                        <p:pic>
                          <p:nvPicPr>
                            <p:cNvPr id="0" name="Picture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7" name="Group 164"/>
              <p:cNvGrpSpPr/>
              <p:nvPr/>
            </p:nvGrpSpPr>
            <p:grpSpPr>
              <a:xfrm>
                <a:off x="3810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96" name="Rectangle 95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97" name="Object 96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389" name="Equation" r:id="rId22" imgW="152280" imgH="126720" progId="Equation.3">
                        <p:embed/>
                      </p:oleObj>
                    </mc:Choice>
                    <mc:Fallback>
                      <p:oleObj name="Equation" r:id="rId22" imgW="152280" imgH="126720" progId="Equation.3">
                        <p:embed/>
                        <p:pic>
                          <p:nvPicPr>
                            <p:cNvPr id="0" name="Picture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48" name="Group 168"/>
              <p:cNvGrpSpPr/>
              <p:nvPr/>
            </p:nvGrpSpPr>
            <p:grpSpPr>
              <a:xfrm>
                <a:off x="381000" y="1295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94" name="Rectangle 9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95" name="Object 9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390" name="Equation" r:id="rId23" imgW="152280" imgH="126720" progId="Equation.3">
                        <p:embed/>
                      </p:oleObj>
                    </mc:Choice>
                    <mc:Fallback>
                      <p:oleObj name="Equation" r:id="rId23" imgW="152280" imgH="126720" progId="Equation.3">
                        <p:embed/>
                        <p:pic>
                          <p:nvPicPr>
                            <p:cNvPr id="0" name="Picture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84" name="Rectangle 83"/>
            <p:cNvSpPr/>
            <p:nvPr/>
          </p:nvSpPr>
          <p:spPr>
            <a:xfrm>
              <a:off x="5410200" y="3124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72200" y="3124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124200" y="3124200"/>
              <a:ext cx="762000" cy="76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grpSp>
        <p:nvGrpSpPr>
          <p:cNvPr id="249" name="Group 112"/>
          <p:cNvGrpSpPr/>
          <p:nvPr/>
        </p:nvGrpSpPr>
        <p:grpSpPr>
          <a:xfrm>
            <a:off x="4953000" y="2209800"/>
            <a:ext cx="2514600" cy="762000"/>
            <a:chOff x="2362200" y="5181600"/>
            <a:chExt cx="4572000" cy="1524000"/>
          </a:xfrm>
        </p:grpSpPr>
        <p:sp>
          <p:nvSpPr>
            <p:cNvPr id="114" name="Rectangle 113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250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6" name="Object 13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1" name="Equation" r:id="rId24" imgW="152280" imgH="126720" progId="Equation.3">
                      <p:embed/>
                    </p:oleObj>
                  </mc:Choice>
                  <mc:Fallback>
                    <p:oleObj name="Equation" r:id="rId24" imgW="152280" imgH="126720" progId="Equation.3">
                      <p:embed/>
                      <p:pic>
                        <p:nvPicPr>
                          <p:cNvPr id="0" name="Picture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1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4" name="Object 13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2" name="Equation" r:id="rId25" imgW="152280" imgH="126720" progId="Equation.3">
                      <p:embed/>
                    </p:oleObj>
                  </mc:Choice>
                  <mc:Fallback>
                    <p:oleObj name="Equation" r:id="rId25" imgW="152280" imgH="126720" progId="Equation.3">
                      <p:embed/>
                      <p:pic>
                        <p:nvPicPr>
                          <p:cNvPr id="0" name="Picture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2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31" name="Rectangle 130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2" name="Object 13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3" name="Equation" r:id="rId26" imgW="152280" imgH="126720" progId="Equation.3">
                      <p:embed/>
                    </p:oleObj>
                  </mc:Choice>
                  <mc:Fallback>
                    <p:oleObj name="Equation" r:id="rId26" imgW="152280" imgH="126720" progId="Equation.3">
                      <p:embed/>
                      <p:pic>
                        <p:nvPicPr>
                          <p:cNvPr id="0" name="Picture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3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30" name="Object 12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4" name="Equation" r:id="rId27" imgW="152280" imgH="126720" progId="Equation.3">
                      <p:embed/>
                    </p:oleObj>
                  </mc:Choice>
                  <mc:Fallback>
                    <p:oleObj name="Equation" r:id="rId27" imgW="152280" imgH="126720" progId="Equation.3">
                      <p:embed/>
                      <p:pic>
                        <p:nvPicPr>
                          <p:cNvPr id="0" name="Picture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4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28" name="Object 12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5" name="Equation" r:id="rId28" imgW="152280" imgH="126720" progId="Equation.3">
                      <p:embed/>
                    </p:oleObj>
                  </mc:Choice>
                  <mc:Fallback>
                    <p:oleObj name="Equation" r:id="rId28" imgW="152280" imgH="126720" progId="Equation.3">
                      <p:embed/>
                      <p:pic>
                        <p:nvPicPr>
                          <p:cNvPr id="0" name="Picture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6" name="Rectangle 125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1</a:t>
              </a:r>
              <a:endParaRPr lang="en-US" sz="1600" b="1" dirty="0"/>
            </a:p>
          </p:txBody>
        </p:sp>
      </p:grpSp>
      <p:cxnSp>
        <p:nvCxnSpPr>
          <p:cNvPr id="137" name="Straight Arrow Connector 136"/>
          <p:cNvCxnSpPr/>
          <p:nvPr/>
        </p:nvCxnSpPr>
        <p:spPr>
          <a:xfrm flipV="1">
            <a:off x="6858000" y="2133600"/>
            <a:ext cx="304800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ight Arrow 139"/>
          <p:cNvSpPr/>
          <p:nvPr/>
        </p:nvSpPr>
        <p:spPr>
          <a:xfrm>
            <a:off x="4038600" y="2590800"/>
            <a:ext cx="685800" cy="228600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5" name="Group 140"/>
          <p:cNvGrpSpPr/>
          <p:nvPr/>
        </p:nvGrpSpPr>
        <p:grpSpPr>
          <a:xfrm>
            <a:off x="5029200" y="5181600"/>
            <a:ext cx="2514600" cy="762000"/>
            <a:chOff x="2362200" y="5181600"/>
            <a:chExt cx="4572000" cy="1524000"/>
          </a:xfrm>
        </p:grpSpPr>
        <p:sp>
          <p:nvSpPr>
            <p:cNvPr id="142" name="Rectangle 141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256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163" name="Rectangle 16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64" name="Object 16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6" name="Equation" r:id="rId29" imgW="152280" imgH="126720" progId="Equation.3">
                      <p:embed/>
                    </p:oleObj>
                  </mc:Choice>
                  <mc:Fallback>
                    <p:oleObj name="Equation" r:id="rId29" imgW="152280" imgH="126720" progId="Equation.3">
                      <p:embed/>
                      <p:pic>
                        <p:nvPicPr>
                          <p:cNvPr id="0" name="Picture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7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161" name="Rectangle 160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62" name="Object 16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7" name="Equation" r:id="rId30" imgW="152280" imgH="126720" progId="Equation.3">
                      <p:embed/>
                    </p:oleObj>
                  </mc:Choice>
                  <mc:Fallback>
                    <p:oleObj name="Equation" r:id="rId30" imgW="152280" imgH="126720" progId="Equation.3">
                      <p:embed/>
                      <p:pic>
                        <p:nvPicPr>
                          <p:cNvPr id="0" name="Picture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8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60" name="Object 15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8" name="Equation" r:id="rId31" imgW="152280" imgH="126720" progId="Equation.3">
                      <p:embed/>
                    </p:oleObj>
                  </mc:Choice>
                  <mc:Fallback>
                    <p:oleObj name="Equation" r:id="rId31" imgW="152280" imgH="126720" progId="Equation.3">
                      <p:embed/>
                      <p:pic>
                        <p:nvPicPr>
                          <p:cNvPr id="0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9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157" name="Rectangle 156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58" name="Object 15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399" name="Equation" r:id="rId32" imgW="152280" imgH="126720" progId="Equation.3">
                      <p:embed/>
                    </p:oleObj>
                  </mc:Choice>
                  <mc:Fallback>
                    <p:oleObj name="Equation" r:id="rId32" imgW="152280" imgH="126720" progId="Equation.3">
                      <p:embed/>
                      <p:pic>
                        <p:nvPicPr>
                          <p:cNvPr id="0" name="Picture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0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155" name="Rectangle 15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156" name="Object 15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0" name="Equation" r:id="rId33" imgW="152280" imgH="126720" progId="Equation.3">
                      <p:embed/>
                    </p:oleObj>
                  </mc:Choice>
                  <mc:Fallback>
                    <p:oleObj name="Equation" r:id="rId33" imgW="152280" imgH="126720" progId="Equation.3">
                      <p:embed/>
                      <p:pic>
                        <p:nvPicPr>
                          <p:cNvPr id="0" name="Picture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4" name="Rectangle 153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1</a:t>
              </a:r>
              <a:endParaRPr lang="en-US" sz="1600" b="1" dirty="0"/>
            </a:p>
          </p:txBody>
        </p:sp>
      </p:grpSp>
      <p:grpSp>
        <p:nvGrpSpPr>
          <p:cNvPr id="261" name="Group 187"/>
          <p:cNvGrpSpPr/>
          <p:nvPr/>
        </p:nvGrpSpPr>
        <p:grpSpPr>
          <a:xfrm>
            <a:off x="4953000" y="4419600"/>
            <a:ext cx="2514600" cy="762000"/>
            <a:chOff x="152400" y="609600"/>
            <a:chExt cx="4572000" cy="1524000"/>
          </a:xfrm>
          <a:solidFill>
            <a:schemeClr val="accent6">
              <a:lumMod val="75000"/>
            </a:schemeClr>
          </a:solidFill>
        </p:grpSpPr>
        <p:grpSp>
          <p:nvGrpSpPr>
            <p:cNvPr id="262" name="Group 41"/>
            <p:cNvGrpSpPr/>
            <p:nvPr/>
          </p:nvGrpSpPr>
          <p:grpSpPr>
            <a:xfrm>
              <a:off x="152400" y="609600"/>
              <a:ext cx="4572000" cy="1524000"/>
              <a:chOff x="3048000" y="1600200"/>
              <a:chExt cx="4572000" cy="1524000"/>
            </a:xfrm>
            <a:grpFill/>
          </p:grpSpPr>
          <p:sp>
            <p:nvSpPr>
              <p:cNvPr id="212" name="Rectangle 211"/>
              <p:cNvSpPr/>
              <p:nvPr/>
            </p:nvSpPr>
            <p:spPr>
              <a:xfrm>
                <a:off x="4572000" y="1600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5334000" y="1600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6096000" y="1600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6858000" y="1600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6" name="Rectangle 215"/>
              <p:cNvSpPr/>
              <p:nvPr/>
            </p:nvSpPr>
            <p:spPr>
              <a:xfrm>
                <a:off x="3810000" y="1600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3048000" y="1600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3048000" y="2362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263" name="Group 135"/>
            <p:cNvGrpSpPr/>
            <p:nvPr/>
          </p:nvGrpSpPr>
          <p:grpSpPr>
            <a:xfrm>
              <a:off x="762000" y="838200"/>
              <a:ext cx="304800" cy="228600"/>
              <a:chOff x="2895600" y="3200400"/>
              <a:chExt cx="304800" cy="228600"/>
            </a:xfrm>
            <a:grpFill/>
          </p:grpSpPr>
          <p:sp>
            <p:nvSpPr>
              <p:cNvPr id="210" name="Rectangle 20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11" name="Object 21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1" name="Equation" r:id="rId34" imgW="152280" imgH="126720" progId="Equation.3">
                      <p:embed/>
                    </p:oleObj>
                  </mc:Choice>
                  <mc:Fallback>
                    <p:oleObj name="Equation" r:id="rId34" imgW="152280" imgH="126720" progId="Equation.3">
                      <p:embed/>
                      <p:pic>
                        <p:nvPicPr>
                          <p:cNvPr id="0" name="Picture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4" name="Group 136"/>
            <p:cNvGrpSpPr/>
            <p:nvPr/>
          </p:nvGrpSpPr>
          <p:grpSpPr>
            <a:xfrm>
              <a:off x="1524000" y="838200"/>
              <a:ext cx="304800" cy="228600"/>
              <a:chOff x="2895600" y="3200400"/>
              <a:chExt cx="304800" cy="228600"/>
            </a:xfrm>
            <a:grpFill/>
          </p:grpSpPr>
          <p:sp>
            <p:nvSpPr>
              <p:cNvPr id="208" name="Rectangle 207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09" name="Object 208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2" name="Equation" r:id="rId35" imgW="152280" imgH="126720" progId="Equation.3">
                      <p:embed/>
                    </p:oleObj>
                  </mc:Choice>
                  <mc:Fallback>
                    <p:oleObj name="Equation" r:id="rId35" imgW="152280" imgH="126720" progId="Equation.3">
                      <p:embed/>
                      <p:pic>
                        <p:nvPicPr>
                          <p:cNvPr id="0" name="Picture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5" name="Group 157"/>
            <p:cNvGrpSpPr/>
            <p:nvPr/>
          </p:nvGrpSpPr>
          <p:grpSpPr>
            <a:xfrm>
              <a:off x="2286000" y="838200"/>
              <a:ext cx="304800" cy="228600"/>
              <a:chOff x="2895600" y="3200400"/>
              <a:chExt cx="304800" cy="228600"/>
            </a:xfrm>
            <a:grpFill/>
          </p:grpSpPr>
          <p:sp>
            <p:nvSpPr>
              <p:cNvPr id="206" name="Rectangle 205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07" name="Object 206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3" name="Equation" r:id="rId36" imgW="152280" imgH="126720" progId="Equation.3">
                      <p:embed/>
                    </p:oleObj>
                  </mc:Choice>
                  <mc:Fallback>
                    <p:oleObj name="Equation" r:id="rId36" imgW="152280" imgH="126720" progId="Equation.3">
                      <p:embed/>
                      <p:pic>
                        <p:nvPicPr>
                          <p:cNvPr id="0" name="Picture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" name="Group 160"/>
            <p:cNvGrpSpPr/>
            <p:nvPr/>
          </p:nvGrpSpPr>
          <p:grpSpPr>
            <a:xfrm>
              <a:off x="3048000" y="838200"/>
              <a:ext cx="304800" cy="228600"/>
              <a:chOff x="2895600" y="3200400"/>
              <a:chExt cx="304800" cy="228600"/>
            </a:xfrm>
            <a:grpFill/>
          </p:grpSpPr>
          <p:sp>
            <p:nvSpPr>
              <p:cNvPr id="204" name="Rectangle 203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05" name="Object 204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4" name="Equation" r:id="rId37" imgW="152280" imgH="126720" progId="Equation.3">
                      <p:embed/>
                    </p:oleObj>
                  </mc:Choice>
                  <mc:Fallback>
                    <p:oleObj name="Equation" r:id="rId37" imgW="152280" imgH="126720" progId="Equation.3">
                      <p:embed/>
                      <p:pic>
                        <p:nvPicPr>
                          <p:cNvPr id="0" name="Picture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7" name="Group 164"/>
            <p:cNvGrpSpPr/>
            <p:nvPr/>
          </p:nvGrpSpPr>
          <p:grpSpPr>
            <a:xfrm>
              <a:off x="3810000" y="838200"/>
              <a:ext cx="304800" cy="228600"/>
              <a:chOff x="2895600" y="3200400"/>
              <a:chExt cx="304800" cy="228600"/>
            </a:xfrm>
            <a:grpFill/>
          </p:grpSpPr>
          <p:sp>
            <p:nvSpPr>
              <p:cNvPr id="202" name="Rectangle 201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03" name="Object 202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5" name="Equation" r:id="rId38" imgW="152280" imgH="126720" progId="Equation.3">
                      <p:embed/>
                    </p:oleObj>
                  </mc:Choice>
                  <mc:Fallback>
                    <p:oleObj name="Equation" r:id="rId38" imgW="152280" imgH="126720" progId="Equation.3">
                      <p:embed/>
                      <p:pic>
                        <p:nvPicPr>
                          <p:cNvPr id="0" name="Picture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8" name="Group 168"/>
            <p:cNvGrpSpPr/>
            <p:nvPr/>
          </p:nvGrpSpPr>
          <p:grpSpPr>
            <a:xfrm>
              <a:off x="381000" y="1295400"/>
              <a:ext cx="304800" cy="228600"/>
              <a:chOff x="2895600" y="3200400"/>
              <a:chExt cx="304800" cy="228600"/>
            </a:xfrm>
            <a:grpFill/>
          </p:grpSpPr>
          <p:sp>
            <p:nvSpPr>
              <p:cNvPr id="200" name="Rectangle 199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01" name="Object 200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6" name="Equation" r:id="rId39" imgW="152280" imgH="126720" progId="Equation.3">
                      <p:embed/>
                    </p:oleObj>
                  </mc:Choice>
                  <mc:Fallback>
                    <p:oleObj name="Equation" r:id="rId39" imgW="152280" imgH="126720" progId="Equation.3">
                      <p:embed/>
                      <p:pic>
                        <p:nvPicPr>
                          <p:cNvPr id="0" name="Picture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219" name="Straight Arrow Connector 218"/>
          <p:cNvCxnSpPr/>
          <p:nvPr/>
        </p:nvCxnSpPr>
        <p:spPr>
          <a:xfrm>
            <a:off x="5715000" y="4953000"/>
            <a:ext cx="304800" cy="1524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ight Arrow 219"/>
          <p:cNvSpPr/>
          <p:nvPr/>
        </p:nvSpPr>
        <p:spPr>
          <a:xfrm flipH="1">
            <a:off x="4038600" y="4953000"/>
            <a:ext cx="685800" cy="228600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Down Arrow 221"/>
          <p:cNvSpPr/>
          <p:nvPr/>
        </p:nvSpPr>
        <p:spPr>
          <a:xfrm>
            <a:off x="6096000" y="3200400"/>
            <a:ext cx="228600" cy="685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9" name="Group 222"/>
          <p:cNvGrpSpPr/>
          <p:nvPr/>
        </p:nvGrpSpPr>
        <p:grpSpPr>
          <a:xfrm>
            <a:off x="609600" y="5181600"/>
            <a:ext cx="2514600" cy="762000"/>
            <a:chOff x="2362200" y="5181600"/>
            <a:chExt cx="4572000" cy="1524000"/>
          </a:xfrm>
        </p:grpSpPr>
        <p:sp>
          <p:nvSpPr>
            <p:cNvPr id="224" name="Rectangle 223"/>
            <p:cNvSpPr/>
            <p:nvPr/>
          </p:nvSpPr>
          <p:spPr>
            <a:xfrm>
              <a:off x="3886200" y="5181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4648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5410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886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617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3124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2362200" y="5943600"/>
              <a:ext cx="762000" cy="762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270" name="Group 171"/>
            <p:cNvGrpSpPr/>
            <p:nvPr/>
          </p:nvGrpSpPr>
          <p:grpSpPr>
            <a:xfrm>
              <a:off x="2971800" y="6248400"/>
              <a:ext cx="304800" cy="228600"/>
              <a:chOff x="2895600" y="3200400"/>
              <a:chExt cx="304800" cy="228600"/>
            </a:xfrm>
          </p:grpSpPr>
          <p:sp>
            <p:nvSpPr>
              <p:cNvPr id="245" name="Rectangle 244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46" name="Object 245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7" name="Equation" r:id="rId40" imgW="152280" imgH="126720" progId="Equation.3">
                      <p:embed/>
                    </p:oleObj>
                  </mc:Choice>
                  <mc:Fallback>
                    <p:oleObj name="Equation" r:id="rId40" imgW="152280" imgH="126720" progId="Equation.3">
                      <p:embed/>
                      <p:pic>
                        <p:nvPicPr>
                          <p:cNvPr id="0" name="Picture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1" name="Group 174"/>
            <p:cNvGrpSpPr/>
            <p:nvPr/>
          </p:nvGrpSpPr>
          <p:grpSpPr>
            <a:xfrm>
              <a:off x="3733800" y="6248400"/>
              <a:ext cx="304800" cy="228600"/>
              <a:chOff x="2895600" y="3200400"/>
              <a:chExt cx="304800" cy="228600"/>
            </a:xfrm>
          </p:grpSpPr>
          <p:sp>
            <p:nvSpPr>
              <p:cNvPr id="243" name="Rectangle 242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44" name="Object 243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8" name="Equation" r:id="rId41" imgW="152280" imgH="126720" progId="Equation.3">
                      <p:embed/>
                    </p:oleObj>
                  </mc:Choice>
                  <mc:Fallback>
                    <p:oleObj name="Equation" r:id="rId41" imgW="152280" imgH="126720" progId="Equation.3">
                      <p:embed/>
                      <p:pic>
                        <p:nvPicPr>
                          <p:cNvPr id="0" name="Picture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2" name="Group 177"/>
            <p:cNvGrpSpPr/>
            <p:nvPr/>
          </p:nvGrpSpPr>
          <p:grpSpPr>
            <a:xfrm>
              <a:off x="4495800" y="6248400"/>
              <a:ext cx="304800" cy="228600"/>
              <a:chOff x="2895600" y="3200400"/>
              <a:chExt cx="304800" cy="228600"/>
            </a:xfrm>
          </p:grpSpPr>
          <p:sp>
            <p:nvSpPr>
              <p:cNvPr id="241" name="Rectangle 240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42" name="Object 241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09" name="Equation" r:id="rId42" imgW="152280" imgH="126720" progId="Equation.3">
                      <p:embed/>
                    </p:oleObj>
                  </mc:Choice>
                  <mc:Fallback>
                    <p:oleObj name="Equation" r:id="rId42" imgW="152280" imgH="126720" progId="Equation.3">
                      <p:embed/>
                      <p:pic>
                        <p:nvPicPr>
                          <p:cNvPr id="0" name="Picture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3" name="Group 180"/>
            <p:cNvGrpSpPr/>
            <p:nvPr/>
          </p:nvGrpSpPr>
          <p:grpSpPr>
            <a:xfrm>
              <a:off x="5257800" y="6248400"/>
              <a:ext cx="304800" cy="228600"/>
              <a:chOff x="2895600" y="3200400"/>
              <a:chExt cx="304800" cy="228600"/>
            </a:xfrm>
          </p:grpSpPr>
          <p:sp>
            <p:nvSpPr>
              <p:cNvPr id="239" name="Rectangle 238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40" name="Object 239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10" name="Equation" r:id="rId43" imgW="152280" imgH="126720" progId="Equation.3">
                      <p:embed/>
                    </p:oleObj>
                  </mc:Choice>
                  <mc:Fallback>
                    <p:oleObj name="Equation" r:id="rId43" imgW="152280" imgH="126720" progId="Equation.3">
                      <p:embed/>
                      <p:pic>
                        <p:nvPicPr>
                          <p:cNvPr id="0" name="Picture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4" name="Group 183"/>
            <p:cNvGrpSpPr/>
            <p:nvPr/>
          </p:nvGrpSpPr>
          <p:grpSpPr>
            <a:xfrm>
              <a:off x="6019800" y="6248400"/>
              <a:ext cx="304800" cy="228600"/>
              <a:chOff x="2895600" y="3200400"/>
              <a:chExt cx="304800" cy="228600"/>
            </a:xfrm>
          </p:grpSpPr>
          <p:sp>
            <p:nvSpPr>
              <p:cNvPr id="237" name="Rectangle 236"/>
              <p:cNvSpPr/>
              <p:nvPr/>
            </p:nvSpPr>
            <p:spPr>
              <a:xfrm>
                <a:off x="2895600" y="3200400"/>
                <a:ext cx="304800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  <p:graphicFrame>
            <p:nvGraphicFramePr>
              <p:cNvPr id="238" name="Object 237"/>
              <p:cNvGraphicFramePr>
                <a:graphicFrameLocks noChangeAspect="1"/>
              </p:cNvGraphicFramePr>
              <p:nvPr/>
            </p:nvGraphicFramePr>
            <p:xfrm>
              <a:off x="2895600" y="3200400"/>
              <a:ext cx="3048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411" name="Equation" r:id="rId44" imgW="152280" imgH="126720" progId="Equation.3">
                      <p:embed/>
                    </p:oleObj>
                  </mc:Choice>
                  <mc:Fallback>
                    <p:oleObj name="Equation" r:id="rId44" imgW="152280" imgH="126720" progId="Equation.3">
                      <p:embed/>
                      <p:pic>
                        <p:nvPicPr>
                          <p:cNvPr id="0" name="Picture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3200400"/>
                            <a:ext cx="304800" cy="228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6" name="Rectangle 235"/>
            <p:cNvSpPr/>
            <p:nvPr/>
          </p:nvSpPr>
          <p:spPr>
            <a:xfrm>
              <a:off x="4648200" y="5181600"/>
              <a:ext cx="762000" cy="762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smtClean="0"/>
                <a:t>0</a:t>
              </a:r>
              <a:endParaRPr lang="en-US" sz="1600" b="1" dirty="0"/>
            </a:p>
          </p:txBody>
        </p:sp>
      </p:grpSp>
      <p:grpSp>
        <p:nvGrpSpPr>
          <p:cNvPr id="275" name="Group 68"/>
          <p:cNvGrpSpPr/>
          <p:nvPr/>
        </p:nvGrpSpPr>
        <p:grpSpPr>
          <a:xfrm>
            <a:off x="914400" y="4191000"/>
            <a:ext cx="2514600" cy="762000"/>
            <a:chOff x="2362200" y="2362200"/>
            <a:chExt cx="4572000" cy="1524000"/>
          </a:xfrm>
          <a:solidFill>
            <a:schemeClr val="accent6">
              <a:lumMod val="75000"/>
            </a:schemeClr>
          </a:solidFill>
        </p:grpSpPr>
        <p:grpSp>
          <p:nvGrpSpPr>
            <p:cNvPr id="276" name="Group 187"/>
            <p:cNvGrpSpPr/>
            <p:nvPr/>
          </p:nvGrpSpPr>
          <p:grpSpPr>
            <a:xfrm>
              <a:off x="2362200" y="2362200"/>
              <a:ext cx="4572000" cy="1524000"/>
              <a:chOff x="152400" y="609600"/>
              <a:chExt cx="4572000" cy="1524000"/>
            </a:xfrm>
            <a:grpFill/>
          </p:grpSpPr>
          <p:grpSp>
            <p:nvGrpSpPr>
              <p:cNvPr id="277" name="Group 41"/>
              <p:cNvGrpSpPr/>
              <p:nvPr/>
            </p:nvGrpSpPr>
            <p:grpSpPr>
              <a:xfrm>
                <a:off x="152400" y="609600"/>
                <a:ext cx="4572000" cy="1524000"/>
                <a:chOff x="3048000" y="1600200"/>
                <a:chExt cx="4572000" cy="1524000"/>
              </a:xfrm>
              <a:grpFill/>
            </p:grpSpPr>
            <p:sp>
              <p:nvSpPr>
                <p:cNvPr id="302" name="Rectangle 301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03" name="Rectangle 302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04" name="Rectangle 303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05" name="Rectangle 304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06" name="Rectangle 305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07" name="Rectangle 306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308" name="Rectangle 307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  <p:grpSp>
            <p:nvGrpSpPr>
              <p:cNvPr id="278" name="Group 135"/>
              <p:cNvGrpSpPr/>
              <p:nvPr/>
            </p:nvGrpSpPr>
            <p:grpSpPr>
              <a:xfrm>
                <a:off x="762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300" name="Rectangle 299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301" name="Object 300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412" name="Equation" r:id="rId45" imgW="152280" imgH="126720" progId="Equation.3">
                        <p:embed/>
                      </p:oleObj>
                    </mc:Choice>
                    <mc:Fallback>
                      <p:oleObj name="Equation" r:id="rId45" imgW="152280" imgH="126720" progId="Equation.3">
                        <p:embed/>
                        <p:pic>
                          <p:nvPicPr>
                            <p:cNvPr id="0" name="Picture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9" name="Group 136"/>
              <p:cNvGrpSpPr/>
              <p:nvPr/>
            </p:nvGrpSpPr>
            <p:grpSpPr>
              <a:xfrm>
                <a:off x="1524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298" name="Rectangle 297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299" name="Object 298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413" name="Equation" r:id="rId46" imgW="152280" imgH="126720" progId="Equation.3">
                        <p:embed/>
                      </p:oleObj>
                    </mc:Choice>
                    <mc:Fallback>
                      <p:oleObj name="Equation" r:id="rId46" imgW="152280" imgH="126720" progId="Equation.3">
                        <p:embed/>
                        <p:pic>
                          <p:nvPicPr>
                            <p:cNvPr id="0" name="Picture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83" name="Group 157"/>
              <p:cNvGrpSpPr/>
              <p:nvPr/>
            </p:nvGrpSpPr>
            <p:grpSpPr>
              <a:xfrm>
                <a:off x="2286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296" name="Rectangle 295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297" name="Object 296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414" name="Equation" r:id="rId47" imgW="152280" imgH="126720" progId="Equation.3">
                        <p:embed/>
                      </p:oleObj>
                    </mc:Choice>
                    <mc:Fallback>
                      <p:oleObj name="Equation" r:id="rId47" imgW="152280" imgH="126720" progId="Equation.3">
                        <p:embed/>
                        <p:pic>
                          <p:nvPicPr>
                            <p:cNvPr id="0" name="Picture 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84" name="Group 160"/>
              <p:cNvGrpSpPr/>
              <p:nvPr/>
            </p:nvGrpSpPr>
            <p:grpSpPr>
              <a:xfrm>
                <a:off x="3048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294" name="Rectangle 29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295" name="Object 29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415" name="Equation" r:id="rId48" imgW="152280" imgH="126720" progId="Equation.3">
                        <p:embed/>
                      </p:oleObj>
                    </mc:Choice>
                    <mc:Fallback>
                      <p:oleObj name="Equation" r:id="rId48" imgW="152280" imgH="126720" progId="Equation.3">
                        <p:embed/>
                        <p:pic>
                          <p:nvPicPr>
                            <p:cNvPr id="0" name="Picture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85" name="Group 164"/>
              <p:cNvGrpSpPr/>
              <p:nvPr/>
            </p:nvGrpSpPr>
            <p:grpSpPr>
              <a:xfrm>
                <a:off x="3810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292" name="Rectangle 291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293" name="Object 292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416" name="Equation" r:id="rId49" imgW="152280" imgH="126720" progId="Equation.3">
                        <p:embed/>
                      </p:oleObj>
                    </mc:Choice>
                    <mc:Fallback>
                      <p:oleObj name="Equation" r:id="rId49" imgW="152280" imgH="126720" progId="Equation.3">
                        <p:embed/>
                        <p:pic>
                          <p:nvPicPr>
                            <p:cNvPr id="0" name="Picture 4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86" name="Group 168"/>
              <p:cNvGrpSpPr/>
              <p:nvPr/>
            </p:nvGrpSpPr>
            <p:grpSpPr>
              <a:xfrm>
                <a:off x="381000" y="12954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290" name="Rectangle 289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/>
                </a:p>
              </p:txBody>
            </p:sp>
            <p:graphicFrame>
              <p:nvGraphicFramePr>
                <p:cNvPr id="291" name="Object 290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8417" name="Equation" r:id="rId50" imgW="152280" imgH="126720" progId="Equation.3">
                        <p:embed/>
                      </p:oleObj>
                    </mc:Choice>
                    <mc:Fallback>
                      <p:oleObj name="Equation" r:id="rId50" imgW="152280" imgH="126720" progId="Equation.3">
                        <p:embed/>
                        <p:pic>
                          <p:nvPicPr>
                            <p:cNvPr id="0" name="Picture 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80" name="Rectangle 279"/>
            <p:cNvSpPr/>
            <p:nvPr/>
          </p:nvSpPr>
          <p:spPr>
            <a:xfrm>
              <a:off x="5410200" y="3124200"/>
              <a:ext cx="762000" cy="76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172200" y="3124200"/>
              <a:ext cx="762000" cy="76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3124200" y="3124200"/>
              <a:ext cx="762000" cy="762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cxnSp>
        <p:nvCxnSpPr>
          <p:cNvPr id="309" name="Straight Arrow Connector 308"/>
          <p:cNvCxnSpPr/>
          <p:nvPr/>
        </p:nvCxnSpPr>
        <p:spPr>
          <a:xfrm flipV="1">
            <a:off x="1981200" y="4800600"/>
            <a:ext cx="381000" cy="228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Down Arrow 309"/>
          <p:cNvSpPr/>
          <p:nvPr/>
        </p:nvSpPr>
        <p:spPr>
          <a:xfrm flipV="1">
            <a:off x="2209800" y="3276600"/>
            <a:ext cx="228600" cy="685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Box 222"/>
          <p:cNvSpPr txBox="1"/>
          <p:nvPr/>
        </p:nvSpPr>
        <p:spPr>
          <a:xfrm>
            <a:off x="5640664" y="914400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Expended </a:t>
            </a:r>
            <a:r>
              <a:rPr lang="en-US" sz="2000" b="1" dirty="0" err="1" smtClean="0"/>
              <a:t>fueld</a:t>
            </a:r>
            <a:endParaRPr lang="en-US" sz="2000" b="1" dirty="0"/>
          </a:p>
        </p:txBody>
      </p:sp>
      <p:sp>
        <p:nvSpPr>
          <p:cNvPr id="287" name="TextBox 286"/>
          <p:cNvSpPr txBox="1"/>
          <p:nvPr/>
        </p:nvSpPr>
        <p:spPr>
          <a:xfrm>
            <a:off x="362820" y="3790890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Expended </a:t>
            </a:r>
            <a:r>
              <a:rPr lang="en-US" sz="2000" b="1" dirty="0" err="1" smtClean="0"/>
              <a:t>fueld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Graph Walking</a:t>
            </a:r>
            <a:endParaRPr lang="en-US" sz="1800" b="1" dirty="0"/>
          </a:p>
        </p:txBody>
      </p:sp>
      <p:grpSp>
        <p:nvGrpSpPr>
          <p:cNvPr id="224" name="Group 223"/>
          <p:cNvGrpSpPr/>
          <p:nvPr/>
        </p:nvGrpSpPr>
        <p:grpSpPr>
          <a:xfrm>
            <a:off x="4191000" y="1295400"/>
            <a:ext cx="4800600" cy="2895600"/>
            <a:chOff x="609600" y="1295400"/>
            <a:chExt cx="8077200" cy="4648200"/>
          </a:xfrm>
        </p:grpSpPr>
        <p:grpSp>
          <p:nvGrpSpPr>
            <p:cNvPr id="3" name="Group 2"/>
            <p:cNvGrpSpPr/>
            <p:nvPr/>
          </p:nvGrpSpPr>
          <p:grpSpPr>
            <a:xfrm>
              <a:off x="1219200" y="2209800"/>
              <a:ext cx="2514600" cy="762000"/>
              <a:chOff x="2362200" y="5181600"/>
              <a:chExt cx="4572000" cy="15240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886200" y="5181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4648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410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886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17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124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36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2" name="Group 171"/>
              <p:cNvGrpSpPr/>
              <p:nvPr/>
            </p:nvGrpSpPr>
            <p:grpSpPr>
              <a:xfrm>
                <a:off x="2971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27" name="Object 26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26" name="Equation" r:id="rId4" imgW="152280" imgH="126720" progId="Equation.3">
                        <p:embed/>
                      </p:oleObj>
                    </mc:Choice>
                    <mc:Fallback>
                      <p:oleObj name="Equation" r:id="rId4" imgW="152280" imgH="126720" progId="Equation.3">
                        <p:embed/>
                        <p:pic>
                          <p:nvPicPr>
                            <p:cNvPr id="0" name="Picture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3" name="Group 174"/>
              <p:cNvGrpSpPr/>
              <p:nvPr/>
            </p:nvGrpSpPr>
            <p:grpSpPr>
              <a:xfrm>
                <a:off x="3733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25" name="Object 2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27" name="Equation" r:id="rId6" imgW="152280" imgH="126720" progId="Equation.3">
                        <p:embed/>
                      </p:oleObj>
                    </mc:Choice>
                    <mc:Fallback>
                      <p:oleObj name="Equation" r:id="rId6" imgW="152280" imgH="126720" progId="Equation.3">
                        <p:embed/>
                        <p:pic>
                          <p:nvPicPr>
                            <p:cNvPr id="0" name="Picture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" name="Group 177"/>
              <p:cNvGrpSpPr/>
              <p:nvPr/>
            </p:nvGrpSpPr>
            <p:grpSpPr>
              <a:xfrm>
                <a:off x="4495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22" name="Rectangle 21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23" name="Object 22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28" name="Equation" r:id="rId7" imgW="152280" imgH="126720" progId="Equation.3">
                        <p:embed/>
                      </p:oleObj>
                    </mc:Choice>
                    <mc:Fallback>
                      <p:oleObj name="Equation" r:id="rId7" imgW="152280" imgH="126720" progId="Equation.3">
                        <p:embed/>
                        <p:pic>
                          <p:nvPicPr>
                            <p:cNvPr id="0" name="Picture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5" name="Group 180"/>
              <p:cNvGrpSpPr/>
              <p:nvPr/>
            </p:nvGrpSpPr>
            <p:grpSpPr>
              <a:xfrm>
                <a:off x="5257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20" name="Rectangle 19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21" name="Object 20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29" name="Equation" r:id="rId8" imgW="152280" imgH="126720" progId="Equation.3">
                        <p:embed/>
                      </p:oleObj>
                    </mc:Choice>
                    <mc:Fallback>
                      <p:oleObj name="Equation" r:id="rId8" imgW="152280" imgH="126720" progId="Equation.3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6" name="Group 183"/>
              <p:cNvGrpSpPr/>
              <p:nvPr/>
            </p:nvGrpSpPr>
            <p:grpSpPr>
              <a:xfrm>
                <a:off x="6019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9" name="Object 18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0" name="Equation" r:id="rId9" imgW="152280" imgH="126720" progId="Equation.3">
                        <p:embed/>
                      </p:oleObj>
                    </mc:Choice>
                    <mc:Fallback>
                      <p:oleObj name="Equation" r:id="rId9" imgW="152280" imgH="126720" progId="Equation.3">
                        <p:embed/>
                        <p:pic>
                          <p:nvPicPr>
                            <p:cNvPr id="0" name="Picture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7" name="Rectangle 16"/>
              <p:cNvSpPr/>
              <p:nvPr/>
            </p:nvSpPr>
            <p:spPr>
              <a:xfrm>
                <a:off x="4648200" y="51816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0</a:t>
                </a:r>
                <a:endParaRPr lang="en-US" sz="1050" b="1" dirty="0"/>
              </a:p>
            </p:txBody>
          </p:sp>
        </p:grpSp>
        <p:grpSp>
          <p:nvGrpSpPr>
            <p:cNvPr id="28" name="Group 187"/>
            <p:cNvGrpSpPr/>
            <p:nvPr/>
          </p:nvGrpSpPr>
          <p:grpSpPr>
            <a:xfrm>
              <a:off x="990600" y="1447800"/>
              <a:ext cx="2514600" cy="762000"/>
              <a:chOff x="152400" y="609600"/>
              <a:chExt cx="4572000" cy="1524000"/>
            </a:xfrm>
          </p:grpSpPr>
          <p:grpSp>
            <p:nvGrpSpPr>
              <p:cNvPr id="29" name="Group 41"/>
              <p:cNvGrpSpPr/>
              <p:nvPr/>
            </p:nvGrpSpPr>
            <p:grpSpPr>
              <a:xfrm>
                <a:off x="152400" y="609600"/>
                <a:ext cx="4572000" cy="1524000"/>
                <a:chOff x="3048000" y="1600200"/>
                <a:chExt cx="4572000" cy="1524000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30" name="Group 135"/>
              <p:cNvGrpSpPr/>
              <p:nvPr/>
            </p:nvGrpSpPr>
            <p:grpSpPr>
              <a:xfrm>
                <a:off x="762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47" name="Object 46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1" name="Equation" r:id="rId10" imgW="152280" imgH="126720" progId="Equation.3">
                        <p:embed/>
                      </p:oleObj>
                    </mc:Choice>
                    <mc:Fallback>
                      <p:oleObj name="Equation" r:id="rId10" imgW="152280" imgH="126720" progId="Equation.3">
                        <p:embed/>
                        <p:pic>
                          <p:nvPicPr>
                            <p:cNvPr id="0" name="Picture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1" name="Group 136"/>
              <p:cNvGrpSpPr/>
              <p:nvPr/>
            </p:nvGrpSpPr>
            <p:grpSpPr>
              <a:xfrm>
                <a:off x="1524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44" name="Rectangle 43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45" name="Object 44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2" name="Equation" r:id="rId12" imgW="152280" imgH="126720" progId="Equation.3">
                        <p:embed/>
                      </p:oleObj>
                    </mc:Choice>
                    <mc:Fallback>
                      <p:oleObj name="Equation" r:id="rId12" imgW="152280" imgH="126720" progId="Equation.3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2" name="Group 157"/>
              <p:cNvGrpSpPr/>
              <p:nvPr/>
            </p:nvGrpSpPr>
            <p:grpSpPr>
              <a:xfrm>
                <a:off x="2286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42" name="Rectangle 41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43" name="Object 42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3" name="Equation" r:id="rId14" imgW="152280" imgH="126720" progId="Equation.3">
                        <p:embed/>
                      </p:oleObj>
                    </mc:Choice>
                    <mc:Fallback>
                      <p:oleObj name="Equation" r:id="rId14" imgW="152280" imgH="126720" progId="Equation.3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3" name="Group 160"/>
              <p:cNvGrpSpPr/>
              <p:nvPr/>
            </p:nvGrpSpPr>
            <p:grpSpPr>
              <a:xfrm>
                <a:off x="3048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41" name="Object 40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4" name="Equation" r:id="rId15" imgW="152280" imgH="126720" progId="Equation.3">
                        <p:embed/>
                      </p:oleObj>
                    </mc:Choice>
                    <mc:Fallback>
                      <p:oleObj name="Equation" r:id="rId15" imgW="152280" imgH="126720" progId="Equation.3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4" name="Group 164"/>
              <p:cNvGrpSpPr/>
              <p:nvPr/>
            </p:nvGrpSpPr>
            <p:grpSpPr>
              <a:xfrm>
                <a:off x="3810000" y="838200"/>
                <a:ext cx="304800" cy="228600"/>
                <a:chOff x="2895600" y="3200400"/>
                <a:chExt cx="304800" cy="2286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39" name="Object 38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5" name="Equation" r:id="rId16" imgW="152280" imgH="126720" progId="Equation.3">
                        <p:embed/>
                      </p:oleObj>
                    </mc:Choice>
                    <mc:Fallback>
                      <p:oleObj name="Equation" r:id="rId16" imgW="152280" imgH="126720" progId="Equation.3">
                        <p:embed/>
                        <p:pic>
                          <p:nvPicPr>
                            <p:cNvPr id="0" name="Picture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5" name="Group 168"/>
              <p:cNvGrpSpPr/>
              <p:nvPr/>
            </p:nvGrpSpPr>
            <p:grpSpPr>
              <a:xfrm>
                <a:off x="381000" y="1295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36" name="Rectangle 35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37" name="Object 36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36" name="Equation" r:id="rId17" imgW="152280" imgH="126720" progId="Equation.3">
                        <p:embed/>
                      </p:oleObj>
                    </mc:Choice>
                    <mc:Fallback>
                      <p:oleObj name="Equation" r:id="rId17" imgW="152280" imgH="126720" progId="Equation.3">
                        <p:embed/>
                        <p:pic>
                          <p:nvPicPr>
                            <p:cNvPr id="0" name="Picture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cxnSp>
          <p:nvCxnSpPr>
            <p:cNvPr id="55" name="Straight Arrow Connector 54"/>
            <p:cNvCxnSpPr/>
            <p:nvPr/>
          </p:nvCxnSpPr>
          <p:spPr>
            <a:xfrm>
              <a:off x="1600200" y="1981200"/>
              <a:ext cx="304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68"/>
            <p:cNvGrpSpPr/>
            <p:nvPr/>
          </p:nvGrpSpPr>
          <p:grpSpPr>
            <a:xfrm>
              <a:off x="6172200" y="1295400"/>
              <a:ext cx="2514600" cy="762000"/>
              <a:chOff x="2362200" y="2362200"/>
              <a:chExt cx="4572000" cy="1524000"/>
            </a:xfrm>
          </p:grpSpPr>
          <p:grpSp>
            <p:nvGrpSpPr>
              <p:cNvPr id="57" name="Group 187"/>
              <p:cNvGrpSpPr/>
              <p:nvPr/>
            </p:nvGrpSpPr>
            <p:grpSpPr>
              <a:xfrm>
                <a:off x="2362200" y="2362200"/>
                <a:ext cx="4572000" cy="1524000"/>
                <a:chOff x="152400" y="609600"/>
                <a:chExt cx="4572000" cy="1524000"/>
              </a:xfrm>
            </p:grpSpPr>
            <p:grpSp>
              <p:nvGrpSpPr>
                <p:cNvPr id="61" name="Group 41"/>
                <p:cNvGrpSpPr/>
                <p:nvPr/>
              </p:nvGrpSpPr>
              <p:grpSpPr>
                <a:xfrm>
                  <a:off x="152400" y="609600"/>
                  <a:ext cx="4572000" cy="1524000"/>
                  <a:chOff x="3048000" y="1600200"/>
                  <a:chExt cx="4572000" cy="1524000"/>
                </a:xfrm>
              </p:grpSpPr>
              <p:sp>
                <p:nvSpPr>
                  <p:cNvPr id="80" name="Rectangle 79"/>
                  <p:cNvSpPr/>
                  <p:nvPr/>
                </p:nvSpPr>
                <p:spPr>
                  <a:xfrm>
                    <a:off x="4572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81" name="Rectangle 80"/>
                  <p:cNvSpPr/>
                  <p:nvPr/>
                </p:nvSpPr>
                <p:spPr>
                  <a:xfrm>
                    <a:off x="5334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82" name="Rectangle 81"/>
                  <p:cNvSpPr/>
                  <p:nvPr/>
                </p:nvSpPr>
                <p:spPr>
                  <a:xfrm>
                    <a:off x="6096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685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3810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85" name="Rectangle 84"/>
                  <p:cNvSpPr/>
                  <p:nvPr/>
                </p:nvSpPr>
                <p:spPr>
                  <a:xfrm>
                    <a:off x="3048000" y="1600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86" name="Rectangle 85"/>
                  <p:cNvSpPr/>
                  <p:nvPr/>
                </p:nvSpPr>
                <p:spPr>
                  <a:xfrm>
                    <a:off x="3048000" y="2362200"/>
                    <a:ext cx="762000" cy="76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  <p:grpSp>
              <p:nvGrpSpPr>
                <p:cNvPr id="62" name="Group 135"/>
                <p:cNvGrpSpPr/>
                <p:nvPr/>
              </p:nvGrpSpPr>
              <p:grpSpPr>
                <a:xfrm>
                  <a:off x="762000" y="838200"/>
                  <a:ext cx="304800" cy="228600"/>
                  <a:chOff x="2895600" y="3200400"/>
                  <a:chExt cx="304800" cy="228600"/>
                </a:xfrm>
              </p:grpSpPr>
              <p:sp>
                <p:nvSpPr>
                  <p:cNvPr id="78" name="Rectangle 77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79" name="Object 78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37" name="Equation" r:id="rId18" imgW="152280" imgH="126720" progId="Equation.3">
                          <p:embed/>
                        </p:oleObj>
                      </mc:Choice>
                      <mc:Fallback>
                        <p:oleObj name="Equation" r:id="rId18" imgW="152280" imgH="126720" progId="Equation.3">
                          <p:embed/>
                          <p:pic>
                            <p:nvPicPr>
                              <p:cNvPr id="0" name="Picture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63" name="Group 136"/>
                <p:cNvGrpSpPr/>
                <p:nvPr/>
              </p:nvGrpSpPr>
              <p:grpSpPr>
                <a:xfrm>
                  <a:off x="1524000" y="838200"/>
                  <a:ext cx="304800" cy="228600"/>
                  <a:chOff x="2895600" y="3200400"/>
                  <a:chExt cx="304800" cy="228600"/>
                </a:xfrm>
              </p:grpSpPr>
              <p:sp>
                <p:nvSpPr>
                  <p:cNvPr id="76" name="Rectangle 75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77" name="Object 76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38" name="Equation" r:id="rId19" imgW="152280" imgH="126720" progId="Equation.3">
                          <p:embed/>
                        </p:oleObj>
                      </mc:Choice>
                      <mc:Fallback>
                        <p:oleObj name="Equation" r:id="rId19" imgW="152280" imgH="126720" progId="Equation.3">
                          <p:embed/>
                          <p:pic>
                            <p:nvPicPr>
                              <p:cNvPr id="0" name="Picture 1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64" name="Group 157"/>
                <p:cNvGrpSpPr/>
                <p:nvPr/>
              </p:nvGrpSpPr>
              <p:grpSpPr>
                <a:xfrm>
                  <a:off x="2286000" y="838200"/>
                  <a:ext cx="304800" cy="228600"/>
                  <a:chOff x="2895600" y="3200400"/>
                  <a:chExt cx="304800" cy="228600"/>
                </a:xfrm>
              </p:grpSpPr>
              <p:sp>
                <p:nvSpPr>
                  <p:cNvPr id="74" name="Rectangle 73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75" name="Object 74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39" name="Equation" r:id="rId20" imgW="152280" imgH="126720" progId="Equation.3">
                          <p:embed/>
                        </p:oleObj>
                      </mc:Choice>
                      <mc:Fallback>
                        <p:oleObj name="Equation" r:id="rId20" imgW="152280" imgH="126720" progId="Equation.3">
                          <p:embed/>
                          <p:pic>
                            <p:nvPicPr>
                              <p:cNvPr id="0" name="Picture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65" name="Group 160"/>
                <p:cNvGrpSpPr/>
                <p:nvPr/>
              </p:nvGrpSpPr>
              <p:grpSpPr>
                <a:xfrm>
                  <a:off x="3048000" y="838200"/>
                  <a:ext cx="304800" cy="228600"/>
                  <a:chOff x="2895600" y="3200400"/>
                  <a:chExt cx="304800" cy="228600"/>
                </a:xfrm>
              </p:grpSpPr>
              <p:sp>
                <p:nvSpPr>
                  <p:cNvPr id="72" name="Rectangle 71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73" name="Object 72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40" name="Equation" r:id="rId21" imgW="152280" imgH="126720" progId="Equation.3">
                          <p:embed/>
                        </p:oleObj>
                      </mc:Choice>
                      <mc:Fallback>
                        <p:oleObj name="Equation" r:id="rId21" imgW="152280" imgH="126720" progId="Equation.3">
                          <p:embed/>
                          <p:pic>
                            <p:nvPicPr>
                              <p:cNvPr id="0" name="Picture 1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66" name="Group 164"/>
                <p:cNvGrpSpPr/>
                <p:nvPr/>
              </p:nvGrpSpPr>
              <p:grpSpPr>
                <a:xfrm>
                  <a:off x="3810000" y="838200"/>
                  <a:ext cx="304800" cy="228600"/>
                  <a:chOff x="2895600" y="3200400"/>
                  <a:chExt cx="304800" cy="228600"/>
                </a:xfrm>
              </p:grpSpPr>
              <p:sp>
                <p:nvSpPr>
                  <p:cNvPr id="70" name="Rectangle 69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71" name="Object 70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41" name="Equation" r:id="rId22" imgW="152280" imgH="126720" progId="Equation.3">
                          <p:embed/>
                        </p:oleObj>
                      </mc:Choice>
                      <mc:Fallback>
                        <p:oleObj name="Equation" r:id="rId22" imgW="152280" imgH="126720" progId="Equation.3">
                          <p:embed/>
                          <p:pic>
                            <p:nvPicPr>
                              <p:cNvPr id="0" name="Picture 1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67" name="Group 168"/>
                <p:cNvGrpSpPr/>
                <p:nvPr/>
              </p:nvGrpSpPr>
              <p:grpSpPr>
                <a:xfrm>
                  <a:off x="381000" y="1295400"/>
                  <a:ext cx="304800" cy="228600"/>
                  <a:chOff x="2895600" y="3200400"/>
                  <a:chExt cx="304800" cy="228600"/>
                </a:xfrm>
              </p:grpSpPr>
              <p:sp>
                <p:nvSpPr>
                  <p:cNvPr id="68" name="Rectangle 67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69" name="Object 68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42" name="Equation" r:id="rId23" imgW="152280" imgH="126720" progId="Equation.3">
                          <p:embed/>
                        </p:oleObj>
                      </mc:Choice>
                      <mc:Fallback>
                        <p:oleObj name="Equation" r:id="rId23" imgW="152280" imgH="126720" progId="Equation.3">
                          <p:embed/>
                          <p:pic>
                            <p:nvPicPr>
                              <p:cNvPr id="0" name="Picture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58" name="Rectangle 57"/>
              <p:cNvSpPr/>
              <p:nvPr/>
            </p:nvSpPr>
            <p:spPr>
              <a:xfrm>
                <a:off x="5410200" y="3124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6172200" y="3124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124200" y="3124200"/>
                <a:ext cx="762000" cy="762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87" name="Group 112"/>
            <p:cNvGrpSpPr/>
            <p:nvPr/>
          </p:nvGrpSpPr>
          <p:grpSpPr>
            <a:xfrm>
              <a:off x="4953000" y="2209800"/>
              <a:ext cx="2514600" cy="762000"/>
              <a:chOff x="2362200" y="5181600"/>
              <a:chExt cx="4572000" cy="15240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3886200" y="5181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4648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5410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886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617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3124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236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95" name="Group 171"/>
              <p:cNvGrpSpPr/>
              <p:nvPr/>
            </p:nvGrpSpPr>
            <p:grpSpPr>
              <a:xfrm>
                <a:off x="2971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9" name="Rectangle 108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10" name="Object 109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3" name="Equation" r:id="rId24" imgW="152280" imgH="126720" progId="Equation.3">
                        <p:embed/>
                      </p:oleObj>
                    </mc:Choice>
                    <mc:Fallback>
                      <p:oleObj name="Equation" r:id="rId24" imgW="152280" imgH="126720" progId="Equation.3">
                        <p:embed/>
                        <p:pic>
                          <p:nvPicPr>
                            <p:cNvPr id="0" name="Picture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6" name="Group 174"/>
              <p:cNvGrpSpPr/>
              <p:nvPr/>
            </p:nvGrpSpPr>
            <p:grpSpPr>
              <a:xfrm>
                <a:off x="3733800" y="6248398"/>
                <a:ext cx="304800" cy="228602"/>
                <a:chOff x="2895600" y="3200398"/>
                <a:chExt cx="304800" cy="228602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08" name="Object 107"/>
                <p:cNvGraphicFramePr>
                  <a:graphicFrameLocks noChangeAspect="1"/>
                </p:cNvGraphicFramePr>
                <p:nvPr/>
              </p:nvGraphicFramePr>
              <p:xfrm>
                <a:off x="2895600" y="3200398"/>
                <a:ext cx="304800" cy="2285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4" name="Equation" r:id="rId25" imgW="152280" imgH="126720" progId="Equation.3">
                        <p:embed/>
                      </p:oleObj>
                    </mc:Choice>
                    <mc:Fallback>
                      <p:oleObj name="Equation" r:id="rId25" imgW="152280" imgH="126720" progId="Equation.3">
                        <p:embed/>
                        <p:pic>
                          <p:nvPicPr>
                            <p:cNvPr id="0" name="Picture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398"/>
                              <a:ext cx="304800" cy="22859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7" name="Group 177"/>
              <p:cNvGrpSpPr/>
              <p:nvPr/>
            </p:nvGrpSpPr>
            <p:grpSpPr>
              <a:xfrm>
                <a:off x="4495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5" name="Rectangle 104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06" name="Object 105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5" name="Equation" r:id="rId26" imgW="152280" imgH="126720" progId="Equation.3">
                        <p:embed/>
                      </p:oleObj>
                    </mc:Choice>
                    <mc:Fallback>
                      <p:oleObj name="Equation" r:id="rId26" imgW="152280" imgH="126720" progId="Equation.3">
                        <p:embed/>
                        <p:pic>
                          <p:nvPicPr>
                            <p:cNvPr id="0" name="Picture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8" name="Group 180"/>
              <p:cNvGrpSpPr/>
              <p:nvPr/>
            </p:nvGrpSpPr>
            <p:grpSpPr>
              <a:xfrm>
                <a:off x="5257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3" name="Rectangle 102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04" name="Object 103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6" name="Equation" r:id="rId27" imgW="152280" imgH="126720" progId="Equation.3">
                        <p:embed/>
                      </p:oleObj>
                    </mc:Choice>
                    <mc:Fallback>
                      <p:oleObj name="Equation" r:id="rId27" imgW="152280" imgH="126720" progId="Equation.3">
                        <p:embed/>
                        <p:pic>
                          <p:nvPicPr>
                            <p:cNvPr id="0" name="Picture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9" name="Group 183"/>
              <p:cNvGrpSpPr/>
              <p:nvPr/>
            </p:nvGrpSpPr>
            <p:grpSpPr>
              <a:xfrm>
                <a:off x="6019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01" name="Rectangle 100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02" name="Object 101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7" name="Equation" r:id="rId28" imgW="152280" imgH="126720" progId="Equation.3">
                        <p:embed/>
                      </p:oleObj>
                    </mc:Choice>
                    <mc:Fallback>
                      <p:oleObj name="Equation" r:id="rId28" imgW="152280" imgH="126720" progId="Equation.3">
                        <p:embed/>
                        <p:pic>
                          <p:nvPicPr>
                            <p:cNvPr id="0" name="Picture 2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00" name="Rectangle 99"/>
              <p:cNvSpPr/>
              <p:nvPr/>
            </p:nvSpPr>
            <p:spPr>
              <a:xfrm>
                <a:off x="4648200" y="51816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1</a:t>
                </a:r>
                <a:endParaRPr lang="en-US" sz="1050" b="1" dirty="0"/>
              </a:p>
            </p:txBody>
          </p:sp>
        </p:grpSp>
        <p:cxnSp>
          <p:nvCxnSpPr>
            <p:cNvPr id="111" name="Straight Arrow Connector 110"/>
            <p:cNvCxnSpPr/>
            <p:nvPr/>
          </p:nvCxnSpPr>
          <p:spPr>
            <a:xfrm flipV="1">
              <a:off x="6858000" y="2133600"/>
              <a:ext cx="3048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ight Arrow 111"/>
            <p:cNvSpPr/>
            <p:nvPr/>
          </p:nvSpPr>
          <p:spPr>
            <a:xfrm>
              <a:off x="4038600" y="2590800"/>
              <a:ext cx="685800" cy="228600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grpSp>
          <p:nvGrpSpPr>
            <p:cNvPr id="113" name="Group 140"/>
            <p:cNvGrpSpPr/>
            <p:nvPr/>
          </p:nvGrpSpPr>
          <p:grpSpPr>
            <a:xfrm>
              <a:off x="5029200" y="5181600"/>
              <a:ext cx="2514600" cy="762000"/>
              <a:chOff x="2362200" y="5181600"/>
              <a:chExt cx="4572000" cy="1524000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3886200" y="5181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4648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5410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3886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617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3124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236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21" name="Group 171"/>
              <p:cNvGrpSpPr/>
              <p:nvPr/>
            </p:nvGrpSpPr>
            <p:grpSpPr>
              <a:xfrm>
                <a:off x="2971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35" name="Rectangle 134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36" name="Object 135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8" name="Equation" r:id="rId29" imgW="152280" imgH="126720" progId="Equation.3">
                        <p:embed/>
                      </p:oleObj>
                    </mc:Choice>
                    <mc:Fallback>
                      <p:oleObj name="Equation" r:id="rId29" imgW="152280" imgH="126720" progId="Equation.3">
                        <p:embed/>
                        <p:pic>
                          <p:nvPicPr>
                            <p:cNvPr id="0" name="Picture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2" name="Group 174"/>
              <p:cNvGrpSpPr/>
              <p:nvPr/>
            </p:nvGrpSpPr>
            <p:grpSpPr>
              <a:xfrm>
                <a:off x="3733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34" name="Object 133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49" name="Equation" r:id="rId30" imgW="152280" imgH="126720" progId="Equation.3">
                        <p:embed/>
                      </p:oleObj>
                    </mc:Choice>
                    <mc:Fallback>
                      <p:oleObj name="Equation" r:id="rId30" imgW="152280" imgH="126720" progId="Equation.3">
                        <p:embed/>
                        <p:pic>
                          <p:nvPicPr>
                            <p:cNvPr id="0" name="Picture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3" name="Group 177"/>
              <p:cNvGrpSpPr/>
              <p:nvPr/>
            </p:nvGrpSpPr>
            <p:grpSpPr>
              <a:xfrm>
                <a:off x="4495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31" name="Rectangle 130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32" name="Object 131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0" name="Equation" r:id="rId31" imgW="152280" imgH="126720" progId="Equation.3">
                        <p:embed/>
                      </p:oleObj>
                    </mc:Choice>
                    <mc:Fallback>
                      <p:oleObj name="Equation" r:id="rId31" imgW="152280" imgH="126720" progId="Equation.3">
                        <p:embed/>
                        <p:pic>
                          <p:nvPicPr>
                            <p:cNvPr id="0" name="Picture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4" name="Group 180"/>
              <p:cNvGrpSpPr/>
              <p:nvPr/>
            </p:nvGrpSpPr>
            <p:grpSpPr>
              <a:xfrm>
                <a:off x="5257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29" name="Rectangle 128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30" name="Object 129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1" name="Equation" r:id="rId32" imgW="152280" imgH="126720" progId="Equation.3">
                        <p:embed/>
                      </p:oleObj>
                    </mc:Choice>
                    <mc:Fallback>
                      <p:oleObj name="Equation" r:id="rId32" imgW="152280" imgH="126720" progId="Equation.3">
                        <p:embed/>
                        <p:pic>
                          <p:nvPicPr>
                            <p:cNvPr id="0" name="Picture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5" name="Group 183"/>
              <p:cNvGrpSpPr/>
              <p:nvPr/>
            </p:nvGrpSpPr>
            <p:grpSpPr>
              <a:xfrm>
                <a:off x="6019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28" name="Object 127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2" name="Equation" r:id="rId33" imgW="152280" imgH="126720" progId="Equation.3">
                        <p:embed/>
                      </p:oleObj>
                    </mc:Choice>
                    <mc:Fallback>
                      <p:oleObj name="Equation" r:id="rId33" imgW="152280" imgH="126720" progId="Equation.3">
                        <p:embed/>
                        <p:pic>
                          <p:nvPicPr>
                            <p:cNvPr id="0" name="Picture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26" name="Rectangle 125"/>
              <p:cNvSpPr/>
              <p:nvPr/>
            </p:nvSpPr>
            <p:spPr>
              <a:xfrm>
                <a:off x="4648200" y="51816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1</a:t>
                </a:r>
                <a:endParaRPr lang="en-US" sz="1050" b="1" dirty="0"/>
              </a:p>
            </p:txBody>
          </p:sp>
        </p:grpSp>
        <p:grpSp>
          <p:nvGrpSpPr>
            <p:cNvPr id="137" name="Group 187"/>
            <p:cNvGrpSpPr/>
            <p:nvPr/>
          </p:nvGrpSpPr>
          <p:grpSpPr>
            <a:xfrm>
              <a:off x="4953000" y="4419600"/>
              <a:ext cx="2514600" cy="762000"/>
              <a:chOff x="152400" y="609600"/>
              <a:chExt cx="4572000" cy="1524000"/>
            </a:xfrm>
            <a:solidFill>
              <a:schemeClr val="accent6">
                <a:lumMod val="75000"/>
              </a:schemeClr>
            </a:solidFill>
          </p:grpSpPr>
          <p:grpSp>
            <p:nvGrpSpPr>
              <p:cNvPr id="138" name="Group 41"/>
              <p:cNvGrpSpPr/>
              <p:nvPr/>
            </p:nvGrpSpPr>
            <p:grpSpPr>
              <a:xfrm>
                <a:off x="152400" y="609600"/>
                <a:ext cx="4572000" cy="1524000"/>
                <a:chOff x="3048000" y="1600200"/>
                <a:chExt cx="4572000" cy="1524000"/>
              </a:xfrm>
              <a:grpFill/>
            </p:grpSpPr>
            <p:sp>
              <p:nvSpPr>
                <p:cNvPr id="157" name="Rectangle 156"/>
                <p:cNvSpPr/>
                <p:nvPr/>
              </p:nvSpPr>
              <p:spPr>
                <a:xfrm>
                  <a:off x="4572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5334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6096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0" name="Rectangle 159"/>
                <p:cNvSpPr/>
                <p:nvPr/>
              </p:nvSpPr>
              <p:spPr>
                <a:xfrm>
                  <a:off x="6858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>
                  <a:off x="3810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2" name="Rectangle 161"/>
                <p:cNvSpPr/>
                <p:nvPr/>
              </p:nvSpPr>
              <p:spPr>
                <a:xfrm>
                  <a:off x="3048000" y="1600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3" name="Rectangle 162"/>
                <p:cNvSpPr/>
                <p:nvPr/>
              </p:nvSpPr>
              <p:spPr>
                <a:xfrm>
                  <a:off x="3048000" y="2362200"/>
                  <a:ext cx="762000" cy="76200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139" name="Group 135"/>
              <p:cNvGrpSpPr/>
              <p:nvPr/>
            </p:nvGrpSpPr>
            <p:grpSpPr>
              <a:xfrm>
                <a:off x="762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155" name="Rectangle 154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56" name="Object 155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3" name="Equation" r:id="rId34" imgW="152280" imgH="126720" progId="Equation.3">
                        <p:embed/>
                      </p:oleObj>
                    </mc:Choice>
                    <mc:Fallback>
                      <p:oleObj name="Equation" r:id="rId34" imgW="152280" imgH="126720" progId="Equation.3">
                        <p:embed/>
                        <p:pic>
                          <p:nvPicPr>
                            <p:cNvPr id="0" name="Picture 2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0" name="Group 136"/>
              <p:cNvGrpSpPr/>
              <p:nvPr/>
            </p:nvGrpSpPr>
            <p:grpSpPr>
              <a:xfrm>
                <a:off x="1524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153" name="Rectangle 152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54" name="Object 153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4" name="Equation" r:id="rId35" imgW="152280" imgH="126720" progId="Equation.3">
                        <p:embed/>
                      </p:oleObj>
                    </mc:Choice>
                    <mc:Fallback>
                      <p:oleObj name="Equation" r:id="rId35" imgW="152280" imgH="126720" progId="Equation.3">
                        <p:embed/>
                        <p:pic>
                          <p:nvPicPr>
                            <p:cNvPr id="0" name="Picture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1" name="Group 157"/>
              <p:cNvGrpSpPr/>
              <p:nvPr/>
            </p:nvGrpSpPr>
            <p:grpSpPr>
              <a:xfrm>
                <a:off x="2286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151" name="Rectangle 150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52" name="Object 151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5" name="Equation" r:id="rId36" imgW="152280" imgH="126720" progId="Equation.3">
                        <p:embed/>
                      </p:oleObj>
                    </mc:Choice>
                    <mc:Fallback>
                      <p:oleObj name="Equation" r:id="rId36" imgW="152280" imgH="126720" progId="Equation.3">
                        <p:embed/>
                        <p:pic>
                          <p:nvPicPr>
                            <p:cNvPr id="0" name="Picture 3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2" name="Group 160"/>
              <p:cNvGrpSpPr/>
              <p:nvPr/>
            </p:nvGrpSpPr>
            <p:grpSpPr>
              <a:xfrm>
                <a:off x="3048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50" name="Object 149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6" name="Equation" r:id="rId37" imgW="152280" imgH="126720" progId="Equation.3">
                        <p:embed/>
                      </p:oleObj>
                    </mc:Choice>
                    <mc:Fallback>
                      <p:oleObj name="Equation" r:id="rId37" imgW="152280" imgH="126720" progId="Equation.3">
                        <p:embed/>
                        <p:pic>
                          <p:nvPicPr>
                            <p:cNvPr id="0" name="Picture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3" name="Group 142"/>
              <p:cNvGrpSpPr/>
              <p:nvPr/>
            </p:nvGrpSpPr>
            <p:grpSpPr>
              <a:xfrm>
                <a:off x="3810000" y="8382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147" name="Rectangle 146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48" name="Object 147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7" name="Equation" r:id="rId38" imgW="152280" imgH="126720" progId="Equation.3">
                        <p:embed/>
                      </p:oleObj>
                    </mc:Choice>
                    <mc:Fallback>
                      <p:oleObj name="Equation" r:id="rId38" imgW="152280" imgH="126720" progId="Equation.3">
                        <p:embed/>
                        <p:pic>
                          <p:nvPicPr>
                            <p:cNvPr id="0" name="Picture 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4" name="Group 168"/>
              <p:cNvGrpSpPr/>
              <p:nvPr/>
            </p:nvGrpSpPr>
            <p:grpSpPr>
              <a:xfrm>
                <a:off x="381000" y="1295400"/>
                <a:ext cx="304800" cy="228600"/>
                <a:chOff x="2895600" y="3200400"/>
                <a:chExt cx="304800" cy="228600"/>
              </a:xfrm>
              <a:grpFill/>
            </p:grpSpPr>
            <p:sp>
              <p:nvSpPr>
                <p:cNvPr id="145" name="Rectangle 144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46" name="Object 145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8" name="Equation" r:id="rId39" imgW="152280" imgH="126720" progId="Equation.3">
                        <p:embed/>
                      </p:oleObj>
                    </mc:Choice>
                    <mc:Fallback>
                      <p:oleObj name="Equation" r:id="rId39" imgW="152280" imgH="126720" progId="Equation.3">
                        <p:embed/>
                        <p:pic>
                          <p:nvPicPr>
                            <p:cNvPr id="0" name="Picture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cxnSp>
          <p:nvCxnSpPr>
            <p:cNvPr id="164" name="Straight Arrow Connector 163"/>
            <p:cNvCxnSpPr/>
            <p:nvPr/>
          </p:nvCxnSpPr>
          <p:spPr>
            <a:xfrm>
              <a:off x="5715000" y="4953000"/>
              <a:ext cx="304800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ight Arrow 164"/>
            <p:cNvSpPr/>
            <p:nvPr/>
          </p:nvSpPr>
          <p:spPr>
            <a:xfrm flipH="1">
              <a:off x="4038600" y="4953000"/>
              <a:ext cx="685800" cy="228600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6" name="Down Arrow 165"/>
            <p:cNvSpPr/>
            <p:nvPr/>
          </p:nvSpPr>
          <p:spPr>
            <a:xfrm>
              <a:off x="6096000" y="3200400"/>
              <a:ext cx="228600" cy="68580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grpSp>
          <p:nvGrpSpPr>
            <p:cNvPr id="167" name="Group 222"/>
            <p:cNvGrpSpPr/>
            <p:nvPr/>
          </p:nvGrpSpPr>
          <p:grpSpPr>
            <a:xfrm>
              <a:off x="609600" y="5181600"/>
              <a:ext cx="2514600" cy="762000"/>
              <a:chOff x="2362200" y="5181600"/>
              <a:chExt cx="4572000" cy="1524000"/>
            </a:xfrm>
          </p:grpSpPr>
          <p:sp>
            <p:nvSpPr>
              <p:cNvPr id="168" name="Rectangle 167"/>
              <p:cNvSpPr/>
              <p:nvPr/>
            </p:nvSpPr>
            <p:spPr>
              <a:xfrm>
                <a:off x="3886200" y="5181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648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5410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/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3886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617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3124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2362200" y="5943600"/>
                <a:ext cx="762000" cy="7620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75" name="Group 171"/>
              <p:cNvGrpSpPr/>
              <p:nvPr/>
            </p:nvGrpSpPr>
            <p:grpSpPr>
              <a:xfrm>
                <a:off x="2971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89" name="Rectangle 188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90" name="Object 189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59" name="Equation" r:id="rId40" imgW="152280" imgH="126720" progId="Equation.3">
                        <p:embed/>
                      </p:oleObj>
                    </mc:Choice>
                    <mc:Fallback>
                      <p:oleObj name="Equation" r:id="rId40" imgW="152280" imgH="126720" progId="Equation.3">
                        <p:embed/>
                        <p:pic>
                          <p:nvPicPr>
                            <p:cNvPr id="0" name="Picture 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76" name="Group 174"/>
              <p:cNvGrpSpPr/>
              <p:nvPr/>
            </p:nvGrpSpPr>
            <p:grpSpPr>
              <a:xfrm>
                <a:off x="3733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87" name="Rectangle 186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88" name="Object 187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60" name="Equation" r:id="rId41" imgW="152280" imgH="126720" progId="Equation.3">
                        <p:embed/>
                      </p:oleObj>
                    </mc:Choice>
                    <mc:Fallback>
                      <p:oleObj name="Equation" r:id="rId41" imgW="152280" imgH="126720" progId="Equation.3">
                        <p:embed/>
                        <p:pic>
                          <p:nvPicPr>
                            <p:cNvPr id="0" name="Picture 3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77" name="Group 177"/>
              <p:cNvGrpSpPr/>
              <p:nvPr/>
            </p:nvGrpSpPr>
            <p:grpSpPr>
              <a:xfrm>
                <a:off x="4495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85" name="Rectangle 184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86" name="Object 185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61" name="Equation" r:id="rId42" imgW="152280" imgH="126720" progId="Equation.3">
                        <p:embed/>
                      </p:oleObj>
                    </mc:Choice>
                    <mc:Fallback>
                      <p:oleObj name="Equation" r:id="rId42" imgW="152280" imgH="126720" progId="Equation.3">
                        <p:embed/>
                        <p:pic>
                          <p:nvPicPr>
                            <p:cNvPr id="0" name="Picture 3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78" name="Group 180"/>
              <p:cNvGrpSpPr/>
              <p:nvPr/>
            </p:nvGrpSpPr>
            <p:grpSpPr>
              <a:xfrm>
                <a:off x="5257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83" name="Rectangle 182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84" name="Object 183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62" name="Equation" r:id="rId43" imgW="152280" imgH="126720" progId="Equation.3">
                        <p:embed/>
                      </p:oleObj>
                    </mc:Choice>
                    <mc:Fallback>
                      <p:oleObj name="Equation" r:id="rId43" imgW="152280" imgH="126720" progId="Equation.3">
                        <p:embed/>
                        <p:pic>
                          <p:nvPicPr>
                            <p:cNvPr id="0" name="Picture 3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79" name="Group 183"/>
              <p:cNvGrpSpPr/>
              <p:nvPr/>
            </p:nvGrpSpPr>
            <p:grpSpPr>
              <a:xfrm>
                <a:off x="6019800" y="6248400"/>
                <a:ext cx="304800" cy="228600"/>
                <a:chOff x="2895600" y="3200400"/>
                <a:chExt cx="304800" cy="228600"/>
              </a:xfrm>
            </p:grpSpPr>
            <p:sp>
              <p:nvSpPr>
                <p:cNvPr id="181" name="Rectangle 180"/>
                <p:cNvSpPr/>
                <p:nvPr/>
              </p:nvSpPr>
              <p:spPr>
                <a:xfrm>
                  <a:off x="2895600" y="3200400"/>
                  <a:ext cx="304800" cy="2286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b="1"/>
                </a:p>
              </p:txBody>
            </p:sp>
            <p:graphicFrame>
              <p:nvGraphicFramePr>
                <p:cNvPr id="182" name="Object 181"/>
                <p:cNvGraphicFramePr>
                  <a:graphicFrameLocks noChangeAspect="1"/>
                </p:cNvGraphicFramePr>
                <p:nvPr/>
              </p:nvGraphicFramePr>
              <p:xfrm>
                <a:off x="2895600" y="3200400"/>
                <a:ext cx="304800" cy="2286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6363" name="Equation" r:id="rId44" imgW="152280" imgH="126720" progId="Equation.3">
                        <p:embed/>
                      </p:oleObj>
                    </mc:Choice>
                    <mc:Fallback>
                      <p:oleObj name="Equation" r:id="rId44" imgW="152280" imgH="126720" progId="Equation.3">
                        <p:embed/>
                        <p:pic>
                          <p:nvPicPr>
                            <p:cNvPr id="0" name="Picture 3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5600" y="3200400"/>
                              <a:ext cx="304800" cy="2286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80" name="Rectangle 179"/>
              <p:cNvSpPr/>
              <p:nvPr/>
            </p:nvSpPr>
            <p:spPr>
              <a:xfrm>
                <a:off x="4648200" y="5181600"/>
                <a:ext cx="762000" cy="76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/>
                  <a:t>0</a:t>
                </a:r>
                <a:endParaRPr lang="en-US" sz="1050" b="1" dirty="0"/>
              </a:p>
            </p:txBody>
          </p:sp>
        </p:grpSp>
        <p:grpSp>
          <p:nvGrpSpPr>
            <p:cNvPr id="191" name="Group 68"/>
            <p:cNvGrpSpPr/>
            <p:nvPr/>
          </p:nvGrpSpPr>
          <p:grpSpPr>
            <a:xfrm>
              <a:off x="914400" y="4191000"/>
              <a:ext cx="2514600" cy="762000"/>
              <a:chOff x="2362200" y="2362200"/>
              <a:chExt cx="4572000" cy="1524000"/>
            </a:xfrm>
            <a:solidFill>
              <a:schemeClr val="accent6">
                <a:lumMod val="75000"/>
              </a:schemeClr>
            </a:solidFill>
          </p:grpSpPr>
          <p:grpSp>
            <p:nvGrpSpPr>
              <p:cNvPr id="192" name="Group 187"/>
              <p:cNvGrpSpPr/>
              <p:nvPr/>
            </p:nvGrpSpPr>
            <p:grpSpPr>
              <a:xfrm>
                <a:off x="2362200" y="2362200"/>
                <a:ext cx="4572000" cy="1524000"/>
                <a:chOff x="152400" y="609600"/>
                <a:chExt cx="4572000" cy="1524000"/>
              </a:xfrm>
              <a:grpFill/>
            </p:grpSpPr>
            <p:grpSp>
              <p:nvGrpSpPr>
                <p:cNvPr id="196" name="Group 41"/>
                <p:cNvGrpSpPr/>
                <p:nvPr/>
              </p:nvGrpSpPr>
              <p:grpSpPr>
                <a:xfrm>
                  <a:off x="152400" y="609600"/>
                  <a:ext cx="4572000" cy="1524000"/>
                  <a:chOff x="3048000" y="1600200"/>
                  <a:chExt cx="4572000" cy="1524000"/>
                </a:xfrm>
                <a:grpFill/>
              </p:grpSpPr>
              <p:sp>
                <p:nvSpPr>
                  <p:cNvPr id="215" name="Rectangle 214"/>
                  <p:cNvSpPr/>
                  <p:nvPr/>
                </p:nvSpPr>
                <p:spPr>
                  <a:xfrm>
                    <a:off x="4572000" y="1600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16" name="Rectangle 215"/>
                  <p:cNvSpPr/>
                  <p:nvPr/>
                </p:nvSpPr>
                <p:spPr>
                  <a:xfrm>
                    <a:off x="5334000" y="1600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17" name="Rectangle 216"/>
                  <p:cNvSpPr/>
                  <p:nvPr/>
                </p:nvSpPr>
                <p:spPr>
                  <a:xfrm>
                    <a:off x="6096000" y="1600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18" name="Rectangle 217"/>
                  <p:cNvSpPr/>
                  <p:nvPr/>
                </p:nvSpPr>
                <p:spPr>
                  <a:xfrm>
                    <a:off x="6858000" y="1600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19" name="Rectangle 218"/>
                  <p:cNvSpPr/>
                  <p:nvPr/>
                </p:nvSpPr>
                <p:spPr>
                  <a:xfrm>
                    <a:off x="3810000" y="1600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20" name="Rectangle 219"/>
                  <p:cNvSpPr/>
                  <p:nvPr/>
                </p:nvSpPr>
                <p:spPr>
                  <a:xfrm>
                    <a:off x="3048000" y="1600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sp>
                <p:nvSpPr>
                  <p:cNvPr id="221" name="Rectangle 220"/>
                  <p:cNvSpPr/>
                  <p:nvPr/>
                </p:nvSpPr>
                <p:spPr>
                  <a:xfrm>
                    <a:off x="3048000" y="2362200"/>
                    <a:ext cx="762000" cy="762000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</p:grpSp>
            <p:grpSp>
              <p:nvGrpSpPr>
                <p:cNvPr id="197" name="Group 135"/>
                <p:cNvGrpSpPr/>
                <p:nvPr/>
              </p:nvGrpSpPr>
              <p:grpSpPr>
                <a:xfrm>
                  <a:off x="762000" y="838200"/>
                  <a:ext cx="304800" cy="228600"/>
                  <a:chOff x="2895600" y="3200400"/>
                  <a:chExt cx="304800" cy="228600"/>
                </a:xfrm>
                <a:grpFill/>
              </p:grpSpPr>
              <p:sp>
                <p:nvSpPr>
                  <p:cNvPr id="213" name="Rectangle 212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214" name="Object 213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64" name="Equation" r:id="rId45" imgW="152280" imgH="126720" progId="Equation.3">
                          <p:embed/>
                        </p:oleObj>
                      </mc:Choice>
                      <mc:Fallback>
                        <p:oleObj name="Equation" r:id="rId45" imgW="152280" imgH="126720" progId="Equation.3">
                          <p:embed/>
                          <p:pic>
                            <p:nvPicPr>
                              <p:cNvPr id="0" name="Picture 4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98" name="Group 136"/>
                <p:cNvGrpSpPr/>
                <p:nvPr/>
              </p:nvGrpSpPr>
              <p:grpSpPr>
                <a:xfrm>
                  <a:off x="1524000" y="838200"/>
                  <a:ext cx="304800" cy="228600"/>
                  <a:chOff x="2895600" y="3200400"/>
                  <a:chExt cx="304800" cy="228600"/>
                </a:xfrm>
                <a:grpFill/>
              </p:grpSpPr>
              <p:sp>
                <p:nvSpPr>
                  <p:cNvPr id="211" name="Rectangle 210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212" name="Object 211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65" name="Equation" r:id="rId46" imgW="152280" imgH="126720" progId="Equation.3">
                          <p:embed/>
                        </p:oleObj>
                      </mc:Choice>
                      <mc:Fallback>
                        <p:oleObj name="Equation" r:id="rId46" imgW="152280" imgH="126720" progId="Equation.3">
                          <p:embed/>
                          <p:pic>
                            <p:nvPicPr>
                              <p:cNvPr id="0" name="Picture 4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199" name="Group 157"/>
                <p:cNvGrpSpPr/>
                <p:nvPr/>
              </p:nvGrpSpPr>
              <p:grpSpPr>
                <a:xfrm>
                  <a:off x="2286000" y="838200"/>
                  <a:ext cx="304800" cy="228600"/>
                  <a:chOff x="2895600" y="3200400"/>
                  <a:chExt cx="304800" cy="228600"/>
                </a:xfrm>
                <a:grpFill/>
              </p:grpSpPr>
              <p:sp>
                <p:nvSpPr>
                  <p:cNvPr id="209" name="Rectangle 208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210" name="Object 209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66" name="Equation" r:id="rId47" imgW="152280" imgH="126720" progId="Equation.3">
                          <p:embed/>
                        </p:oleObj>
                      </mc:Choice>
                      <mc:Fallback>
                        <p:oleObj name="Equation" r:id="rId47" imgW="152280" imgH="126720" progId="Equation.3">
                          <p:embed/>
                          <p:pic>
                            <p:nvPicPr>
                              <p:cNvPr id="0" name="Picture 4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200" name="Group 160"/>
                <p:cNvGrpSpPr/>
                <p:nvPr/>
              </p:nvGrpSpPr>
              <p:grpSpPr>
                <a:xfrm>
                  <a:off x="3048000" y="838200"/>
                  <a:ext cx="304800" cy="228600"/>
                  <a:chOff x="2895600" y="3200400"/>
                  <a:chExt cx="304800" cy="228600"/>
                </a:xfrm>
                <a:grpFill/>
              </p:grpSpPr>
              <p:sp>
                <p:nvSpPr>
                  <p:cNvPr id="207" name="Rectangle 206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208" name="Object 207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67" name="Equation" r:id="rId48" imgW="152280" imgH="126720" progId="Equation.3">
                          <p:embed/>
                        </p:oleObj>
                      </mc:Choice>
                      <mc:Fallback>
                        <p:oleObj name="Equation" r:id="rId48" imgW="152280" imgH="126720" progId="Equation.3">
                          <p:embed/>
                          <p:pic>
                            <p:nvPicPr>
                              <p:cNvPr id="0" name="Picture 4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201" name="Group 164"/>
                <p:cNvGrpSpPr/>
                <p:nvPr/>
              </p:nvGrpSpPr>
              <p:grpSpPr>
                <a:xfrm>
                  <a:off x="3810000" y="838200"/>
                  <a:ext cx="304800" cy="228600"/>
                  <a:chOff x="2895600" y="3200400"/>
                  <a:chExt cx="304800" cy="228600"/>
                </a:xfrm>
                <a:grpFill/>
              </p:grpSpPr>
              <p:sp>
                <p:nvSpPr>
                  <p:cNvPr id="205" name="Rectangle 204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206" name="Object 205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68" name="Equation" r:id="rId49" imgW="152280" imgH="126720" progId="Equation.3">
                          <p:embed/>
                        </p:oleObj>
                      </mc:Choice>
                      <mc:Fallback>
                        <p:oleObj name="Equation" r:id="rId49" imgW="152280" imgH="126720" progId="Equation.3">
                          <p:embed/>
                          <p:pic>
                            <p:nvPicPr>
                              <p:cNvPr id="0" name="Picture 4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202" name="Group 168"/>
                <p:cNvGrpSpPr/>
                <p:nvPr/>
              </p:nvGrpSpPr>
              <p:grpSpPr>
                <a:xfrm>
                  <a:off x="381000" y="1295400"/>
                  <a:ext cx="304800" cy="228600"/>
                  <a:chOff x="2895600" y="3200400"/>
                  <a:chExt cx="304800" cy="228600"/>
                </a:xfrm>
                <a:grpFill/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895600" y="3200400"/>
                    <a:ext cx="304800" cy="2286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b="1"/>
                  </a:p>
                </p:txBody>
              </p:sp>
              <p:graphicFrame>
                <p:nvGraphicFramePr>
                  <p:cNvPr id="204" name="Object 203"/>
                  <p:cNvGraphicFramePr>
                    <a:graphicFrameLocks noChangeAspect="1"/>
                  </p:cNvGraphicFramePr>
                  <p:nvPr/>
                </p:nvGraphicFramePr>
                <p:xfrm>
                  <a:off x="2895600" y="3200400"/>
                  <a:ext cx="304800" cy="2286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6369" name="Equation" r:id="rId50" imgW="152280" imgH="126720" progId="Equation.3">
                          <p:embed/>
                        </p:oleObj>
                      </mc:Choice>
                      <mc:Fallback>
                        <p:oleObj name="Equation" r:id="rId50" imgW="152280" imgH="126720" progId="Equation.3">
                          <p:embed/>
                          <p:pic>
                            <p:nvPicPr>
                              <p:cNvPr id="0" name="Picture 4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95600" y="3200400"/>
                                <a:ext cx="304800" cy="22860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193" name="Rectangle 192"/>
              <p:cNvSpPr/>
              <p:nvPr/>
            </p:nvSpPr>
            <p:spPr>
              <a:xfrm>
                <a:off x="5410200" y="3124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6172200" y="3124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3124200" y="3124200"/>
                <a:ext cx="762000" cy="762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cxnSp>
          <p:nvCxnSpPr>
            <p:cNvPr id="222" name="Straight Arrow Connector 221"/>
            <p:cNvCxnSpPr/>
            <p:nvPr/>
          </p:nvCxnSpPr>
          <p:spPr>
            <a:xfrm flipV="1">
              <a:off x="1981200" y="4800600"/>
              <a:ext cx="3810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Down Arrow 222"/>
            <p:cNvSpPr/>
            <p:nvPr/>
          </p:nvSpPr>
          <p:spPr>
            <a:xfrm flipV="1">
              <a:off x="2209800" y="3276600"/>
              <a:ext cx="228600" cy="68580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234" name="Group 233"/>
          <p:cNvGrpSpPr/>
          <p:nvPr/>
        </p:nvGrpSpPr>
        <p:grpSpPr>
          <a:xfrm>
            <a:off x="381000" y="2362200"/>
            <a:ext cx="2863850" cy="685800"/>
            <a:chOff x="3689350" y="4724400"/>
            <a:chExt cx="1524000" cy="393700"/>
          </a:xfrm>
        </p:grpSpPr>
        <p:sp>
          <p:nvSpPr>
            <p:cNvPr id="225" name="Oval 224"/>
            <p:cNvSpPr/>
            <p:nvPr/>
          </p:nvSpPr>
          <p:spPr>
            <a:xfrm>
              <a:off x="3689350" y="473075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0</a:t>
              </a:r>
              <a:endParaRPr lang="en-US" sz="2800" dirty="0"/>
            </a:p>
          </p:txBody>
        </p:sp>
        <p:sp>
          <p:nvSpPr>
            <p:cNvPr id="226" name="Oval 225"/>
            <p:cNvSpPr/>
            <p:nvPr/>
          </p:nvSpPr>
          <p:spPr>
            <a:xfrm>
              <a:off x="4832350" y="473075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1</a:t>
              </a:r>
              <a:endParaRPr lang="en-US" sz="2800" dirty="0"/>
            </a:p>
          </p:txBody>
        </p:sp>
        <p:cxnSp>
          <p:nvCxnSpPr>
            <p:cNvPr id="231" name="Curved Connector 230"/>
            <p:cNvCxnSpPr>
              <a:stCxn id="225" idx="0"/>
              <a:endCxn id="226" idx="0"/>
            </p:cNvCxnSpPr>
            <p:nvPr/>
          </p:nvCxnSpPr>
          <p:spPr>
            <a:xfrm rot="5400000" flipH="1" flipV="1">
              <a:off x="4451350" y="4159250"/>
              <a:ext cx="12700" cy="1143000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urved Connector 232"/>
            <p:cNvCxnSpPr>
              <a:stCxn id="226" idx="4"/>
              <a:endCxn id="225" idx="4"/>
            </p:cNvCxnSpPr>
            <p:nvPr/>
          </p:nvCxnSpPr>
          <p:spPr>
            <a:xfrm rot="5400000">
              <a:off x="4451350" y="4540250"/>
              <a:ext cx="12700" cy="1143000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TextBox 234"/>
          <p:cNvSpPr txBox="1"/>
          <p:nvPr/>
        </p:nvSpPr>
        <p:spPr>
          <a:xfrm>
            <a:off x="0" y="914400"/>
            <a:ext cx="383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Simple Example of Graph Walking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236" name="TextBox 235"/>
          <p:cNvSpPr txBox="1"/>
          <p:nvPr/>
        </p:nvSpPr>
        <p:spPr>
          <a:xfrm>
            <a:off x="304800" y="4800600"/>
            <a:ext cx="5867400" cy="132343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More General Result:</a:t>
            </a:r>
          </a:p>
          <a:p>
            <a:r>
              <a:rPr lang="en-US" sz="2000" b="1" dirty="0" smtClean="0"/>
              <a:t>Theorem:  For any directed graph G=(V,E), there exists a size O(V+E) tile set that walks graph G in a fuel-efficient manner.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Extension: Double Bit Flipping</a:t>
            </a:r>
            <a:endParaRPr lang="en-US" sz="1800" b="1" dirty="0"/>
          </a:p>
        </p:txBody>
      </p:sp>
      <p:sp>
        <p:nvSpPr>
          <p:cNvPr id="58" name="Rectangle 57"/>
          <p:cNvSpPr/>
          <p:nvPr/>
        </p:nvSpPr>
        <p:spPr>
          <a:xfrm>
            <a:off x="24384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</p:txBody>
      </p:sp>
      <p:sp>
        <p:nvSpPr>
          <p:cNvPr id="59" name="Rectangle 58"/>
          <p:cNvSpPr/>
          <p:nvPr/>
        </p:nvSpPr>
        <p:spPr>
          <a:xfrm>
            <a:off x="30480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</p:txBody>
      </p:sp>
      <p:sp>
        <p:nvSpPr>
          <p:cNvPr id="60" name="Rectangle 59"/>
          <p:cNvSpPr/>
          <p:nvPr/>
        </p:nvSpPr>
        <p:spPr>
          <a:xfrm>
            <a:off x="18288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1" name="Rectangle 60"/>
          <p:cNvSpPr/>
          <p:nvPr/>
        </p:nvSpPr>
        <p:spPr>
          <a:xfrm>
            <a:off x="36576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2" name="Rectangle 61"/>
          <p:cNvSpPr/>
          <p:nvPr/>
        </p:nvSpPr>
        <p:spPr>
          <a:xfrm>
            <a:off x="12192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3" name="Rectangle 62"/>
          <p:cNvSpPr/>
          <p:nvPr/>
        </p:nvSpPr>
        <p:spPr>
          <a:xfrm>
            <a:off x="6096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2" name="Group 171"/>
          <p:cNvGrpSpPr/>
          <p:nvPr/>
        </p:nvGrpSpPr>
        <p:grpSpPr>
          <a:xfrm>
            <a:off x="1066800" y="3962400"/>
            <a:ext cx="304800" cy="228600"/>
            <a:chOff x="2895600" y="3200400"/>
            <a:chExt cx="304800" cy="228600"/>
          </a:xfrm>
        </p:grpSpPr>
        <p:sp>
          <p:nvSpPr>
            <p:cNvPr id="87" name="Rectangle 86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88" name="Object 87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0" name="Equation" r:id="rId4" imgW="152280" imgH="126720" progId="Equation.3">
                    <p:embed/>
                  </p:oleObj>
                </mc:Choice>
                <mc:Fallback>
                  <p:oleObj name="Equation" r:id="rId4" imgW="152280" imgH="12672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4"/>
          <p:cNvGrpSpPr/>
          <p:nvPr/>
        </p:nvGrpSpPr>
        <p:grpSpPr>
          <a:xfrm>
            <a:off x="1676400" y="3962400"/>
            <a:ext cx="304800" cy="228600"/>
            <a:chOff x="2895600" y="3200400"/>
            <a:chExt cx="304800" cy="228600"/>
          </a:xfrm>
        </p:grpSpPr>
        <p:sp>
          <p:nvSpPr>
            <p:cNvPr id="85" name="Rectangle 84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86" name="Object 85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1" name="Equation" r:id="rId6" imgW="152280" imgH="126720" progId="Equation.3">
                    <p:embed/>
                  </p:oleObj>
                </mc:Choice>
                <mc:Fallback>
                  <p:oleObj name="Equation" r:id="rId6" imgW="152280" imgH="12672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7"/>
          <p:cNvGrpSpPr/>
          <p:nvPr/>
        </p:nvGrpSpPr>
        <p:grpSpPr>
          <a:xfrm>
            <a:off x="2286000" y="3962400"/>
            <a:ext cx="304800" cy="228600"/>
            <a:chOff x="2895600" y="3200400"/>
            <a:chExt cx="304800" cy="228600"/>
          </a:xfrm>
        </p:grpSpPr>
        <p:sp>
          <p:nvSpPr>
            <p:cNvPr id="83" name="Rectangle 8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84" name="Object 8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2" name="Equation" r:id="rId7" imgW="152280" imgH="126720" progId="Equation.3">
                    <p:embed/>
                  </p:oleObj>
                </mc:Choice>
                <mc:Fallback>
                  <p:oleObj name="Equation" r:id="rId7" imgW="152280" imgH="12672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80"/>
          <p:cNvGrpSpPr/>
          <p:nvPr/>
        </p:nvGrpSpPr>
        <p:grpSpPr>
          <a:xfrm>
            <a:off x="2895600" y="3962400"/>
            <a:ext cx="304800" cy="228600"/>
            <a:chOff x="2895600" y="3200400"/>
            <a:chExt cx="304800" cy="228600"/>
          </a:xfrm>
        </p:grpSpPr>
        <p:sp>
          <p:nvSpPr>
            <p:cNvPr id="81" name="Rectangle 80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82" name="Object 81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3" name="Equation" r:id="rId8" imgW="152280" imgH="126720" progId="Equation.3">
                    <p:embed/>
                  </p:oleObj>
                </mc:Choice>
                <mc:Fallback>
                  <p:oleObj name="Equation" r:id="rId8" imgW="152280" imgH="12672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83"/>
          <p:cNvGrpSpPr/>
          <p:nvPr/>
        </p:nvGrpSpPr>
        <p:grpSpPr>
          <a:xfrm>
            <a:off x="3505200" y="3962400"/>
            <a:ext cx="304800" cy="228600"/>
            <a:chOff x="2895600" y="3200400"/>
            <a:chExt cx="304800" cy="228600"/>
          </a:xfrm>
        </p:grpSpPr>
        <p:sp>
          <p:nvSpPr>
            <p:cNvPr id="79" name="Rectangle 7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80" name="Object 7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4" name="Equation" r:id="rId9" imgW="152280" imgH="126720" progId="Equation.3">
                    <p:embed/>
                  </p:oleObj>
                </mc:Choice>
                <mc:Fallback>
                  <p:oleObj name="Equation" r:id="rId9" imgW="152280" imgH="12672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Rectangle 68"/>
          <p:cNvSpPr/>
          <p:nvPr/>
        </p:nvSpPr>
        <p:spPr>
          <a:xfrm>
            <a:off x="2438400" y="3200400"/>
            <a:ext cx="6096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</a:t>
            </a:r>
            <a:endParaRPr lang="en-US" b="1" dirty="0"/>
          </a:p>
        </p:txBody>
      </p:sp>
      <p:sp>
        <p:nvSpPr>
          <p:cNvPr id="123" name="Rectangle 122"/>
          <p:cNvSpPr/>
          <p:nvPr/>
        </p:nvSpPr>
        <p:spPr>
          <a:xfrm>
            <a:off x="67056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</p:txBody>
      </p:sp>
      <p:sp>
        <p:nvSpPr>
          <p:cNvPr id="124" name="Rectangle 123"/>
          <p:cNvSpPr/>
          <p:nvPr/>
        </p:nvSpPr>
        <p:spPr>
          <a:xfrm>
            <a:off x="73152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</p:txBody>
      </p:sp>
      <p:sp>
        <p:nvSpPr>
          <p:cNvPr id="125" name="Rectangle 124"/>
          <p:cNvSpPr/>
          <p:nvPr/>
        </p:nvSpPr>
        <p:spPr>
          <a:xfrm>
            <a:off x="60960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26" name="Rectangle 125"/>
          <p:cNvSpPr/>
          <p:nvPr/>
        </p:nvSpPr>
        <p:spPr>
          <a:xfrm>
            <a:off x="79248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27" name="Rectangle 126"/>
          <p:cNvSpPr/>
          <p:nvPr/>
        </p:nvSpPr>
        <p:spPr>
          <a:xfrm>
            <a:off x="54864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28" name="Rectangle 127"/>
          <p:cNvSpPr/>
          <p:nvPr/>
        </p:nvSpPr>
        <p:spPr>
          <a:xfrm>
            <a:off x="4876800" y="38100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8" name="Group 171"/>
          <p:cNvGrpSpPr/>
          <p:nvPr/>
        </p:nvGrpSpPr>
        <p:grpSpPr>
          <a:xfrm>
            <a:off x="5334000" y="3962400"/>
            <a:ext cx="304800" cy="228600"/>
            <a:chOff x="2895600" y="3200400"/>
            <a:chExt cx="304800" cy="228600"/>
          </a:xfrm>
        </p:grpSpPr>
        <p:sp>
          <p:nvSpPr>
            <p:cNvPr id="130" name="Rectangle 129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131" name="Object 130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5" name="Equation" r:id="rId10" imgW="152280" imgH="126720" progId="Equation.3">
                    <p:embed/>
                  </p:oleObj>
                </mc:Choice>
                <mc:Fallback>
                  <p:oleObj name="Equation" r:id="rId10" imgW="152280" imgH="12672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74"/>
          <p:cNvGrpSpPr/>
          <p:nvPr/>
        </p:nvGrpSpPr>
        <p:grpSpPr>
          <a:xfrm>
            <a:off x="5943600" y="3962400"/>
            <a:ext cx="304800" cy="228600"/>
            <a:chOff x="2895600" y="3200400"/>
            <a:chExt cx="304800" cy="228600"/>
          </a:xfrm>
        </p:grpSpPr>
        <p:sp>
          <p:nvSpPr>
            <p:cNvPr id="133" name="Rectangle 132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134" name="Object 133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6" name="Equation" r:id="rId11" imgW="152280" imgH="126720" progId="Equation.3">
                    <p:embed/>
                  </p:oleObj>
                </mc:Choice>
                <mc:Fallback>
                  <p:oleObj name="Equation" r:id="rId11" imgW="152280" imgH="12672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77"/>
          <p:cNvGrpSpPr/>
          <p:nvPr/>
        </p:nvGrpSpPr>
        <p:grpSpPr>
          <a:xfrm>
            <a:off x="6553200" y="3962400"/>
            <a:ext cx="304800" cy="228600"/>
            <a:chOff x="2895600" y="3200400"/>
            <a:chExt cx="304800" cy="228600"/>
          </a:xfrm>
        </p:grpSpPr>
        <p:sp>
          <p:nvSpPr>
            <p:cNvPr id="136" name="Rectangle 135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137" name="Object 136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7" name="Equation" r:id="rId12" imgW="152280" imgH="126720" progId="Equation.3">
                    <p:embed/>
                  </p:oleObj>
                </mc:Choice>
                <mc:Fallback>
                  <p:oleObj name="Equation" r:id="rId12" imgW="152280" imgH="12672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80"/>
          <p:cNvGrpSpPr/>
          <p:nvPr/>
        </p:nvGrpSpPr>
        <p:grpSpPr>
          <a:xfrm>
            <a:off x="7162800" y="3962400"/>
            <a:ext cx="304800" cy="228600"/>
            <a:chOff x="2895600" y="3200400"/>
            <a:chExt cx="304800" cy="228600"/>
          </a:xfrm>
        </p:grpSpPr>
        <p:sp>
          <p:nvSpPr>
            <p:cNvPr id="139" name="Rectangle 138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140" name="Object 139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8" name="Equation" r:id="rId13" imgW="152280" imgH="126720" progId="Equation.3">
                    <p:embed/>
                  </p:oleObj>
                </mc:Choice>
                <mc:Fallback>
                  <p:oleObj name="Equation" r:id="rId13" imgW="152280" imgH="12672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83"/>
          <p:cNvGrpSpPr/>
          <p:nvPr/>
        </p:nvGrpSpPr>
        <p:grpSpPr>
          <a:xfrm>
            <a:off x="7772400" y="3962400"/>
            <a:ext cx="304800" cy="228600"/>
            <a:chOff x="2895600" y="3200400"/>
            <a:chExt cx="304800" cy="228600"/>
          </a:xfrm>
        </p:grpSpPr>
        <p:sp>
          <p:nvSpPr>
            <p:cNvPr id="142" name="Rectangle 141"/>
            <p:cNvSpPr/>
            <p:nvPr/>
          </p:nvSpPr>
          <p:spPr>
            <a:xfrm>
              <a:off x="2895600" y="32004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/>
            </a:p>
          </p:txBody>
        </p:sp>
        <p:graphicFrame>
          <p:nvGraphicFramePr>
            <p:cNvPr id="143" name="Object 142"/>
            <p:cNvGraphicFramePr>
              <a:graphicFrameLocks noChangeAspect="1"/>
            </p:cNvGraphicFramePr>
            <p:nvPr/>
          </p:nvGraphicFramePr>
          <p:xfrm>
            <a:off x="2895600" y="3200400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59" name="Equation" r:id="rId14" imgW="152280" imgH="126720" progId="Equation.3">
                    <p:embed/>
                  </p:oleObj>
                </mc:Choice>
                <mc:Fallback>
                  <p:oleObj name="Equation" r:id="rId14" imgW="152280" imgH="12672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3200400"/>
                          <a:ext cx="3048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4" name="Rectangle 143"/>
          <p:cNvSpPr/>
          <p:nvPr/>
        </p:nvSpPr>
        <p:spPr>
          <a:xfrm>
            <a:off x="6705600" y="3200400"/>
            <a:ext cx="6096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0</a:t>
            </a:r>
            <a:endParaRPr lang="en-US" b="1" dirty="0"/>
          </a:p>
        </p:txBody>
      </p:sp>
      <p:sp>
        <p:nvSpPr>
          <p:cNvPr id="145" name="Rectangle 144"/>
          <p:cNvSpPr/>
          <p:nvPr/>
        </p:nvSpPr>
        <p:spPr>
          <a:xfrm>
            <a:off x="3657600" y="44196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6" name="Rectangle 145"/>
          <p:cNvSpPr/>
          <p:nvPr/>
        </p:nvSpPr>
        <p:spPr>
          <a:xfrm>
            <a:off x="4876800" y="44196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7" name="Rectangle 146"/>
          <p:cNvSpPr/>
          <p:nvPr/>
        </p:nvSpPr>
        <p:spPr>
          <a:xfrm>
            <a:off x="4267200" y="3810000"/>
            <a:ext cx="6096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8" name="Rectangle 147"/>
          <p:cNvSpPr/>
          <p:nvPr/>
        </p:nvSpPr>
        <p:spPr>
          <a:xfrm>
            <a:off x="4267200" y="4419600"/>
            <a:ext cx="6096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9" name="Rectangle 148"/>
          <p:cNvSpPr/>
          <p:nvPr/>
        </p:nvSpPr>
        <p:spPr>
          <a:xfrm>
            <a:off x="609600" y="44196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50" name="Rectangle 149"/>
          <p:cNvSpPr/>
          <p:nvPr/>
        </p:nvSpPr>
        <p:spPr>
          <a:xfrm>
            <a:off x="7924800" y="4419600"/>
            <a:ext cx="609600" cy="609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13" name="Group 175"/>
          <p:cNvGrpSpPr/>
          <p:nvPr/>
        </p:nvGrpSpPr>
        <p:grpSpPr>
          <a:xfrm>
            <a:off x="609600" y="2590800"/>
            <a:ext cx="7924800" cy="1219200"/>
            <a:chOff x="609600" y="1600200"/>
            <a:chExt cx="7924800" cy="1219200"/>
          </a:xfrm>
        </p:grpSpPr>
        <p:sp>
          <p:nvSpPr>
            <p:cNvPr id="151" name="Rectangle 150"/>
            <p:cNvSpPr/>
            <p:nvPr/>
          </p:nvSpPr>
          <p:spPr>
            <a:xfrm>
              <a:off x="609600" y="22098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096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2192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8288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24384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30480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36576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42672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48768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54864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60960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67056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3152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24800" y="16002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cxnSp>
        <p:nvCxnSpPr>
          <p:cNvPr id="165" name="Straight Connector 164"/>
          <p:cNvCxnSpPr/>
          <p:nvPr/>
        </p:nvCxnSpPr>
        <p:spPr>
          <a:xfrm>
            <a:off x="8077200" y="3810000"/>
            <a:ext cx="3810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>
            <a:off x="1828800" y="3276600"/>
            <a:ext cx="0" cy="3810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68"/>
          <p:cNvGrpSpPr/>
          <p:nvPr/>
        </p:nvGrpSpPr>
        <p:grpSpPr>
          <a:xfrm>
            <a:off x="1219200" y="3200400"/>
            <a:ext cx="609600" cy="609600"/>
            <a:chOff x="1447800" y="5638800"/>
            <a:chExt cx="609600" cy="609600"/>
          </a:xfrm>
        </p:grpSpPr>
        <p:sp>
          <p:nvSpPr>
            <p:cNvPr id="167" name="Rectangle 166"/>
            <p:cNvSpPr/>
            <p:nvPr/>
          </p:nvSpPr>
          <p:spPr>
            <a:xfrm>
              <a:off x="1447800" y="5638800"/>
              <a:ext cx="609600" cy="609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68" name="Straight Connector 167"/>
            <p:cNvCxnSpPr/>
            <p:nvPr/>
          </p:nvCxnSpPr>
          <p:spPr>
            <a:xfrm>
              <a:off x="2057400" y="57150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Connector 169"/>
          <p:cNvCxnSpPr/>
          <p:nvPr/>
        </p:nvCxnSpPr>
        <p:spPr>
          <a:xfrm>
            <a:off x="6096000" y="3276600"/>
            <a:ext cx="0" cy="3810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30480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72" name="Rectangle 171"/>
          <p:cNvSpPr/>
          <p:nvPr/>
        </p:nvSpPr>
        <p:spPr>
          <a:xfrm>
            <a:off x="36576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73" name="Rectangle 172"/>
          <p:cNvSpPr/>
          <p:nvPr/>
        </p:nvSpPr>
        <p:spPr>
          <a:xfrm>
            <a:off x="42672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74" name="Rectangle 173"/>
          <p:cNvSpPr/>
          <p:nvPr/>
        </p:nvSpPr>
        <p:spPr>
          <a:xfrm>
            <a:off x="48768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75" name="Rectangle 174"/>
          <p:cNvSpPr/>
          <p:nvPr/>
        </p:nvSpPr>
        <p:spPr>
          <a:xfrm>
            <a:off x="54864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15" name="Group 177"/>
          <p:cNvGrpSpPr/>
          <p:nvPr/>
        </p:nvGrpSpPr>
        <p:grpSpPr>
          <a:xfrm>
            <a:off x="1828800" y="3200400"/>
            <a:ext cx="609600" cy="609600"/>
            <a:chOff x="2133600" y="1524000"/>
            <a:chExt cx="609600" cy="609600"/>
          </a:xfrm>
        </p:grpSpPr>
        <p:sp>
          <p:nvSpPr>
            <p:cNvPr id="57" name="Rectangle 56"/>
            <p:cNvSpPr/>
            <p:nvPr/>
          </p:nvSpPr>
          <p:spPr>
            <a:xfrm>
              <a:off x="2133600" y="1524000"/>
              <a:ext cx="609600" cy="609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77" name="Straight Connector 176"/>
            <p:cNvCxnSpPr/>
            <p:nvPr/>
          </p:nvCxnSpPr>
          <p:spPr>
            <a:xfrm>
              <a:off x="2133600" y="16002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79"/>
          <p:cNvGrpSpPr/>
          <p:nvPr/>
        </p:nvGrpSpPr>
        <p:grpSpPr>
          <a:xfrm>
            <a:off x="6096000" y="3200400"/>
            <a:ext cx="609600" cy="609600"/>
            <a:chOff x="6477000" y="1676400"/>
            <a:chExt cx="609600" cy="609600"/>
          </a:xfrm>
        </p:grpSpPr>
        <p:sp>
          <p:nvSpPr>
            <p:cNvPr id="122" name="Rectangle 121"/>
            <p:cNvSpPr/>
            <p:nvPr/>
          </p:nvSpPr>
          <p:spPr>
            <a:xfrm>
              <a:off x="6477000" y="1676400"/>
              <a:ext cx="609600" cy="609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79" name="Straight Connector 178"/>
            <p:cNvCxnSpPr/>
            <p:nvPr/>
          </p:nvCxnSpPr>
          <p:spPr>
            <a:xfrm>
              <a:off x="6477000" y="17526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Rectangle 180"/>
          <p:cNvSpPr/>
          <p:nvPr/>
        </p:nvSpPr>
        <p:spPr>
          <a:xfrm>
            <a:off x="73152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82" name="Rectangle 181"/>
          <p:cNvSpPr/>
          <p:nvPr/>
        </p:nvSpPr>
        <p:spPr>
          <a:xfrm>
            <a:off x="7924800" y="3200400"/>
            <a:ext cx="609600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83" name="Rectangle 182"/>
          <p:cNvSpPr/>
          <p:nvPr/>
        </p:nvSpPr>
        <p:spPr>
          <a:xfrm>
            <a:off x="2438400" y="3200400"/>
            <a:ext cx="6096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0</a:t>
            </a:r>
            <a:endParaRPr lang="en-US" b="1" dirty="0"/>
          </a:p>
        </p:txBody>
      </p:sp>
      <p:grpSp>
        <p:nvGrpSpPr>
          <p:cNvPr id="17" name="Group 183"/>
          <p:cNvGrpSpPr/>
          <p:nvPr/>
        </p:nvGrpSpPr>
        <p:grpSpPr>
          <a:xfrm>
            <a:off x="1828800" y="3200400"/>
            <a:ext cx="609600" cy="609600"/>
            <a:chOff x="6477000" y="1676400"/>
            <a:chExt cx="609600" cy="609600"/>
          </a:xfrm>
        </p:grpSpPr>
        <p:sp>
          <p:nvSpPr>
            <p:cNvPr id="185" name="Rectangle 184"/>
            <p:cNvSpPr/>
            <p:nvPr/>
          </p:nvSpPr>
          <p:spPr>
            <a:xfrm>
              <a:off x="6477000" y="1676400"/>
              <a:ext cx="609600" cy="609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86" name="Straight Connector 185"/>
            <p:cNvCxnSpPr/>
            <p:nvPr/>
          </p:nvCxnSpPr>
          <p:spPr>
            <a:xfrm>
              <a:off x="6477000" y="17526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Rectangle 186"/>
          <p:cNvSpPr/>
          <p:nvPr/>
        </p:nvSpPr>
        <p:spPr>
          <a:xfrm>
            <a:off x="6705600" y="3200400"/>
            <a:ext cx="6096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1</a:t>
            </a:r>
            <a:endParaRPr lang="en-US" b="1" dirty="0"/>
          </a:p>
        </p:txBody>
      </p:sp>
      <p:grpSp>
        <p:nvGrpSpPr>
          <p:cNvPr id="18" name="Group 187"/>
          <p:cNvGrpSpPr/>
          <p:nvPr/>
        </p:nvGrpSpPr>
        <p:grpSpPr>
          <a:xfrm>
            <a:off x="6096000" y="3200400"/>
            <a:ext cx="609600" cy="609600"/>
            <a:chOff x="6477000" y="1676400"/>
            <a:chExt cx="609600" cy="609600"/>
          </a:xfrm>
        </p:grpSpPr>
        <p:sp>
          <p:nvSpPr>
            <p:cNvPr id="189" name="Rectangle 188"/>
            <p:cNvSpPr/>
            <p:nvPr/>
          </p:nvSpPr>
          <p:spPr>
            <a:xfrm>
              <a:off x="6477000" y="1676400"/>
              <a:ext cx="609600" cy="609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90" name="Straight Connector 189"/>
            <p:cNvCxnSpPr/>
            <p:nvPr/>
          </p:nvCxnSpPr>
          <p:spPr>
            <a:xfrm>
              <a:off x="6477000" y="1752600"/>
              <a:ext cx="0" cy="3810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27" dur="2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29" dur="2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31" dur="2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33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35" dur="2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37" dur="2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1  E" pathEditMode="relative" ptsTypes="">
                                      <p:cBhvr>
                                        <p:cTn id="139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144" grpId="0" animBg="1"/>
      <p:bldP spid="171" grpId="0" animBg="1"/>
      <p:bldP spid="171" grpId="1" animBg="1"/>
      <p:bldP spid="172" grpId="0" animBg="1"/>
      <p:bldP spid="172" grpId="1" animBg="1"/>
      <p:bldP spid="173" grpId="0" animBg="1"/>
      <p:bldP spid="173" grpId="1" animBg="1"/>
      <p:bldP spid="174" grpId="0" animBg="1"/>
      <p:bldP spid="174" grpId="1" animBg="1"/>
      <p:bldP spid="175" grpId="0" animBg="1"/>
      <p:bldP spid="175" grpId="1" animBg="1"/>
      <p:bldP spid="181" grpId="0" animBg="1"/>
      <p:bldP spid="181" grpId="1" animBg="1"/>
      <p:bldP spid="182" grpId="0" animBg="1"/>
      <p:bldP spid="182" grpId="1" animBg="1"/>
      <p:bldP spid="183" grpId="0" animBg="1"/>
      <p:bldP spid="18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Turing Machine Simulation</a:t>
            </a:r>
            <a:endParaRPr lang="en-US" sz="1800" b="1" dirty="0"/>
          </a:p>
        </p:txBody>
      </p:sp>
      <p:sp>
        <p:nvSpPr>
          <p:cNvPr id="37" name="Rectangle 36"/>
          <p:cNvSpPr/>
          <p:nvPr/>
        </p:nvSpPr>
        <p:spPr>
          <a:xfrm>
            <a:off x="6096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8382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668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2954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5240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981200" y="45720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7526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22098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24384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26670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8956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31242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33528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3581400" y="45720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38100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40386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2672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44958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47244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49530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5181600" y="45720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54102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6388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58674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0960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3246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5532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781800" y="45720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70104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72390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74676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76962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79248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8153400" y="43434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81534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1981200" y="43434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3581400" y="43434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5181600" y="43434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781800" y="43434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17526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22098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33528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38100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9530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54102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65532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70104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609600" y="45720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4267200" y="4114800"/>
            <a:ext cx="228600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4495800" y="4114800"/>
            <a:ext cx="228600" cy="2286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667000" y="4114800"/>
            <a:ext cx="457200" cy="228600"/>
            <a:chOff x="2667000" y="4114800"/>
            <a:chExt cx="457200" cy="228600"/>
          </a:xfrm>
        </p:grpSpPr>
        <p:sp>
          <p:nvSpPr>
            <p:cNvPr id="114" name="Rectangle 113"/>
            <p:cNvSpPr/>
            <p:nvPr/>
          </p:nvSpPr>
          <p:spPr>
            <a:xfrm>
              <a:off x="2667000" y="41148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95600" y="41148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1066800" y="41148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1295400" y="41148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18" name="Rectangle 117"/>
          <p:cNvSpPr/>
          <p:nvPr/>
        </p:nvSpPr>
        <p:spPr>
          <a:xfrm>
            <a:off x="7467600" y="41148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7696200" y="41148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155" name="Group 154"/>
          <p:cNvGrpSpPr/>
          <p:nvPr/>
        </p:nvGrpSpPr>
        <p:grpSpPr>
          <a:xfrm>
            <a:off x="5867400" y="4114800"/>
            <a:ext cx="457200" cy="228600"/>
            <a:chOff x="5867400" y="3962400"/>
            <a:chExt cx="457200" cy="228600"/>
          </a:xfrm>
        </p:grpSpPr>
        <p:sp>
          <p:nvSpPr>
            <p:cNvPr id="120" name="Rectangle 119"/>
            <p:cNvSpPr/>
            <p:nvPr/>
          </p:nvSpPr>
          <p:spPr>
            <a:xfrm>
              <a:off x="5867400" y="39624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6096000" y="39624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609600" y="685800"/>
            <a:ext cx="60235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Current bit: 0</a:t>
            </a:r>
          </a:p>
          <a:p>
            <a:r>
              <a:rPr lang="en-US" b="1" dirty="0" smtClean="0"/>
              <a:t>State: </a:t>
            </a:r>
            <a:r>
              <a:rPr lang="en-US" b="1" dirty="0" smtClean="0">
                <a:solidFill>
                  <a:srgbClr val="00B050"/>
                </a:solidFill>
              </a:rPr>
              <a:t>GREEN</a:t>
            </a:r>
          </a:p>
          <a:p>
            <a:r>
              <a:rPr lang="en-US" b="1" dirty="0" smtClean="0">
                <a:sym typeface="Wingdings" pitchFamily="2" charset="2"/>
              </a:rPr>
              <a:t>	 </a:t>
            </a:r>
            <a:r>
              <a:rPr lang="en-US" b="1" dirty="0" smtClean="0"/>
              <a:t>Flip bit to 1, move right, change to state </a:t>
            </a:r>
            <a:r>
              <a:rPr lang="en-US" b="1" dirty="0" smtClean="0">
                <a:solidFill>
                  <a:srgbClr val="7030A0"/>
                </a:solidFill>
              </a:rPr>
              <a:t>PURPLE </a:t>
            </a:r>
            <a:endParaRPr lang="en-US" b="1" dirty="0">
              <a:solidFill>
                <a:srgbClr val="7030A0"/>
              </a:solidFill>
            </a:endParaRPr>
          </a:p>
        </p:txBody>
      </p:sp>
      <p:grpSp>
        <p:nvGrpSpPr>
          <p:cNvPr id="151" name="Group 150"/>
          <p:cNvGrpSpPr/>
          <p:nvPr/>
        </p:nvGrpSpPr>
        <p:grpSpPr>
          <a:xfrm>
            <a:off x="3810000" y="3886200"/>
            <a:ext cx="2971800" cy="457200"/>
            <a:chOff x="3810000" y="3124200"/>
            <a:chExt cx="2971800" cy="457200"/>
          </a:xfrm>
        </p:grpSpPr>
        <p:grpSp>
          <p:nvGrpSpPr>
            <p:cNvPr id="141" name="Group 140"/>
            <p:cNvGrpSpPr/>
            <p:nvPr/>
          </p:nvGrpSpPr>
          <p:grpSpPr>
            <a:xfrm>
              <a:off x="3810000" y="3124200"/>
              <a:ext cx="2971800" cy="457200"/>
              <a:chOff x="3810000" y="3200400"/>
              <a:chExt cx="2971800" cy="457200"/>
            </a:xfrm>
          </p:grpSpPr>
          <p:sp>
            <p:nvSpPr>
              <p:cNvPr id="123" name="Rectangle 122"/>
              <p:cNvSpPr/>
              <p:nvPr/>
            </p:nvSpPr>
            <p:spPr>
              <a:xfrm>
                <a:off x="3810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4038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4267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44958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47244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4953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5410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56388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58674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6096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6324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6553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/>
              <p:cNvSpPr/>
              <p:nvPr/>
            </p:nvSpPr>
            <p:spPr>
              <a:xfrm>
                <a:off x="5181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3810000" y="34290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3" name="Rectangle 142"/>
            <p:cNvSpPr/>
            <p:nvPr/>
          </p:nvSpPr>
          <p:spPr>
            <a:xfrm>
              <a:off x="4038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47244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49530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54102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56388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5181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6324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65532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4267200" y="4114800"/>
            <a:ext cx="457200" cy="228600"/>
            <a:chOff x="4876800" y="6096000"/>
            <a:chExt cx="457200" cy="228600"/>
          </a:xfrm>
        </p:grpSpPr>
        <p:sp>
          <p:nvSpPr>
            <p:cNvPr id="152" name="Rectangle 151"/>
            <p:cNvSpPr/>
            <p:nvPr/>
          </p:nvSpPr>
          <p:spPr>
            <a:xfrm>
              <a:off x="4876800" y="60960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5105400" y="60960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5867400" y="4114800"/>
            <a:ext cx="457200" cy="228600"/>
            <a:chOff x="5867400" y="3962400"/>
            <a:chExt cx="457200" cy="228600"/>
          </a:xfrm>
          <a:solidFill>
            <a:schemeClr val="accent4">
              <a:lumMod val="75000"/>
            </a:schemeClr>
          </a:solidFill>
        </p:grpSpPr>
        <p:sp>
          <p:nvSpPr>
            <p:cNvPr id="157" name="Rectangle 156"/>
            <p:cNvSpPr/>
            <p:nvPr/>
          </p:nvSpPr>
          <p:spPr>
            <a:xfrm>
              <a:off x="5867400" y="39624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6096000" y="39624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</p:grpSp>
      <p:sp>
        <p:nvSpPr>
          <p:cNvPr id="159" name="TextBox 158"/>
          <p:cNvSpPr txBox="1"/>
          <p:nvPr/>
        </p:nvSpPr>
        <p:spPr>
          <a:xfrm>
            <a:off x="609600" y="1676400"/>
            <a:ext cx="59454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Current bit: 0</a:t>
            </a:r>
          </a:p>
          <a:p>
            <a:r>
              <a:rPr lang="en-US" b="1" dirty="0" smtClean="0"/>
              <a:t>State: </a:t>
            </a:r>
            <a:r>
              <a:rPr lang="en-US" b="1" dirty="0" smtClean="0">
                <a:solidFill>
                  <a:srgbClr val="7030A0"/>
                </a:solidFill>
              </a:rPr>
              <a:t>PURPLE </a:t>
            </a:r>
            <a:endParaRPr lang="en-US" b="1" dirty="0" smtClean="0">
              <a:solidFill>
                <a:srgbClr val="00B050"/>
              </a:solidFill>
            </a:endParaRPr>
          </a:p>
          <a:p>
            <a:r>
              <a:rPr lang="en-US" b="1" dirty="0" smtClean="0">
                <a:sym typeface="Wingdings" pitchFamily="2" charset="2"/>
              </a:rPr>
              <a:t>	 </a:t>
            </a:r>
            <a:r>
              <a:rPr lang="en-US" b="1" dirty="0" smtClean="0"/>
              <a:t>Flip bit to 1, move left, change to state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ORANGE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60" name="Group 159"/>
          <p:cNvGrpSpPr/>
          <p:nvPr/>
        </p:nvGrpSpPr>
        <p:grpSpPr>
          <a:xfrm>
            <a:off x="3810000" y="3886200"/>
            <a:ext cx="2971800" cy="457200"/>
            <a:chOff x="3810000" y="3124200"/>
            <a:chExt cx="2971800" cy="457200"/>
          </a:xfrm>
        </p:grpSpPr>
        <p:grpSp>
          <p:nvGrpSpPr>
            <p:cNvPr id="161" name="Group 140"/>
            <p:cNvGrpSpPr/>
            <p:nvPr/>
          </p:nvGrpSpPr>
          <p:grpSpPr>
            <a:xfrm>
              <a:off x="3810000" y="3124200"/>
              <a:ext cx="2971800" cy="457200"/>
              <a:chOff x="3810000" y="3200400"/>
              <a:chExt cx="2971800" cy="45720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3810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4038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4267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44958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47244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4953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5410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56388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/>
              <p:cNvSpPr/>
              <p:nvPr/>
            </p:nvSpPr>
            <p:spPr>
              <a:xfrm>
                <a:off x="58674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6096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6324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6553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5181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3810000" y="34290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2" name="Rectangle 161"/>
            <p:cNvSpPr/>
            <p:nvPr/>
          </p:nvSpPr>
          <p:spPr>
            <a:xfrm>
              <a:off x="4038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47244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49530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54102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56388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5181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6324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65532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4267200" y="4114800"/>
            <a:ext cx="457200" cy="228600"/>
            <a:chOff x="1219200" y="4267200"/>
            <a:chExt cx="457200" cy="228600"/>
          </a:xfrm>
          <a:solidFill>
            <a:schemeClr val="accent6">
              <a:lumMod val="75000"/>
            </a:schemeClr>
          </a:solidFill>
        </p:grpSpPr>
        <p:sp>
          <p:nvSpPr>
            <p:cNvPr id="184" name="Rectangle 183"/>
            <p:cNvSpPr/>
            <p:nvPr/>
          </p:nvSpPr>
          <p:spPr>
            <a:xfrm>
              <a:off x="1219200" y="42672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447800" y="42672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5867400" y="4114800"/>
            <a:ext cx="457200" cy="228600"/>
            <a:chOff x="7543800" y="5410200"/>
            <a:chExt cx="457200" cy="228600"/>
          </a:xfrm>
        </p:grpSpPr>
        <p:sp>
          <p:nvSpPr>
            <p:cNvPr id="187" name="Rectangle 186"/>
            <p:cNvSpPr/>
            <p:nvPr/>
          </p:nvSpPr>
          <p:spPr>
            <a:xfrm>
              <a:off x="7543800" y="54102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7772400" y="54102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129" name="TextBox 128"/>
          <p:cNvSpPr txBox="1"/>
          <p:nvPr/>
        </p:nvSpPr>
        <p:spPr>
          <a:xfrm>
            <a:off x="607726" y="2658070"/>
            <a:ext cx="5762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Current bit: 1</a:t>
            </a:r>
          </a:p>
          <a:p>
            <a:r>
              <a:rPr lang="en-US" b="1" dirty="0" smtClean="0"/>
              <a:t>State: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ORANGE</a:t>
            </a:r>
          </a:p>
          <a:p>
            <a:r>
              <a:rPr lang="en-US" b="1" dirty="0" smtClean="0">
                <a:sym typeface="Wingdings" pitchFamily="2" charset="2"/>
              </a:rPr>
              <a:t>	 </a:t>
            </a:r>
            <a:r>
              <a:rPr lang="en-US" b="1" dirty="0" smtClean="0"/>
              <a:t>Flip bit to 0, move left, change to state </a:t>
            </a:r>
            <a:r>
              <a:rPr lang="en-US" b="1" dirty="0">
                <a:solidFill>
                  <a:srgbClr val="00B050"/>
                </a:solidFill>
              </a:rPr>
              <a:t>GREEN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138" name="Group 137"/>
          <p:cNvGrpSpPr/>
          <p:nvPr/>
        </p:nvGrpSpPr>
        <p:grpSpPr>
          <a:xfrm>
            <a:off x="2209800" y="3886200"/>
            <a:ext cx="2971800" cy="457200"/>
            <a:chOff x="3810000" y="3124200"/>
            <a:chExt cx="2971800" cy="457200"/>
          </a:xfrm>
        </p:grpSpPr>
        <p:grpSp>
          <p:nvGrpSpPr>
            <p:cNvPr id="139" name="Group 140"/>
            <p:cNvGrpSpPr/>
            <p:nvPr/>
          </p:nvGrpSpPr>
          <p:grpSpPr>
            <a:xfrm>
              <a:off x="3810000" y="3124200"/>
              <a:ext cx="2971800" cy="457200"/>
              <a:chOff x="3810000" y="3200400"/>
              <a:chExt cx="2971800" cy="457200"/>
            </a:xfrm>
          </p:grpSpPr>
          <p:sp>
            <p:nvSpPr>
              <p:cNvPr id="196" name="Rectangle 195"/>
              <p:cNvSpPr/>
              <p:nvPr/>
            </p:nvSpPr>
            <p:spPr>
              <a:xfrm>
                <a:off x="3810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4038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4267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/>
              <p:cNvSpPr/>
              <p:nvPr/>
            </p:nvSpPr>
            <p:spPr>
              <a:xfrm>
                <a:off x="44958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/>
              <p:cNvSpPr/>
              <p:nvPr/>
            </p:nvSpPr>
            <p:spPr>
              <a:xfrm>
                <a:off x="47244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/>
              <p:cNvSpPr/>
              <p:nvPr/>
            </p:nvSpPr>
            <p:spPr>
              <a:xfrm>
                <a:off x="4953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5410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56388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58674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60960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6324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65532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5181600" y="32004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3810000" y="34290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0" name="Rectangle 139"/>
            <p:cNvSpPr/>
            <p:nvPr/>
          </p:nvSpPr>
          <p:spPr>
            <a:xfrm>
              <a:off x="4038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7244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49530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54102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56388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5181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63246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6553200" y="3352800"/>
              <a:ext cx="2286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267200" y="4114800"/>
            <a:ext cx="457200" cy="228600"/>
            <a:chOff x="1219200" y="4267200"/>
            <a:chExt cx="457200" cy="228600"/>
          </a:xfrm>
        </p:grpSpPr>
        <p:sp>
          <p:nvSpPr>
            <p:cNvPr id="210" name="Rectangle 209"/>
            <p:cNvSpPr/>
            <p:nvPr/>
          </p:nvSpPr>
          <p:spPr>
            <a:xfrm>
              <a:off x="1219200" y="42672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1447800" y="42672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667000" y="4114800"/>
            <a:ext cx="457200" cy="228600"/>
            <a:chOff x="1219200" y="4267200"/>
            <a:chExt cx="457200" cy="228600"/>
          </a:xfrm>
          <a:solidFill>
            <a:srgbClr val="00B050"/>
          </a:solidFill>
        </p:grpSpPr>
        <p:sp>
          <p:nvSpPr>
            <p:cNvPr id="212" name="Rectangle 211"/>
            <p:cNvSpPr/>
            <p:nvPr/>
          </p:nvSpPr>
          <p:spPr>
            <a:xfrm>
              <a:off x="1219200" y="42672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1447800" y="42672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09600" y="5638800"/>
            <a:ext cx="6972300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O(1) garbage produced per computation step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3" grpId="0" animBg="1"/>
      <p:bldP spid="159" grpId="0"/>
      <p:bldP spid="129" grpId="0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 dirty="0" smtClean="0"/>
              <a:t>Tape Extension Gadget</a:t>
            </a:r>
            <a:endParaRPr lang="en-US" sz="1800" b="1" dirty="0"/>
          </a:p>
        </p:txBody>
      </p:sp>
      <p:sp>
        <p:nvSpPr>
          <p:cNvPr id="64" name="Rectangle 63"/>
          <p:cNvSpPr/>
          <p:nvPr/>
        </p:nvSpPr>
        <p:spPr>
          <a:xfrm>
            <a:off x="1524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3810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096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8382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0668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2954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524000" y="41148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7526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19812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2098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24384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26670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8956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124200" y="41148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33528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35814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8100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40386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42672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44958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724400" y="41148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49530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1816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4102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6388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8674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096000" y="38862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0960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1524000" y="38862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3124200" y="38862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24400" y="3886200"/>
            <a:ext cx="228600" cy="228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524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954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17526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28956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33528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4958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953000" y="4114800"/>
            <a:ext cx="228600" cy="228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609600" y="36576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838200" y="36576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8" name="Rectangle 117"/>
          <p:cNvSpPr/>
          <p:nvPr/>
        </p:nvSpPr>
        <p:spPr>
          <a:xfrm>
            <a:off x="5410200" y="3657600"/>
            <a:ext cx="228600" cy="228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5638800" y="3657600"/>
            <a:ext cx="228600" cy="228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29" name="Rectangle 128"/>
          <p:cNvSpPr/>
          <p:nvPr/>
        </p:nvSpPr>
        <p:spPr>
          <a:xfrm>
            <a:off x="3810000" y="36576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4038600" y="36576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39" name="Rectangle 138"/>
          <p:cNvSpPr/>
          <p:nvPr/>
        </p:nvSpPr>
        <p:spPr>
          <a:xfrm>
            <a:off x="2209800" y="36576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38400" y="3657600"/>
            <a:ext cx="2286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grpSp>
        <p:nvGrpSpPr>
          <p:cNvPr id="221" name="Group 220"/>
          <p:cNvGrpSpPr/>
          <p:nvPr/>
        </p:nvGrpSpPr>
        <p:grpSpPr>
          <a:xfrm>
            <a:off x="6324600" y="3657600"/>
            <a:ext cx="1600200" cy="685800"/>
            <a:chOff x="6248400" y="5715000"/>
            <a:chExt cx="1600200" cy="685800"/>
          </a:xfrm>
        </p:grpSpPr>
        <p:sp>
          <p:nvSpPr>
            <p:cNvPr id="141" name="Rectangle 140"/>
            <p:cNvSpPr/>
            <p:nvPr/>
          </p:nvSpPr>
          <p:spPr>
            <a:xfrm>
              <a:off x="6477000" y="59436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705600" y="59436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6934200" y="59436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162800" y="59436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391400" y="59436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620000" y="59436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7620000" y="61722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6477000" y="61722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6934200" y="5715000"/>
              <a:ext cx="228600" cy="2286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7162800" y="5715000"/>
              <a:ext cx="228600" cy="2286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8400" y="61722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248400" y="59436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5867400" y="3429000"/>
            <a:ext cx="2514600" cy="1371600"/>
            <a:chOff x="5943600" y="1600200"/>
            <a:chExt cx="2514600" cy="1371600"/>
          </a:xfrm>
        </p:grpSpPr>
        <p:sp>
          <p:nvSpPr>
            <p:cNvPr id="192" name="Rectangle 191"/>
            <p:cNvSpPr/>
            <p:nvPr/>
          </p:nvSpPr>
          <p:spPr>
            <a:xfrm>
              <a:off x="70866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73152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75438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77724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80010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82296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8229600" y="18288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68580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61722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64008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66294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5943600" y="1600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8229600" y="20574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8229600" y="22860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8229600" y="2514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82296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80010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70866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73152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75438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77724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68580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61722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64008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6629400" y="27432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6172200" y="2514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6400800" y="18288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5943600" y="18288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5" name="Group 234"/>
          <p:cNvGrpSpPr/>
          <p:nvPr/>
        </p:nvGrpSpPr>
        <p:grpSpPr>
          <a:xfrm>
            <a:off x="6324600" y="3657600"/>
            <a:ext cx="1828800" cy="914400"/>
            <a:chOff x="3048000" y="5257800"/>
            <a:chExt cx="1828800" cy="914400"/>
          </a:xfrm>
        </p:grpSpPr>
        <p:sp>
          <p:nvSpPr>
            <p:cNvPr id="222" name="Rectangle 221"/>
            <p:cNvSpPr/>
            <p:nvPr/>
          </p:nvSpPr>
          <p:spPr>
            <a:xfrm>
              <a:off x="4191000" y="52578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4419600" y="52578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4648200" y="52578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4648200" y="54864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4648200" y="57150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46482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44196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41910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32766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35052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37338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39624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3048000" y="5943600"/>
              <a:ext cx="2286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95300" y="1905000"/>
            <a:ext cx="3611438" cy="46166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Also:  need an </a:t>
            </a:r>
            <a:r>
              <a:rPr lang="en-US" sz="2400" b="1" dirty="0" smtClean="0">
                <a:solidFill>
                  <a:srgbClr val="C00000"/>
                </a:solidFill>
              </a:rPr>
              <a:t>infinite tape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Universal Tile Self-Assembly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86991" y="2113240"/>
            <a:ext cx="4481946" cy="13849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O(Tape*Steps)	O(Tape)</a:t>
            </a:r>
          </a:p>
          <a:p>
            <a:endParaRPr lang="en-US" sz="2800" dirty="0"/>
          </a:p>
          <a:p>
            <a:r>
              <a:rPr lang="en-US" sz="2800" dirty="0" smtClean="0"/>
              <a:t>O(Tape)		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191" y="1590020"/>
            <a:ext cx="7072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			Space			</a:t>
            </a:r>
            <a:r>
              <a:rPr lang="en-US" sz="2800" dirty="0" smtClean="0"/>
              <a:t>Fuel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26151" y="2099154"/>
            <a:ext cx="23608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Old Way</a:t>
            </a:r>
          </a:p>
          <a:p>
            <a:endParaRPr lang="en-US" sz="2800" dirty="0"/>
          </a:p>
          <a:p>
            <a:r>
              <a:rPr lang="en-US" sz="2800" dirty="0" smtClean="0"/>
              <a:t>Negative Glues</a:t>
            </a:r>
            <a:endParaRPr lang="en-US" sz="2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801591" y="2099385"/>
            <a:ext cx="0" cy="1398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3"/>
            <a:endCxn id="4" idx="1"/>
          </p:cNvCxnSpPr>
          <p:nvPr/>
        </p:nvCxnSpPr>
        <p:spPr>
          <a:xfrm flipH="1">
            <a:off x="3286991" y="2805738"/>
            <a:ext cx="44819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Group 160"/>
          <p:cNvGrpSpPr/>
          <p:nvPr/>
        </p:nvGrpSpPr>
        <p:grpSpPr>
          <a:xfrm>
            <a:off x="723900" y="4762500"/>
            <a:ext cx="7772400" cy="914400"/>
            <a:chOff x="152400" y="1600200"/>
            <a:chExt cx="7772400" cy="914400"/>
          </a:xfrm>
        </p:grpSpPr>
        <p:sp>
          <p:nvSpPr>
            <p:cNvPr id="11" name="Rectangle 10"/>
            <p:cNvSpPr/>
            <p:nvPr/>
          </p:nvSpPr>
          <p:spPr>
            <a:xfrm>
              <a:off x="1524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0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82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668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24000" y="22860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954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7526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9812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2098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384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670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56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124200" y="22860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528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814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100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0386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2672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4958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724400" y="22860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9530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1816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4102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6388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8674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0960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324600" y="22860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5532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7818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0104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2390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676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696200" y="20574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6962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524000" y="20574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124200" y="20574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724400" y="20574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324600" y="2057400"/>
              <a:ext cx="2286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2954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7526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8956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3528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4958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9530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0960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5532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52400" y="2286000"/>
              <a:ext cx="228600" cy="228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8100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0386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2209800" y="1828800"/>
              <a:ext cx="457200" cy="228600"/>
              <a:chOff x="2667000" y="4114800"/>
              <a:chExt cx="457200" cy="228600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2667000" y="41148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2895600" y="41148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sp>
          <p:nvSpPr>
            <p:cNvPr id="64" name="Rectangle 63"/>
            <p:cNvSpPr/>
            <p:nvPr/>
          </p:nvSpPr>
          <p:spPr>
            <a:xfrm>
              <a:off x="609600" y="18288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838200" y="18288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010400" y="18288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239000" y="1828800"/>
              <a:ext cx="228600" cy="228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5410200" y="1828800"/>
              <a:ext cx="457200" cy="228600"/>
              <a:chOff x="5867400" y="3962400"/>
              <a:chExt cx="457200" cy="228600"/>
            </a:xfrm>
          </p:grpSpPr>
          <p:sp>
            <p:nvSpPr>
              <p:cNvPr id="69" name="Rectangle 68"/>
              <p:cNvSpPr/>
              <p:nvPr/>
            </p:nvSpPr>
            <p:spPr>
              <a:xfrm>
                <a:off x="5867400" y="39624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6096000" y="39624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0</a:t>
                </a:r>
                <a:endParaRPr lang="en-US" dirty="0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1752600" y="1600200"/>
              <a:ext cx="2971800" cy="457200"/>
              <a:chOff x="3810000" y="3124200"/>
              <a:chExt cx="2971800" cy="457200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3810000" y="3124200"/>
                <a:ext cx="2971800" cy="457200"/>
                <a:chOff x="3810000" y="3200400"/>
                <a:chExt cx="2971800" cy="4572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38100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40386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42672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44958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47244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49530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 86"/>
                <p:cNvSpPr/>
                <p:nvPr/>
              </p:nvSpPr>
              <p:spPr>
                <a:xfrm>
                  <a:off x="54102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/>
                <p:cNvSpPr/>
                <p:nvPr/>
              </p:nvSpPr>
              <p:spPr>
                <a:xfrm>
                  <a:off x="56388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>
                  <a:off x="58674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/>
                <p:cNvSpPr/>
                <p:nvPr/>
              </p:nvSpPr>
              <p:spPr>
                <a:xfrm>
                  <a:off x="60960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/>
                <p:cNvSpPr/>
                <p:nvPr/>
              </p:nvSpPr>
              <p:spPr>
                <a:xfrm>
                  <a:off x="63246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/>
                <p:cNvSpPr/>
                <p:nvPr/>
              </p:nvSpPr>
              <p:spPr>
                <a:xfrm>
                  <a:off x="65532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5181600" y="32004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/>
                <p:cNvSpPr/>
                <p:nvPr/>
              </p:nvSpPr>
              <p:spPr>
                <a:xfrm>
                  <a:off x="3810000" y="3429000"/>
                  <a:ext cx="228600" cy="228600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3" name="Rectangle 72"/>
              <p:cNvSpPr/>
              <p:nvPr/>
            </p:nvSpPr>
            <p:spPr>
              <a:xfrm>
                <a:off x="40386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49530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54102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63246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6553200" y="3352800"/>
                <a:ext cx="228600" cy="2286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3810000" y="1828800"/>
              <a:ext cx="457200" cy="228600"/>
              <a:chOff x="4876800" y="6096000"/>
              <a:chExt cx="457200" cy="228600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4876800" y="60960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5105400" y="60960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5410200" y="1828800"/>
              <a:ext cx="457200" cy="228600"/>
              <a:chOff x="5867400" y="3962400"/>
              <a:chExt cx="457200" cy="2286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99" name="Rectangle 98"/>
              <p:cNvSpPr/>
              <p:nvPr/>
            </p:nvSpPr>
            <p:spPr>
              <a:xfrm>
                <a:off x="5867400" y="3962400"/>
                <a:ext cx="228600" cy="2286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6096000" y="3962400"/>
                <a:ext cx="228600" cy="2286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0</a:t>
                </a:r>
                <a:endParaRPr lang="en-US" dirty="0"/>
              </a:p>
            </p:txBody>
          </p:sp>
        </p:grpSp>
        <p:grpSp>
          <p:nvGrpSpPr>
            <p:cNvPr id="125" name="Group 124"/>
            <p:cNvGrpSpPr/>
            <p:nvPr/>
          </p:nvGrpSpPr>
          <p:grpSpPr>
            <a:xfrm>
              <a:off x="3810000" y="1828800"/>
              <a:ext cx="457200" cy="228600"/>
              <a:chOff x="1219200" y="4267200"/>
              <a:chExt cx="457200" cy="228600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126" name="Rectangle 125"/>
              <p:cNvSpPr/>
              <p:nvPr/>
            </p:nvSpPr>
            <p:spPr>
              <a:xfrm>
                <a:off x="1219200" y="4267200"/>
                <a:ext cx="228600" cy="2286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1447800" y="4267200"/>
                <a:ext cx="228600" cy="2286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grpSp>
          <p:nvGrpSpPr>
            <p:cNvPr id="128" name="Group 127"/>
            <p:cNvGrpSpPr/>
            <p:nvPr/>
          </p:nvGrpSpPr>
          <p:grpSpPr>
            <a:xfrm>
              <a:off x="5410200" y="1828800"/>
              <a:ext cx="457200" cy="228600"/>
              <a:chOff x="7543800" y="5410200"/>
              <a:chExt cx="457200" cy="228600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7543800" y="54102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7772400" y="54102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>
              <a:off x="3810000" y="1828800"/>
              <a:ext cx="457200" cy="228600"/>
              <a:chOff x="1219200" y="4267200"/>
              <a:chExt cx="457200" cy="228600"/>
            </a:xfrm>
          </p:grpSpPr>
          <p:sp>
            <p:nvSpPr>
              <p:cNvPr id="156" name="Rectangle 155"/>
              <p:cNvSpPr/>
              <p:nvPr/>
            </p:nvSpPr>
            <p:spPr>
              <a:xfrm>
                <a:off x="1219200" y="42672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1447800" y="4267200"/>
                <a:ext cx="228600" cy="2286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0</a:t>
                </a:r>
                <a:endParaRPr lang="en-US" dirty="0"/>
              </a:p>
            </p:txBody>
          </p:sp>
        </p:grpSp>
        <p:grpSp>
          <p:nvGrpSpPr>
            <p:cNvPr id="158" name="Group 157"/>
            <p:cNvGrpSpPr/>
            <p:nvPr/>
          </p:nvGrpSpPr>
          <p:grpSpPr>
            <a:xfrm>
              <a:off x="2209800" y="1828800"/>
              <a:ext cx="457200" cy="228600"/>
              <a:chOff x="1219200" y="4267200"/>
              <a:chExt cx="457200" cy="228600"/>
            </a:xfrm>
            <a:solidFill>
              <a:srgbClr val="00B050"/>
            </a:solidFill>
          </p:grpSpPr>
          <p:sp>
            <p:nvSpPr>
              <p:cNvPr id="159" name="Rectangle 158"/>
              <p:cNvSpPr/>
              <p:nvPr/>
            </p:nvSpPr>
            <p:spPr>
              <a:xfrm>
                <a:off x="1219200" y="4267200"/>
                <a:ext cx="228600" cy="2286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1447800" y="4267200"/>
                <a:ext cx="228600" cy="2286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0</a:t>
                </a:r>
                <a:endParaRPr lang="en-US" dirty="0"/>
              </a:p>
            </p:txBody>
          </p:sp>
        </p:grpSp>
      </p:grpSp>
      <p:sp>
        <p:nvSpPr>
          <p:cNvPr id="111" name="TextBox 110"/>
          <p:cNvSpPr txBox="1"/>
          <p:nvPr/>
        </p:nvSpPr>
        <p:spPr>
          <a:xfrm>
            <a:off x="457200" y="2429478"/>
            <a:ext cx="295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Rothemund</a:t>
            </a:r>
            <a:r>
              <a:rPr lang="en-US" dirty="0" smtClean="0"/>
              <a:t>, </a:t>
            </a:r>
            <a:r>
              <a:rPr lang="en-US" dirty="0" err="1" smtClean="0"/>
              <a:t>Winfree</a:t>
            </a:r>
            <a:r>
              <a:rPr lang="en-US" dirty="0" smtClean="0"/>
              <a:t>, 2000]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is Passive, Fuel Efficient Computation Important?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Passive Self-Assembly</a:t>
            </a:r>
          </a:p>
          <a:p>
            <a:pPr lvl="1"/>
            <a:r>
              <a:rPr lang="en-US" dirty="0" smtClean="0"/>
              <a:t>Most active models have no current implementation at the </a:t>
            </a:r>
            <a:r>
              <a:rPr lang="en-US" dirty="0" err="1" smtClean="0"/>
              <a:t>nanoscale</a:t>
            </a:r>
            <a:endParaRPr lang="en-US" dirty="0" smtClean="0"/>
          </a:p>
          <a:p>
            <a:pPr lvl="1"/>
            <a:r>
              <a:rPr lang="en-US" dirty="0" smtClean="0"/>
              <a:t>Informs when more active components are truly necessary</a:t>
            </a:r>
          </a:p>
          <a:p>
            <a:pPr lvl="1"/>
            <a:r>
              <a:rPr lang="en-US" dirty="0" smtClean="0"/>
              <a:t>May lead to connection to active self-assembly: Implement an active </a:t>
            </a:r>
            <a:r>
              <a:rPr lang="en-US" smtClean="0"/>
              <a:t>model </a:t>
            </a:r>
            <a:r>
              <a:rPr lang="en-US" smtClean="0"/>
              <a:t>within </a:t>
            </a:r>
            <a:r>
              <a:rPr lang="en-US" dirty="0" smtClean="0"/>
              <a:t>a passive model</a:t>
            </a:r>
          </a:p>
          <a:p>
            <a:r>
              <a:rPr lang="en-US" dirty="0" smtClean="0"/>
              <a:t>Fuel Efficiency</a:t>
            </a:r>
          </a:p>
          <a:p>
            <a:pPr lvl="1"/>
            <a:r>
              <a:rPr lang="en-US" dirty="0" smtClean="0"/>
              <a:t>Particle starvation a practical problem in </a:t>
            </a:r>
            <a:r>
              <a:rPr lang="en-US" dirty="0" smtClean="0"/>
              <a:t>experimentation</a:t>
            </a:r>
            <a:endParaRPr lang="en-US" dirty="0" smtClean="0"/>
          </a:p>
          <a:p>
            <a:pPr lvl="1"/>
            <a:r>
              <a:rPr lang="en-US" dirty="0" smtClean="0"/>
              <a:t>Necessary for a scalable molecular computer</a:t>
            </a:r>
          </a:p>
          <a:p>
            <a:r>
              <a:rPr lang="en-US" dirty="0" smtClean="0"/>
              <a:t>Negative Glues</a:t>
            </a:r>
          </a:p>
          <a:p>
            <a:pPr lvl="1"/>
            <a:r>
              <a:rPr lang="en-US" dirty="0" smtClean="0"/>
              <a:t>Informs experimentalists that negative glues implementation should be fruitful</a:t>
            </a:r>
          </a:p>
          <a:p>
            <a:pPr lvl="1"/>
            <a:r>
              <a:rPr lang="en-US" dirty="0" smtClean="0"/>
              <a:t>Sheds light on natural computation and phenomena</a:t>
            </a:r>
          </a:p>
          <a:p>
            <a:pPr lvl="2"/>
            <a:r>
              <a:rPr lang="en-US" dirty="0" smtClean="0"/>
              <a:t>Charged particles, magnets</a:t>
            </a:r>
          </a:p>
          <a:p>
            <a:pPr lvl="2"/>
            <a:r>
              <a:rPr lang="en-US" dirty="0" smtClean="0"/>
              <a:t>Protein folding</a:t>
            </a:r>
          </a:p>
          <a:p>
            <a:pPr lvl="2"/>
            <a:r>
              <a:rPr lang="en-US" dirty="0" smtClean="0"/>
              <a:t>ATP Synthases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78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Open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Compact Graph Walking</a:t>
            </a:r>
          </a:p>
          <a:p>
            <a:pPr lvl="1"/>
            <a:r>
              <a:rPr lang="en-US" dirty="0" smtClean="0"/>
              <a:t>Many graphs can likely be fuel efficiently walked by sub linear sized tile systems.</a:t>
            </a:r>
          </a:p>
          <a:p>
            <a:pPr marL="457200" lvl="1" indent="0">
              <a:buNone/>
            </a:pPr>
            <a:r>
              <a:rPr lang="en-US" dirty="0" smtClean="0"/>
              <a:t>			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O(log |V|) tiles?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Negative Glues:  Necessary?</a:t>
            </a:r>
          </a:p>
          <a:p>
            <a:pPr lvl="1"/>
            <a:r>
              <a:rPr lang="en-US" dirty="0" smtClean="0"/>
              <a:t>Amortized fuel-efficiency?</a:t>
            </a:r>
          </a:p>
          <a:p>
            <a:r>
              <a:rPr lang="en-US" dirty="0" smtClean="0"/>
              <a:t>Two-tape </a:t>
            </a:r>
            <a:r>
              <a:rPr lang="en-US" dirty="0"/>
              <a:t>T</a:t>
            </a:r>
            <a:r>
              <a:rPr lang="en-US" dirty="0" smtClean="0"/>
              <a:t>uring machine simulation</a:t>
            </a:r>
          </a:p>
          <a:p>
            <a:r>
              <a:rPr lang="en-US" dirty="0" smtClean="0"/>
              <a:t>Simulation of active models</a:t>
            </a:r>
          </a:p>
          <a:p>
            <a:pPr lvl="1"/>
            <a:r>
              <a:rPr lang="en-US" dirty="0" smtClean="0"/>
              <a:t>Signal tiles?</a:t>
            </a:r>
          </a:p>
          <a:p>
            <a:r>
              <a:rPr lang="en-US" dirty="0" smtClean="0"/>
              <a:t>Fuel Rods?</a:t>
            </a:r>
          </a:p>
          <a:p>
            <a:pPr lvl="1"/>
            <a:r>
              <a:rPr lang="en-US" dirty="0" smtClean="0"/>
              <a:t>No depletion of monomers</a:t>
            </a:r>
          </a:p>
          <a:p>
            <a:endParaRPr lang="en-US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5078809" y="1865785"/>
            <a:ext cx="2197494" cy="1825446"/>
            <a:chOff x="5078809" y="1865785"/>
            <a:chExt cx="2197494" cy="1825446"/>
          </a:xfrm>
        </p:grpSpPr>
        <p:sp>
          <p:nvSpPr>
            <p:cNvPr id="9" name="Oval 8"/>
            <p:cNvSpPr/>
            <p:nvPr/>
          </p:nvSpPr>
          <p:spPr>
            <a:xfrm>
              <a:off x="5078809" y="2751134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5257800" y="2218405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5738019" y="1886567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6705600" y="2193824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6918322" y="2705101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6705600" y="3193474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6066054" y="3359393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5436790" y="3231574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6245044" y="1865785"/>
              <a:ext cx="357981" cy="33183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cxnSp>
          <p:nvCxnSpPr>
            <p:cNvPr id="22" name="Straight Connector 21"/>
            <p:cNvCxnSpPr>
              <a:stCxn id="10" idx="3"/>
              <a:endCxn id="9" idx="0"/>
            </p:cNvCxnSpPr>
            <p:nvPr/>
          </p:nvCxnSpPr>
          <p:spPr>
            <a:xfrm flipH="1">
              <a:off x="5257800" y="2501646"/>
              <a:ext cx="52425" cy="2494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16" idx="1"/>
            </p:cNvCxnSpPr>
            <p:nvPr/>
          </p:nvCxnSpPr>
          <p:spPr>
            <a:xfrm>
              <a:off x="5310225" y="3082972"/>
              <a:ext cx="178990" cy="1971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6" idx="5"/>
              <a:endCxn id="15" idx="2"/>
            </p:cNvCxnSpPr>
            <p:nvPr/>
          </p:nvCxnSpPr>
          <p:spPr>
            <a:xfrm>
              <a:off x="5742346" y="3514815"/>
              <a:ext cx="323708" cy="104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15" idx="6"/>
              <a:endCxn id="14" idx="3"/>
            </p:cNvCxnSpPr>
            <p:nvPr/>
          </p:nvCxnSpPr>
          <p:spPr>
            <a:xfrm flipV="1">
              <a:off x="6424035" y="3476715"/>
              <a:ext cx="333990" cy="485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4" idx="7"/>
              <a:endCxn id="13" idx="4"/>
            </p:cNvCxnSpPr>
            <p:nvPr/>
          </p:nvCxnSpPr>
          <p:spPr>
            <a:xfrm flipV="1">
              <a:off x="7011156" y="3036939"/>
              <a:ext cx="86157" cy="2051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13" idx="0"/>
              <a:endCxn id="12" idx="5"/>
            </p:cNvCxnSpPr>
            <p:nvPr/>
          </p:nvCxnSpPr>
          <p:spPr>
            <a:xfrm flipH="1" flipV="1">
              <a:off x="7011156" y="2477065"/>
              <a:ext cx="86157" cy="2280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12" idx="0"/>
              <a:endCxn id="17" idx="6"/>
            </p:cNvCxnSpPr>
            <p:nvPr/>
          </p:nvCxnSpPr>
          <p:spPr>
            <a:xfrm flipH="1" flipV="1">
              <a:off x="6603025" y="2031704"/>
              <a:ext cx="281566" cy="1621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11" idx="6"/>
              <a:endCxn id="17" idx="2"/>
            </p:cNvCxnSpPr>
            <p:nvPr/>
          </p:nvCxnSpPr>
          <p:spPr>
            <a:xfrm flipV="1">
              <a:off x="6096000" y="2031704"/>
              <a:ext cx="149044" cy="2078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" idx="7"/>
              <a:endCxn id="11" idx="2"/>
            </p:cNvCxnSpPr>
            <p:nvPr/>
          </p:nvCxnSpPr>
          <p:spPr>
            <a:xfrm flipV="1">
              <a:off x="5563356" y="2052486"/>
              <a:ext cx="174663" cy="2145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093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1966</Words>
  <Application>Microsoft Office PowerPoint</Application>
  <PresentationFormat>On-screen Show (4:3)</PresentationFormat>
  <Paragraphs>833</Paragraphs>
  <Slides>52</Slides>
  <Notes>42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 of Cellular Automata</vt:lpstr>
      <vt:lpstr>Turing Machine simulation in the TAM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 Level Sketch of Universal Computation</vt:lpstr>
      <vt:lpstr>High Level Sketch of Universal Computation</vt:lpstr>
      <vt:lpstr>High Level Sketch of Universal Computation</vt:lpstr>
      <vt:lpstr>High Level Sketch of Universal Computation</vt:lpstr>
      <vt:lpstr>High Level Sketch of Universal Computation</vt:lpstr>
      <vt:lpstr>High Level Sketch of Universal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Universal Tile Self-Assembly</vt:lpstr>
      <vt:lpstr>Why is Passive, Fuel Efficient Computation Important?</vt:lpstr>
      <vt:lpstr>Open Problems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 T Schweller</dc:creator>
  <cp:lastModifiedBy>Robert T Schweller</cp:lastModifiedBy>
  <cp:revision>245</cp:revision>
  <dcterms:created xsi:type="dcterms:W3CDTF">2006-08-16T00:00:00Z</dcterms:created>
  <dcterms:modified xsi:type="dcterms:W3CDTF">2013-01-09T18:42:42Z</dcterms:modified>
</cp:coreProperties>
</file>